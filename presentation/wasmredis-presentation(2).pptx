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presente une base cle-valeur volontairement simple. Le coeur metier est en Go, compile en WebAssembly. React pilote le moteur sans serveur, et OPFS garde les donnees.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pars d'un clic dans React. Le SDK valide puis envoie un message au worker. Le worker appelle Go/WASM. Go modifie le state et son buffer, puis le worker vide ce buffer dans OPFS. C'est la carte mentale a garder pour la suite.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parser recoit une string. Le switch choisit la seule fonction capable de parser cette commande. Dans le cas GET, je regarde si le mot suivant est WHERE. Les erreurs sont renvoyees proprement, donc aucune entree brute n'arrive dans le state.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structure Engine garde state, la base vivante en RAM, et buffer, la file des ecritures a persister. ExecuteText transforme le texte avec ParseCommand puis appelle Execute. Execute dirige la commande vers Set, Get ou Delete et ajoute les operations d'ecriture au buffer.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DrainBuffer copie les operations sous mutex puis vide la file du moteur. saveSnapshot attend les ecritures AOF, recupere le state Go, ecrit snapshot.json et vide aof.log. Au demarrage, le worker recharge le snapshot puis rejoue l'AOF.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une recherche inferieure, le B-Tree est parcouru dans l'ordre croissant. Des qu'une valeur ne correspond plus, la fonction retourne false et coupe le parcours. Le cas superieur fait la meme chose en sens inverse.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valeur garde une date ExpiresAt. Si elle est depassee, cette fonction retire la cle du state et des deux index. L'appelant cree ensuite une operation DELETE pour l'AOF. Une horloge injectable rend ce comportement testable sans attendre.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pending.set memorise la promesse associee a l'identifiant, puis worker.postMessage envoie la requete au worker. wasmRedisExecute est la fonction Go exposee a JavaScript : elle verifie l'argument, decode le JSON et transmet les commandes a Engine.ExecuteBatch.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calcul transforme scrollTop en startIndex et endIndex, avec huit lignes de marge. Le test utilise 100 000 entrees et ne depasse jamais 29 lignes. Chaque EntryRow s'abonne a une seule cle avec useSyncExternalStore, donc une edition ne reveille pas les autres.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termine par une demo courte : ajouter une cle avec TTL, forcer le flush, recharger, lancer Seed 100, filtrer value &gt;= 50, editer une ligne puis lancer Benchmark. Le dataset 100k existe dans le repo mais n'est pas charge par defaut sur ce petit PC.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40080"/>
            <a:ext cx="5120640" cy="228600"/>
          </a:xfrm>
          <a:prstGeom prst="rect">
            <a:avLst/>
          </a:prstGeom>
          <a:noFill/>
        </p:spPr>
        <p:txBody>
          <a:bodyPr wrap="square" anchor="t" lIns="18288" rIns="18288" tIns="0" bIns="0">
            <a:spAutoFit/>
          </a:bodyPr>
          <a:lstStyle/>
          <a:p>
            <a:r>
              <a:rPr sz="1100" b="1">
                <a:solidFill>
                  <a:srgbClr val="2DC1B7"/>
                </a:solidFill>
                <a:latin typeface="Aptos"/>
              </a:rPr>
              <a:t>WASM / REDIS / REACT</a:t>
            </a:r>
          </a:p>
        </p:txBody>
      </p:sp>
      <p:sp>
        <p:nvSpPr>
          <p:cNvPr id="5" name="TextBox 4"/>
          <p:cNvSpPr txBox="1"/>
          <p:nvPr/>
        </p:nvSpPr>
        <p:spPr>
          <a:xfrm>
            <a:off x="694944" y="1078992"/>
            <a:ext cx="6400800" cy="749808"/>
          </a:xfrm>
          <a:prstGeom prst="rect">
            <a:avLst/>
          </a:prstGeom>
          <a:noFill/>
        </p:spPr>
        <p:txBody>
          <a:bodyPr wrap="square" anchor="t" lIns="18288" rIns="18288" tIns="0" bIns="0">
            <a:spAutoFit/>
          </a:bodyPr>
          <a:lstStyle/>
          <a:p>
            <a:r>
              <a:rPr sz="5100" b="1">
                <a:solidFill>
                  <a:srgbClr val="EFF4F7"/>
                </a:solidFill>
                <a:latin typeface="Aptos"/>
              </a:rPr>
              <a:t>WasmRedis</a:t>
            </a:r>
          </a:p>
        </p:txBody>
      </p:sp>
      <p:sp>
        <p:nvSpPr>
          <p:cNvPr id="6" name="TextBox 5"/>
          <p:cNvSpPr txBox="1"/>
          <p:nvPr/>
        </p:nvSpPr>
        <p:spPr>
          <a:xfrm>
            <a:off x="731520" y="1938528"/>
            <a:ext cx="7132320" cy="411480"/>
          </a:xfrm>
          <a:prstGeom prst="rect">
            <a:avLst/>
          </a:prstGeom>
          <a:noFill/>
        </p:spPr>
        <p:txBody>
          <a:bodyPr wrap="square" anchor="t" lIns="18288" rIns="18288" tIns="0" bIns="0">
            <a:spAutoFit/>
          </a:bodyPr>
          <a:lstStyle/>
          <a:p>
            <a:r>
              <a:rPr sz="1800" b="0">
                <a:solidFill>
                  <a:srgbClr val="99A9B7"/>
                </a:solidFill>
                <a:latin typeface="Aptos"/>
              </a:rPr>
              <a:t>Une base Redis lite, entierement dans le navigateur</a:t>
            </a:r>
          </a:p>
        </p:txBody>
      </p:sp>
      <p:sp>
        <p:nvSpPr>
          <p:cNvPr id="7" name="TextBox 6"/>
          <p:cNvSpPr txBox="1"/>
          <p:nvPr/>
        </p:nvSpPr>
        <p:spPr>
          <a:xfrm>
            <a:off x="731520" y="2770632"/>
            <a:ext cx="6766560" cy="384048"/>
          </a:xfrm>
          <a:prstGeom prst="rect">
            <a:avLst/>
          </a:prstGeom>
          <a:noFill/>
        </p:spPr>
        <p:txBody>
          <a:bodyPr wrap="square" anchor="t" lIns="18288" rIns="18288" tIns="0" bIns="0">
            <a:spAutoFit/>
          </a:bodyPr>
          <a:lstStyle/>
          <a:p>
            <a:r>
              <a:rPr sz="1900" b="1">
                <a:solidFill>
                  <a:srgbClr val="EFF4F7"/>
                </a:solidFill>
                <a:latin typeface="Aptos"/>
              </a:rPr>
              <a:t>Go en RAM. OPFS sur disque. React reste fluide.</a:t>
            </a:r>
          </a:p>
        </p:txBody>
      </p:sp>
      <p:sp>
        <p:nvSpPr>
          <p:cNvPr id="8" name="Rounded Rectangle 7"/>
          <p:cNvSpPr/>
          <p:nvPr/>
        </p:nvSpPr>
        <p:spPr>
          <a:xfrm>
            <a:off x="8641080" y="914400"/>
            <a:ext cx="2423160" cy="585216"/>
          </a:xfrm>
          <a:prstGeom prst="round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87968" y="1060704"/>
            <a:ext cx="1920240" cy="228600"/>
          </a:xfrm>
          <a:prstGeom prst="rect">
            <a:avLst/>
          </a:prstGeom>
          <a:noFill/>
        </p:spPr>
        <p:txBody>
          <a:bodyPr wrap="square" anchor="t" lIns="18288" rIns="18288" tIns="0" bIns="0">
            <a:spAutoFit/>
          </a:bodyPr>
          <a:lstStyle/>
          <a:p>
            <a:r>
              <a:rPr sz="1500" b="1">
                <a:solidFill>
                  <a:srgbClr val="0A1019"/>
                </a:solidFill>
                <a:latin typeface="Aptos"/>
              </a:rPr>
              <a:t>React</a:t>
            </a:r>
          </a:p>
        </p:txBody>
      </p:sp>
      <p:sp>
        <p:nvSpPr>
          <p:cNvPr id="10" name="Rounded Rectangle 9"/>
          <p:cNvSpPr/>
          <p:nvPr/>
        </p:nvSpPr>
        <p:spPr>
          <a:xfrm>
            <a:off x="8641080" y="1874519"/>
            <a:ext cx="2423160" cy="585216"/>
          </a:xfrm>
          <a:prstGeom prst="roundRect">
            <a:avLst/>
          </a:prstGeom>
          <a:solidFill>
            <a:srgbClr val="F4C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7968" y="2020823"/>
            <a:ext cx="1920240" cy="228600"/>
          </a:xfrm>
          <a:prstGeom prst="rect">
            <a:avLst/>
          </a:prstGeom>
          <a:noFill/>
        </p:spPr>
        <p:txBody>
          <a:bodyPr wrap="square" anchor="t" lIns="18288" rIns="18288" tIns="0" bIns="0">
            <a:spAutoFit/>
          </a:bodyPr>
          <a:lstStyle/>
          <a:p>
            <a:r>
              <a:rPr sz="1500" b="1">
                <a:solidFill>
                  <a:srgbClr val="0A1019"/>
                </a:solidFill>
                <a:latin typeface="Aptos"/>
              </a:rPr>
              <a:t>SDK TS</a:t>
            </a:r>
          </a:p>
        </p:txBody>
      </p:sp>
      <p:sp>
        <p:nvSpPr>
          <p:cNvPr id="12" name="Rounded Rectangle 11"/>
          <p:cNvSpPr/>
          <p:nvPr/>
        </p:nvSpPr>
        <p:spPr>
          <a:xfrm>
            <a:off x="8641080" y="2834640"/>
            <a:ext cx="2423160" cy="585216"/>
          </a:xfrm>
          <a:prstGeom prst="round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87968" y="2980944"/>
            <a:ext cx="1920240" cy="228600"/>
          </a:xfrm>
          <a:prstGeom prst="rect">
            <a:avLst/>
          </a:prstGeom>
          <a:noFill/>
        </p:spPr>
        <p:txBody>
          <a:bodyPr wrap="square" anchor="t" lIns="18288" rIns="18288" tIns="0" bIns="0">
            <a:spAutoFit/>
          </a:bodyPr>
          <a:lstStyle/>
          <a:p>
            <a:r>
              <a:rPr sz="1500" b="1">
                <a:solidFill>
                  <a:srgbClr val="0A1019"/>
                </a:solidFill>
                <a:latin typeface="Aptos"/>
              </a:rPr>
              <a:t>Worker</a:t>
            </a:r>
          </a:p>
        </p:txBody>
      </p:sp>
      <p:sp>
        <p:nvSpPr>
          <p:cNvPr id="14" name="Rounded Rectangle 13"/>
          <p:cNvSpPr/>
          <p:nvPr/>
        </p:nvSpPr>
        <p:spPr>
          <a:xfrm>
            <a:off x="8641080" y="3794760"/>
            <a:ext cx="2423160" cy="585216"/>
          </a:xfrm>
          <a:prstGeom prst="roundRect">
            <a:avLst/>
          </a:prstGeom>
          <a:solidFill>
            <a:srgbClr val="5EC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941064"/>
            <a:ext cx="1920240" cy="228600"/>
          </a:xfrm>
          <a:prstGeom prst="rect">
            <a:avLst/>
          </a:prstGeom>
          <a:noFill/>
        </p:spPr>
        <p:txBody>
          <a:bodyPr wrap="square" anchor="t" lIns="18288" rIns="18288" tIns="0" bIns="0">
            <a:spAutoFit/>
          </a:bodyPr>
          <a:lstStyle/>
          <a:p>
            <a:r>
              <a:rPr sz="1500" b="1">
                <a:solidFill>
                  <a:srgbClr val="0A1019"/>
                </a:solidFill>
                <a:latin typeface="Aptos"/>
              </a:rPr>
              <a:t>Go/WASM</a:t>
            </a:r>
          </a:p>
        </p:txBody>
      </p:sp>
      <p:sp>
        <p:nvSpPr>
          <p:cNvPr id="16" name="Rounded Rectangle 15"/>
          <p:cNvSpPr/>
          <p:nvPr/>
        </p:nvSpPr>
        <p:spPr>
          <a:xfrm>
            <a:off x="8641080" y="4754880"/>
            <a:ext cx="2423160" cy="585216"/>
          </a:xfrm>
          <a:prstGeom prst="roundRect">
            <a:avLst/>
          </a:prstGeom>
          <a:solidFill>
            <a:srgbClr val="F05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87968" y="4901184"/>
            <a:ext cx="1920240" cy="228600"/>
          </a:xfrm>
          <a:prstGeom prst="rect">
            <a:avLst/>
          </a:prstGeom>
          <a:noFill/>
        </p:spPr>
        <p:txBody>
          <a:bodyPr wrap="square" anchor="t" lIns="18288" rIns="18288" tIns="0" bIns="0">
            <a:spAutoFit/>
          </a:bodyPr>
          <a:lstStyle/>
          <a:p>
            <a:r>
              <a:rPr sz="1500" b="1">
                <a:solidFill>
                  <a:srgbClr val="0A1019"/>
                </a:solidFill>
                <a:latin typeface="Aptos"/>
              </a:rPr>
              <a:t>OPFS</a:t>
            </a:r>
          </a:p>
        </p:txBody>
      </p:sp>
      <p:sp>
        <p:nvSpPr>
          <p:cNvPr id="18" name="TextBox 17"/>
          <p:cNvSpPr txBox="1"/>
          <p:nvPr/>
        </p:nvSpPr>
        <p:spPr>
          <a:xfrm>
            <a:off x="731520" y="6236208"/>
            <a:ext cx="3657600" cy="228600"/>
          </a:xfrm>
          <a:prstGeom prst="rect">
            <a:avLst/>
          </a:prstGeom>
          <a:noFill/>
        </p:spPr>
        <p:txBody>
          <a:bodyPr wrap="square" anchor="t" lIns="18288" rIns="18288" tIns="0" bIns="0">
            <a:spAutoFit/>
          </a:bodyPr>
          <a:lstStyle/>
          <a:p>
            <a:r>
              <a:rPr sz="1000" b="0">
                <a:solidFill>
                  <a:srgbClr val="99A9B7"/>
                </a:solidFill>
                <a:latin typeface="Aptos"/>
              </a:rPr>
              <a:t>Projet local, sans serveur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384048"/>
          </a:xfrm>
          <a:prstGeom prst="rect">
            <a:avLst/>
          </a:prstGeom>
          <a:noFill/>
        </p:spPr>
        <p:txBody>
          <a:bodyPr wrap="square" anchor="t" lIns="18288" rIns="18288" tIns="0" bIns="0">
            <a:spAutoFit/>
          </a:bodyPr>
          <a:lstStyle/>
          <a:p>
            <a:r>
              <a:rPr sz="2500" b="1">
                <a:solidFill>
                  <a:srgbClr val="EFF4F7"/>
                </a:solidFill>
                <a:latin typeface="Aptos"/>
              </a:rPr>
              <a:t>Une commande, cinq etapes</a:t>
            </a:r>
          </a:p>
        </p:txBody>
      </p:sp>
      <p:sp>
        <p:nvSpPr>
          <p:cNvPr id="4" name="TextBox 3"/>
          <p:cNvSpPr txBox="1"/>
          <p:nvPr/>
        </p:nvSpPr>
        <p:spPr>
          <a:xfrm>
            <a:off x="521207" y="704088"/>
            <a:ext cx="9875520" cy="256032"/>
          </a:xfrm>
          <a:prstGeom prst="rect">
            <a:avLst/>
          </a:prstGeom>
          <a:noFill/>
        </p:spPr>
        <p:txBody>
          <a:bodyPr wrap="square" anchor="t" lIns="18288" rIns="18288" tIns="0" bIns="0">
            <a:spAutoFit/>
          </a:bodyPr>
          <a:lstStyle/>
          <a:p>
            <a:r>
              <a:rPr sz="1150" b="0">
                <a:solidFill>
                  <a:srgbClr val="99A9B7"/>
                </a:solidFill>
                <a:latin typeface="Aptos"/>
              </a:rPr>
              <a:t>Le fil rouge de toute la presentation</a:t>
            </a:r>
          </a:p>
        </p:txBody>
      </p:sp>
      <p:sp>
        <p:nvSpPr>
          <p:cNvPr id="5" name="Rectangle 4"/>
          <p:cNvSpPr/>
          <p:nvPr/>
        </p:nvSpPr>
        <p:spPr>
          <a:xfrm>
            <a:off x="512064" y="1005840"/>
            <a:ext cx="1078992" cy="45720"/>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840" y="320040"/>
            <a:ext cx="365760" cy="228600"/>
          </a:xfrm>
          <a:prstGeom prst="rect">
            <a:avLst/>
          </a:prstGeom>
          <a:noFill/>
        </p:spPr>
        <p:txBody>
          <a:bodyPr wrap="square" anchor="t" lIns="18288" rIns="18288" tIns="0" bIns="0">
            <a:spAutoFit/>
          </a:bodyPr>
          <a:lstStyle/>
          <a:p>
            <a:r>
              <a:rPr sz="1000" b="1">
                <a:solidFill>
                  <a:srgbClr val="99A9B7"/>
                </a:solidFill>
                <a:latin typeface="Aptos"/>
              </a:rPr>
              <a:t>02</a:t>
            </a:r>
          </a:p>
        </p:txBody>
      </p:sp>
      <p:sp>
        <p:nvSpPr>
          <p:cNvPr id="7" name="Rounded Rectangle 6"/>
          <p:cNvSpPr/>
          <p:nvPr/>
        </p:nvSpPr>
        <p:spPr>
          <a:xfrm>
            <a:off x="502920" y="1481328"/>
            <a:ext cx="1874519" cy="1207008"/>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81328"/>
            <a:ext cx="1874519" cy="91440"/>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828800"/>
            <a:ext cx="1554480" cy="256032"/>
          </a:xfrm>
          <a:prstGeom prst="rect">
            <a:avLst/>
          </a:prstGeom>
          <a:noFill/>
        </p:spPr>
        <p:txBody>
          <a:bodyPr wrap="square" anchor="t" lIns="18288" rIns="18288" tIns="0" bIns="0">
            <a:spAutoFit/>
          </a:bodyPr>
          <a:lstStyle/>
          <a:p>
            <a:r>
              <a:rPr sz="1600" b="1">
                <a:solidFill>
                  <a:srgbClr val="EFF4F7"/>
                </a:solidFill>
                <a:latin typeface="Aptos"/>
              </a:rPr>
              <a:t>React</a:t>
            </a:r>
          </a:p>
        </p:txBody>
      </p:sp>
      <p:sp>
        <p:nvSpPr>
          <p:cNvPr id="10" name="TextBox 9"/>
          <p:cNvSpPr txBox="1"/>
          <p:nvPr/>
        </p:nvSpPr>
        <p:spPr>
          <a:xfrm>
            <a:off x="667512" y="2194560"/>
            <a:ext cx="1554480" cy="201168"/>
          </a:xfrm>
          <a:prstGeom prst="rect">
            <a:avLst/>
          </a:prstGeom>
          <a:noFill/>
        </p:spPr>
        <p:txBody>
          <a:bodyPr wrap="square" anchor="t" lIns="18288" rIns="18288" tIns="0" bIns="0">
            <a:spAutoFit/>
          </a:bodyPr>
          <a:lstStyle/>
          <a:p>
            <a:r>
              <a:rPr sz="950" b="0">
                <a:solidFill>
                  <a:srgbClr val="99A9B7"/>
                </a:solidFill>
                <a:latin typeface="Aptos"/>
              </a:rPr>
              <a:t>CRUD + liste</a:t>
            </a:r>
          </a:p>
        </p:txBody>
      </p:sp>
      <p:sp>
        <p:nvSpPr>
          <p:cNvPr id="11" name="TextBox 10"/>
          <p:cNvSpPr txBox="1"/>
          <p:nvPr/>
        </p:nvSpPr>
        <p:spPr>
          <a:xfrm>
            <a:off x="2487168" y="1874519"/>
            <a:ext cx="228600" cy="274320"/>
          </a:xfrm>
          <a:prstGeom prst="rect">
            <a:avLst/>
          </a:prstGeom>
          <a:noFill/>
        </p:spPr>
        <p:txBody>
          <a:bodyPr wrap="square" anchor="t" lIns="18288" rIns="18288" tIns="0" bIns="0">
            <a:spAutoFit/>
          </a:bodyPr>
          <a:lstStyle/>
          <a:p>
            <a:r>
              <a:rPr sz="1800" b="1">
                <a:solidFill>
                  <a:srgbClr val="F57F4D"/>
                </a:solidFill>
                <a:latin typeface="Aptos"/>
              </a:rPr>
              <a:t>&gt;</a:t>
            </a:r>
          </a:p>
        </p:txBody>
      </p:sp>
      <p:sp>
        <p:nvSpPr>
          <p:cNvPr id="12" name="Rounded Rectangle 11"/>
          <p:cNvSpPr/>
          <p:nvPr/>
        </p:nvSpPr>
        <p:spPr>
          <a:xfrm>
            <a:off x="2816352" y="1481328"/>
            <a:ext cx="1874519" cy="1207008"/>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1481328"/>
            <a:ext cx="1874519" cy="91440"/>
          </a:xfrm>
          <a:prstGeom prst="rect">
            <a:avLst/>
          </a:prstGeom>
          <a:solidFill>
            <a:srgbClr val="F4C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80944" y="1828800"/>
            <a:ext cx="1554480" cy="256032"/>
          </a:xfrm>
          <a:prstGeom prst="rect">
            <a:avLst/>
          </a:prstGeom>
          <a:noFill/>
        </p:spPr>
        <p:txBody>
          <a:bodyPr wrap="square" anchor="t" lIns="18288" rIns="18288" tIns="0" bIns="0">
            <a:spAutoFit/>
          </a:bodyPr>
          <a:lstStyle/>
          <a:p>
            <a:r>
              <a:rPr sz="1600" b="1">
                <a:solidFill>
                  <a:srgbClr val="EFF4F7"/>
                </a:solidFill>
                <a:latin typeface="Aptos"/>
              </a:rPr>
              <a:t>SDK</a:t>
            </a:r>
          </a:p>
        </p:txBody>
      </p:sp>
      <p:sp>
        <p:nvSpPr>
          <p:cNvPr id="15" name="TextBox 14"/>
          <p:cNvSpPr txBox="1"/>
          <p:nvPr/>
        </p:nvSpPr>
        <p:spPr>
          <a:xfrm>
            <a:off x="2980944" y="2194560"/>
            <a:ext cx="1554480" cy="201168"/>
          </a:xfrm>
          <a:prstGeom prst="rect">
            <a:avLst/>
          </a:prstGeom>
          <a:noFill/>
        </p:spPr>
        <p:txBody>
          <a:bodyPr wrap="square" anchor="t" lIns="18288" rIns="18288" tIns="0" bIns="0">
            <a:spAutoFit/>
          </a:bodyPr>
          <a:lstStyle/>
          <a:p>
            <a:r>
              <a:rPr sz="950" b="0">
                <a:solidFill>
                  <a:srgbClr val="99A9B7"/>
                </a:solidFill>
                <a:latin typeface="Aptos"/>
              </a:rPr>
              <a:t>types + Zod</a:t>
            </a:r>
          </a:p>
        </p:txBody>
      </p:sp>
      <p:sp>
        <p:nvSpPr>
          <p:cNvPr id="16" name="TextBox 15"/>
          <p:cNvSpPr txBox="1"/>
          <p:nvPr/>
        </p:nvSpPr>
        <p:spPr>
          <a:xfrm>
            <a:off x="4800600" y="1874519"/>
            <a:ext cx="228600" cy="274320"/>
          </a:xfrm>
          <a:prstGeom prst="rect">
            <a:avLst/>
          </a:prstGeom>
          <a:noFill/>
        </p:spPr>
        <p:txBody>
          <a:bodyPr wrap="square" anchor="t" lIns="18288" rIns="18288" tIns="0" bIns="0">
            <a:spAutoFit/>
          </a:bodyPr>
          <a:lstStyle/>
          <a:p>
            <a:r>
              <a:rPr sz="1800" b="1">
                <a:solidFill>
                  <a:srgbClr val="F57F4D"/>
                </a:solidFill>
                <a:latin typeface="Aptos"/>
              </a:rPr>
              <a:t>&gt;</a:t>
            </a:r>
          </a:p>
        </p:txBody>
      </p:sp>
      <p:sp>
        <p:nvSpPr>
          <p:cNvPr id="17" name="Rounded Rectangle 16"/>
          <p:cNvSpPr/>
          <p:nvPr/>
        </p:nvSpPr>
        <p:spPr>
          <a:xfrm>
            <a:off x="5129783" y="1481328"/>
            <a:ext cx="1874519" cy="1207008"/>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9783" y="1481328"/>
            <a:ext cx="1874519" cy="91440"/>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94375" y="1828800"/>
            <a:ext cx="1554480" cy="256032"/>
          </a:xfrm>
          <a:prstGeom prst="rect">
            <a:avLst/>
          </a:prstGeom>
          <a:noFill/>
        </p:spPr>
        <p:txBody>
          <a:bodyPr wrap="square" anchor="t" lIns="18288" rIns="18288" tIns="0" bIns="0">
            <a:spAutoFit/>
          </a:bodyPr>
          <a:lstStyle/>
          <a:p>
            <a:r>
              <a:rPr sz="1600" b="1">
                <a:solidFill>
                  <a:srgbClr val="EFF4F7"/>
                </a:solidFill>
                <a:latin typeface="Aptos"/>
              </a:rPr>
              <a:t>Worker</a:t>
            </a:r>
          </a:p>
        </p:txBody>
      </p:sp>
      <p:sp>
        <p:nvSpPr>
          <p:cNvPr id="20" name="TextBox 19"/>
          <p:cNvSpPr txBox="1"/>
          <p:nvPr/>
        </p:nvSpPr>
        <p:spPr>
          <a:xfrm>
            <a:off x="5294375" y="2194560"/>
            <a:ext cx="1554480" cy="201168"/>
          </a:xfrm>
          <a:prstGeom prst="rect">
            <a:avLst/>
          </a:prstGeom>
          <a:noFill/>
        </p:spPr>
        <p:txBody>
          <a:bodyPr wrap="square" anchor="t" lIns="18288" rIns="18288" tIns="0" bIns="0">
            <a:spAutoFit/>
          </a:bodyPr>
          <a:lstStyle/>
          <a:p>
            <a:r>
              <a:rPr sz="950" b="0">
                <a:solidFill>
                  <a:srgbClr val="99A9B7"/>
                </a:solidFill>
                <a:latin typeface="Aptos"/>
              </a:rPr>
              <a:t>postMessage</a:t>
            </a:r>
          </a:p>
        </p:txBody>
      </p:sp>
      <p:sp>
        <p:nvSpPr>
          <p:cNvPr id="21" name="TextBox 20"/>
          <p:cNvSpPr txBox="1"/>
          <p:nvPr/>
        </p:nvSpPr>
        <p:spPr>
          <a:xfrm>
            <a:off x="7114031" y="1874519"/>
            <a:ext cx="228600" cy="274320"/>
          </a:xfrm>
          <a:prstGeom prst="rect">
            <a:avLst/>
          </a:prstGeom>
          <a:noFill/>
        </p:spPr>
        <p:txBody>
          <a:bodyPr wrap="square" anchor="t" lIns="18288" rIns="18288" tIns="0" bIns="0">
            <a:spAutoFit/>
          </a:bodyPr>
          <a:lstStyle/>
          <a:p>
            <a:r>
              <a:rPr sz="1800" b="1">
                <a:solidFill>
                  <a:srgbClr val="F57F4D"/>
                </a:solidFill>
                <a:latin typeface="Aptos"/>
              </a:rPr>
              <a:t>&gt;</a:t>
            </a:r>
          </a:p>
        </p:txBody>
      </p:sp>
      <p:sp>
        <p:nvSpPr>
          <p:cNvPr id="22" name="Rounded Rectangle 21"/>
          <p:cNvSpPr/>
          <p:nvPr/>
        </p:nvSpPr>
        <p:spPr>
          <a:xfrm>
            <a:off x="7443216" y="1481328"/>
            <a:ext cx="1874519" cy="1207008"/>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43216" y="1481328"/>
            <a:ext cx="1874519" cy="91440"/>
          </a:xfrm>
          <a:prstGeom prst="rect">
            <a:avLst/>
          </a:prstGeom>
          <a:solidFill>
            <a:srgbClr val="5EC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7808" y="1828800"/>
            <a:ext cx="1554480" cy="256032"/>
          </a:xfrm>
          <a:prstGeom prst="rect">
            <a:avLst/>
          </a:prstGeom>
          <a:noFill/>
        </p:spPr>
        <p:txBody>
          <a:bodyPr wrap="square" anchor="t" lIns="18288" rIns="18288" tIns="0" bIns="0">
            <a:spAutoFit/>
          </a:bodyPr>
          <a:lstStyle/>
          <a:p>
            <a:r>
              <a:rPr sz="1600" b="1">
                <a:solidFill>
                  <a:srgbClr val="EFF4F7"/>
                </a:solidFill>
                <a:latin typeface="Aptos"/>
              </a:rPr>
              <a:t>Go/WASM</a:t>
            </a:r>
          </a:p>
        </p:txBody>
      </p:sp>
      <p:sp>
        <p:nvSpPr>
          <p:cNvPr id="25" name="TextBox 24"/>
          <p:cNvSpPr txBox="1"/>
          <p:nvPr/>
        </p:nvSpPr>
        <p:spPr>
          <a:xfrm>
            <a:off x="7607808" y="2194560"/>
            <a:ext cx="1554480" cy="201168"/>
          </a:xfrm>
          <a:prstGeom prst="rect">
            <a:avLst/>
          </a:prstGeom>
          <a:noFill/>
        </p:spPr>
        <p:txBody>
          <a:bodyPr wrap="square" anchor="t" lIns="18288" rIns="18288" tIns="0" bIns="0">
            <a:spAutoFit/>
          </a:bodyPr>
          <a:lstStyle/>
          <a:p>
            <a:r>
              <a:rPr sz="950" b="0">
                <a:solidFill>
                  <a:srgbClr val="99A9B7"/>
                </a:solidFill>
                <a:latin typeface="Aptos"/>
              </a:rPr>
              <a:t>state + index</a:t>
            </a:r>
          </a:p>
        </p:txBody>
      </p:sp>
      <p:sp>
        <p:nvSpPr>
          <p:cNvPr id="26" name="TextBox 25"/>
          <p:cNvSpPr txBox="1"/>
          <p:nvPr/>
        </p:nvSpPr>
        <p:spPr>
          <a:xfrm>
            <a:off x="9427464" y="1874519"/>
            <a:ext cx="228600" cy="274320"/>
          </a:xfrm>
          <a:prstGeom prst="rect">
            <a:avLst/>
          </a:prstGeom>
          <a:noFill/>
        </p:spPr>
        <p:txBody>
          <a:bodyPr wrap="square" anchor="t" lIns="18288" rIns="18288" tIns="0" bIns="0">
            <a:spAutoFit/>
          </a:bodyPr>
          <a:lstStyle/>
          <a:p>
            <a:r>
              <a:rPr sz="1800" b="1">
                <a:solidFill>
                  <a:srgbClr val="F57F4D"/>
                </a:solidFill>
                <a:latin typeface="Aptos"/>
              </a:rPr>
              <a:t>&gt;</a:t>
            </a:r>
          </a:p>
        </p:txBody>
      </p:sp>
      <p:sp>
        <p:nvSpPr>
          <p:cNvPr id="27" name="Rounded Rectangle 26"/>
          <p:cNvSpPr/>
          <p:nvPr/>
        </p:nvSpPr>
        <p:spPr>
          <a:xfrm>
            <a:off x="9756648" y="1481328"/>
            <a:ext cx="1874519" cy="1207008"/>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56648" y="1481328"/>
            <a:ext cx="1874519" cy="91440"/>
          </a:xfrm>
          <a:prstGeom prst="rect">
            <a:avLst/>
          </a:prstGeom>
          <a:solidFill>
            <a:srgbClr val="F05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921240" y="1828800"/>
            <a:ext cx="1554480" cy="256032"/>
          </a:xfrm>
          <a:prstGeom prst="rect">
            <a:avLst/>
          </a:prstGeom>
          <a:noFill/>
        </p:spPr>
        <p:txBody>
          <a:bodyPr wrap="square" anchor="t" lIns="18288" rIns="18288" tIns="0" bIns="0">
            <a:spAutoFit/>
          </a:bodyPr>
          <a:lstStyle/>
          <a:p>
            <a:r>
              <a:rPr sz="1600" b="1">
                <a:solidFill>
                  <a:srgbClr val="EFF4F7"/>
                </a:solidFill>
                <a:latin typeface="Aptos"/>
              </a:rPr>
              <a:t>OPFS</a:t>
            </a:r>
          </a:p>
        </p:txBody>
      </p:sp>
      <p:sp>
        <p:nvSpPr>
          <p:cNvPr id="30" name="TextBox 29"/>
          <p:cNvSpPr txBox="1"/>
          <p:nvPr/>
        </p:nvSpPr>
        <p:spPr>
          <a:xfrm>
            <a:off x="9921240" y="2194560"/>
            <a:ext cx="1554480" cy="201168"/>
          </a:xfrm>
          <a:prstGeom prst="rect">
            <a:avLst/>
          </a:prstGeom>
          <a:noFill/>
        </p:spPr>
        <p:txBody>
          <a:bodyPr wrap="square" anchor="t" lIns="18288" rIns="18288" tIns="0" bIns="0">
            <a:spAutoFit/>
          </a:bodyPr>
          <a:lstStyle/>
          <a:p>
            <a:r>
              <a:rPr sz="950" b="0">
                <a:solidFill>
                  <a:srgbClr val="99A9B7"/>
                </a:solidFill>
                <a:latin typeface="Aptos"/>
              </a:rPr>
              <a:t>AOF + snapshot</a:t>
            </a:r>
          </a:p>
        </p:txBody>
      </p:sp>
      <p:sp>
        <p:nvSpPr>
          <p:cNvPr id="31" name="TextBox 30"/>
          <p:cNvSpPr txBox="1"/>
          <p:nvPr/>
        </p:nvSpPr>
        <p:spPr>
          <a:xfrm>
            <a:off x="566928" y="3246120"/>
            <a:ext cx="2743200" cy="256032"/>
          </a:xfrm>
          <a:prstGeom prst="rect">
            <a:avLst/>
          </a:prstGeom>
          <a:noFill/>
        </p:spPr>
        <p:txBody>
          <a:bodyPr wrap="square" anchor="t" lIns="18288" rIns="18288" tIns="0" bIns="0">
            <a:spAutoFit/>
          </a:bodyPr>
          <a:lstStyle/>
          <a:p>
            <a:r>
              <a:rPr sz="1300" b="1">
                <a:solidFill>
                  <a:srgbClr val="99A9B7"/>
                </a:solidFill>
                <a:latin typeface="Aptos"/>
              </a:rPr>
              <a:t>Cycle de persistance</a:t>
            </a:r>
          </a:p>
        </p:txBody>
      </p:sp>
      <p:sp>
        <p:nvSpPr>
          <p:cNvPr id="32" name="Rounded Rectangle 31"/>
          <p:cNvSpPr/>
          <p:nvPr/>
        </p:nvSpPr>
        <p:spPr>
          <a:xfrm>
            <a:off x="566928" y="3703320"/>
            <a:ext cx="2304288" cy="713232"/>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66928" y="3703320"/>
            <a:ext cx="73152" cy="713232"/>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5528" y="3922776"/>
            <a:ext cx="1828800" cy="228600"/>
          </a:xfrm>
          <a:prstGeom prst="rect">
            <a:avLst/>
          </a:prstGeom>
          <a:noFill/>
        </p:spPr>
        <p:txBody>
          <a:bodyPr wrap="square" anchor="t" lIns="18288" rIns="18288" tIns="0" bIns="0">
            <a:spAutoFit/>
          </a:bodyPr>
          <a:lstStyle/>
          <a:p>
            <a:r>
              <a:rPr sz="1300" b="1">
                <a:solidFill>
                  <a:srgbClr val="EFF4F7"/>
                </a:solidFill>
                <a:latin typeface="Aptos"/>
              </a:rPr>
              <a:t>state RAM</a:t>
            </a:r>
          </a:p>
        </p:txBody>
      </p:sp>
      <p:sp>
        <p:nvSpPr>
          <p:cNvPr id="35" name="TextBox 34"/>
          <p:cNvSpPr txBox="1"/>
          <p:nvPr/>
        </p:nvSpPr>
        <p:spPr>
          <a:xfrm>
            <a:off x="3017520" y="3886200"/>
            <a:ext cx="228600" cy="228600"/>
          </a:xfrm>
          <a:prstGeom prst="rect">
            <a:avLst/>
          </a:prstGeom>
          <a:noFill/>
        </p:spPr>
        <p:txBody>
          <a:bodyPr wrap="square" anchor="t" lIns="18288" rIns="18288" tIns="0" bIns="0">
            <a:spAutoFit/>
          </a:bodyPr>
          <a:lstStyle/>
          <a:p>
            <a:r>
              <a:rPr sz="1800" b="1">
                <a:solidFill>
                  <a:srgbClr val="2DC1B7"/>
                </a:solidFill>
                <a:latin typeface="Aptos"/>
              </a:rPr>
              <a:t>&gt;</a:t>
            </a:r>
          </a:p>
        </p:txBody>
      </p:sp>
      <p:sp>
        <p:nvSpPr>
          <p:cNvPr id="36" name="Rounded Rectangle 35"/>
          <p:cNvSpPr/>
          <p:nvPr/>
        </p:nvSpPr>
        <p:spPr>
          <a:xfrm>
            <a:off x="3401568" y="3703320"/>
            <a:ext cx="2304288" cy="713232"/>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401568" y="3703320"/>
            <a:ext cx="73152" cy="713232"/>
          </a:xfrm>
          <a:prstGeom prst="rect">
            <a:avLst/>
          </a:prstGeom>
          <a:solidFill>
            <a:srgbClr val="F4C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30168" y="3922776"/>
            <a:ext cx="1828800" cy="228600"/>
          </a:xfrm>
          <a:prstGeom prst="rect">
            <a:avLst/>
          </a:prstGeom>
          <a:noFill/>
        </p:spPr>
        <p:txBody>
          <a:bodyPr wrap="square" anchor="t" lIns="18288" rIns="18288" tIns="0" bIns="0">
            <a:spAutoFit/>
          </a:bodyPr>
          <a:lstStyle/>
          <a:p>
            <a:r>
              <a:rPr sz="1300" b="1">
                <a:solidFill>
                  <a:srgbClr val="EFF4F7"/>
                </a:solidFill>
                <a:latin typeface="Aptos"/>
              </a:rPr>
              <a:t>buffer Go</a:t>
            </a:r>
          </a:p>
        </p:txBody>
      </p:sp>
      <p:sp>
        <p:nvSpPr>
          <p:cNvPr id="39" name="TextBox 38"/>
          <p:cNvSpPr txBox="1"/>
          <p:nvPr/>
        </p:nvSpPr>
        <p:spPr>
          <a:xfrm>
            <a:off x="5852160" y="3886200"/>
            <a:ext cx="228600" cy="228600"/>
          </a:xfrm>
          <a:prstGeom prst="rect">
            <a:avLst/>
          </a:prstGeom>
          <a:noFill/>
        </p:spPr>
        <p:txBody>
          <a:bodyPr wrap="square" anchor="t" lIns="18288" rIns="18288" tIns="0" bIns="0">
            <a:spAutoFit/>
          </a:bodyPr>
          <a:lstStyle/>
          <a:p>
            <a:r>
              <a:rPr sz="1800" b="1">
                <a:solidFill>
                  <a:srgbClr val="F4CD60"/>
                </a:solidFill>
                <a:latin typeface="Aptos"/>
              </a:rPr>
              <a:t>&gt;</a:t>
            </a:r>
          </a:p>
        </p:txBody>
      </p:sp>
      <p:sp>
        <p:nvSpPr>
          <p:cNvPr id="40" name="Rounded Rectangle 39"/>
          <p:cNvSpPr/>
          <p:nvPr/>
        </p:nvSpPr>
        <p:spPr>
          <a:xfrm>
            <a:off x="6236208" y="3703320"/>
            <a:ext cx="2304288" cy="713232"/>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36208" y="3703320"/>
            <a:ext cx="73152" cy="713232"/>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64808" y="3922776"/>
            <a:ext cx="1828800" cy="228600"/>
          </a:xfrm>
          <a:prstGeom prst="rect">
            <a:avLst/>
          </a:prstGeom>
          <a:noFill/>
        </p:spPr>
        <p:txBody>
          <a:bodyPr wrap="square" anchor="t" lIns="18288" rIns="18288" tIns="0" bIns="0">
            <a:spAutoFit/>
          </a:bodyPr>
          <a:lstStyle/>
          <a:p>
            <a:r>
              <a:rPr sz="1300" b="1">
                <a:solidFill>
                  <a:srgbClr val="EFF4F7"/>
                </a:solidFill>
                <a:latin typeface="Aptos"/>
              </a:rPr>
              <a:t>AOF ~1 s</a:t>
            </a:r>
          </a:p>
        </p:txBody>
      </p:sp>
      <p:sp>
        <p:nvSpPr>
          <p:cNvPr id="43" name="TextBox 42"/>
          <p:cNvSpPr txBox="1"/>
          <p:nvPr/>
        </p:nvSpPr>
        <p:spPr>
          <a:xfrm>
            <a:off x="8686800" y="3886200"/>
            <a:ext cx="228600" cy="228600"/>
          </a:xfrm>
          <a:prstGeom prst="rect">
            <a:avLst/>
          </a:prstGeom>
          <a:noFill/>
        </p:spPr>
        <p:txBody>
          <a:bodyPr wrap="square" anchor="t" lIns="18288" rIns="18288" tIns="0" bIns="0">
            <a:spAutoFit/>
          </a:bodyPr>
          <a:lstStyle/>
          <a:p>
            <a:r>
              <a:rPr sz="1800" b="1">
                <a:solidFill>
                  <a:srgbClr val="F57F4D"/>
                </a:solidFill>
                <a:latin typeface="Aptos"/>
              </a:rPr>
              <a:t>&gt;</a:t>
            </a:r>
          </a:p>
        </p:txBody>
      </p:sp>
      <p:sp>
        <p:nvSpPr>
          <p:cNvPr id="44" name="Rounded Rectangle 43"/>
          <p:cNvSpPr/>
          <p:nvPr/>
        </p:nvSpPr>
        <p:spPr>
          <a:xfrm>
            <a:off x="9070848" y="3703320"/>
            <a:ext cx="2304288" cy="713232"/>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070848" y="3703320"/>
            <a:ext cx="73152" cy="713232"/>
          </a:xfrm>
          <a:prstGeom prst="rect">
            <a:avLst/>
          </a:prstGeom>
          <a:solidFill>
            <a:srgbClr val="F05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299448" y="3922776"/>
            <a:ext cx="1828800" cy="228600"/>
          </a:xfrm>
          <a:prstGeom prst="rect">
            <a:avLst/>
          </a:prstGeom>
          <a:noFill/>
        </p:spPr>
        <p:txBody>
          <a:bodyPr wrap="square" anchor="t" lIns="18288" rIns="18288" tIns="0" bIns="0">
            <a:spAutoFit/>
          </a:bodyPr>
          <a:lstStyle/>
          <a:p>
            <a:r>
              <a:rPr sz="1300" b="1">
                <a:solidFill>
                  <a:srgbClr val="EFF4F7"/>
                </a:solidFill>
                <a:latin typeface="Aptos"/>
              </a:rPr>
              <a:t>snapshot ~2 min</a:t>
            </a:r>
          </a:p>
        </p:txBody>
      </p:sp>
      <p:sp>
        <p:nvSpPr>
          <p:cNvPr id="47" name="Rectangle 46"/>
          <p:cNvSpPr/>
          <p:nvPr/>
        </p:nvSpPr>
        <p:spPr>
          <a:xfrm>
            <a:off x="530352" y="5870448"/>
            <a:ext cx="73152" cy="438912"/>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13232" y="5852160"/>
            <a:ext cx="5440680" cy="438912"/>
          </a:xfrm>
          <a:prstGeom prst="rect">
            <a:avLst/>
          </a:prstGeom>
          <a:noFill/>
        </p:spPr>
        <p:txBody>
          <a:bodyPr wrap="square" anchor="t" lIns="18288" rIns="18288" tIns="0" bIns="0">
            <a:spAutoFit/>
          </a:bodyPr>
          <a:lstStyle/>
          <a:p>
            <a:r>
              <a:rPr sz="1150" b="1">
                <a:solidFill>
                  <a:srgbClr val="EFF4F7"/>
                </a:solidFill>
                <a:latin typeface="Aptos"/>
              </a:rPr>
              <a:t>React ne bloque jamais : le moteur et le disque vivent dans le worker.</a:t>
            </a:r>
          </a:p>
        </p:txBody>
      </p:sp>
      <p:sp>
        <p:nvSpPr>
          <p:cNvPr id="49" name="Rectangle 48"/>
          <p:cNvSpPr/>
          <p:nvPr/>
        </p:nvSpPr>
        <p:spPr>
          <a:xfrm>
            <a:off x="6181344" y="5870448"/>
            <a:ext cx="73152" cy="438912"/>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64224" y="5852160"/>
            <a:ext cx="5440680" cy="438912"/>
          </a:xfrm>
          <a:prstGeom prst="rect">
            <a:avLst/>
          </a:prstGeom>
          <a:noFill/>
        </p:spPr>
        <p:txBody>
          <a:bodyPr wrap="square" anchor="t" lIns="18288" rIns="18288" tIns="0" bIns="0">
            <a:spAutoFit/>
          </a:bodyPr>
          <a:lstStyle/>
          <a:p>
            <a:r>
              <a:rPr sz="1150" b="1">
                <a:solidFill>
                  <a:srgbClr val="EFF4F7"/>
                </a:solidFill>
                <a:latin typeface="Aptos"/>
              </a:rPr>
              <a:t>La RAM donne la vitesse ; AOF + snapshot donnent la persistance.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384048"/>
          </a:xfrm>
          <a:prstGeom prst="rect">
            <a:avLst/>
          </a:prstGeom>
          <a:noFill/>
        </p:spPr>
        <p:txBody>
          <a:bodyPr wrap="square" anchor="t" lIns="18288" rIns="18288" tIns="0" bIns="0">
            <a:spAutoFit/>
          </a:bodyPr>
          <a:lstStyle/>
          <a:p>
            <a:r>
              <a:rPr sz="2500" b="1">
                <a:solidFill>
                  <a:srgbClr val="EFF4F7"/>
                </a:solidFill>
                <a:latin typeface="Aptos"/>
              </a:rPr>
              <a:t>Le parser protege l'entree</a:t>
            </a:r>
          </a:p>
        </p:txBody>
      </p:sp>
      <p:sp>
        <p:nvSpPr>
          <p:cNvPr id="4" name="TextBox 3"/>
          <p:cNvSpPr txBox="1"/>
          <p:nvPr/>
        </p:nvSpPr>
        <p:spPr>
          <a:xfrm>
            <a:off x="521207" y="704088"/>
            <a:ext cx="9875520" cy="256032"/>
          </a:xfrm>
          <a:prstGeom prst="rect">
            <a:avLst/>
          </a:prstGeom>
          <a:noFill/>
        </p:spPr>
        <p:txBody>
          <a:bodyPr wrap="square" anchor="t" lIns="18288" rIns="18288" tIns="0" bIns="0">
            <a:spAutoFit/>
          </a:bodyPr>
          <a:lstStyle/>
          <a:p>
            <a:r>
              <a:rPr sz="1150" b="0">
                <a:solidFill>
                  <a:srgbClr val="99A9B7"/>
                </a:solidFill>
                <a:latin typeface="Aptos"/>
              </a:rPr>
              <a:t>Du texte vers une commande Go valide</a:t>
            </a:r>
          </a:p>
        </p:txBody>
      </p:sp>
      <p:sp>
        <p:nvSpPr>
          <p:cNvPr id="5" name="Rectangle 4"/>
          <p:cNvSpPr/>
          <p:nvPr/>
        </p:nvSpPr>
        <p:spPr>
          <a:xfrm>
            <a:off x="512064" y="1005840"/>
            <a:ext cx="1078992" cy="45720"/>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840" y="320040"/>
            <a:ext cx="365760" cy="228600"/>
          </a:xfrm>
          <a:prstGeom prst="rect">
            <a:avLst/>
          </a:prstGeom>
          <a:noFill/>
        </p:spPr>
        <p:txBody>
          <a:bodyPr wrap="square" anchor="t" lIns="18288" rIns="18288" tIns="0" bIns="0">
            <a:spAutoFit/>
          </a:bodyPr>
          <a:lstStyle/>
          <a:p>
            <a:r>
              <a:rPr sz="1000" b="1">
                <a:solidFill>
                  <a:srgbClr val="99A9B7"/>
                </a:solidFill>
                <a:latin typeface="Aptos"/>
              </a:rPr>
              <a:t>03</a:t>
            </a:r>
          </a:p>
        </p:txBody>
      </p:sp>
      <p:sp>
        <p:nvSpPr>
          <p:cNvPr id="7" name="Rounded Rectangle 6"/>
          <p:cNvSpPr/>
          <p:nvPr/>
        </p:nvSpPr>
        <p:spPr>
          <a:xfrm>
            <a:off x="502920" y="1298448"/>
            <a:ext cx="11173968" cy="4297680"/>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1481328"/>
            <a:ext cx="10661904" cy="219456"/>
          </a:xfrm>
          <a:prstGeom prst="rect">
            <a:avLst/>
          </a:prstGeom>
          <a:noFill/>
        </p:spPr>
        <p:txBody>
          <a:bodyPr wrap="square" anchor="t" lIns="18288" rIns="18288" tIns="0" bIns="0">
            <a:spAutoFit/>
          </a:bodyPr>
          <a:lstStyle/>
          <a:p>
            <a:r>
              <a:rPr sz="950" b="1">
                <a:solidFill>
                  <a:srgbClr val="2DC1B7"/>
                </a:solidFill>
                <a:latin typeface="Aptos"/>
              </a:rPr>
              <a:t>internal/redis/parser.go:44-51</a:t>
            </a:r>
          </a:p>
        </p:txBody>
      </p:sp>
      <p:sp>
        <p:nvSpPr>
          <p:cNvPr id="9" name="TextBox 8"/>
          <p:cNvSpPr txBox="1"/>
          <p:nvPr/>
        </p:nvSpPr>
        <p:spPr>
          <a:xfrm>
            <a:off x="777240" y="1865376"/>
            <a:ext cx="10625328" cy="3547872"/>
          </a:xfrm>
          <a:prstGeom prst="rect">
            <a:avLst/>
          </a:prstGeom>
          <a:noFill/>
        </p:spPr>
        <p:txBody>
          <a:bodyPr wrap="square" anchor="t" lIns="18288" rIns="18288" tIns="0" bIns="0">
            <a:spAutoFit/>
          </a:bodyPr>
          <a:lstStyle/>
          <a:p>
            <a:r>
              <a:rPr sz="1500" b="0">
                <a:solidFill>
                  <a:srgbClr val="EFF4F7"/>
                </a:solidFill>
                <a:latin typeface="Courier New"/>
              </a:rPr>
              <a:t>44      switch CommandType(commandName) {
45  
46      // GET accepte soit une cle, soit la forme GET WHERE.
47      case CommandGet:
48          if len(parts) &gt; 1 &amp;&amp; strings.EqualFold(parts[1], "WHERE") {
49              return parseWhereCommand(parts)
50          }
51          return parseKeyCommand(CommandGet, parts)</a:t>
            </a:r>
          </a:p>
        </p:txBody>
      </p:sp>
      <p:sp>
        <p:nvSpPr>
          <p:cNvPr id="10" name="Rectangle 9"/>
          <p:cNvSpPr/>
          <p:nvPr/>
        </p:nvSpPr>
        <p:spPr>
          <a:xfrm>
            <a:off x="530352" y="5870448"/>
            <a:ext cx="73152" cy="438912"/>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5852160"/>
            <a:ext cx="5440680" cy="438912"/>
          </a:xfrm>
          <a:prstGeom prst="rect">
            <a:avLst/>
          </a:prstGeom>
          <a:noFill/>
        </p:spPr>
        <p:txBody>
          <a:bodyPr wrap="square" anchor="t" lIns="18288" rIns="18288" tIns="0" bIns="0">
            <a:spAutoFit/>
          </a:bodyPr>
          <a:lstStyle/>
          <a:p>
            <a:r>
              <a:rPr sz="1150" b="1">
                <a:solidFill>
                  <a:srgbClr val="EFF4F7"/>
                </a:solidFill>
                <a:latin typeface="Aptos"/>
              </a:rPr>
              <a:t>GET WHERE est distingue d'un GET par cle.</a:t>
            </a:r>
          </a:p>
        </p:txBody>
      </p:sp>
      <p:sp>
        <p:nvSpPr>
          <p:cNvPr id="12" name="Rectangle 11"/>
          <p:cNvSpPr/>
          <p:nvPr/>
        </p:nvSpPr>
        <p:spPr>
          <a:xfrm>
            <a:off x="6181344" y="5870448"/>
            <a:ext cx="73152" cy="438912"/>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64224" y="5852160"/>
            <a:ext cx="5440680" cy="438912"/>
          </a:xfrm>
          <a:prstGeom prst="rect">
            <a:avLst/>
          </a:prstGeom>
          <a:noFill/>
        </p:spPr>
        <p:txBody>
          <a:bodyPr wrap="square" anchor="t" lIns="18288" rIns="18288" tIns="0" bIns="0">
            <a:spAutoFit/>
          </a:bodyPr>
          <a:lstStyle/>
          <a:p>
            <a:r>
              <a:rPr sz="1150" b="1">
                <a:solidFill>
                  <a:srgbClr val="EFF4F7"/>
                </a:solidFill>
                <a:latin typeface="Aptos"/>
              </a:rPr>
              <a:t>Toute commande inconnue est rejetee avant le moteur.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384048"/>
          </a:xfrm>
          <a:prstGeom prst="rect">
            <a:avLst/>
          </a:prstGeom>
          <a:noFill/>
        </p:spPr>
        <p:txBody>
          <a:bodyPr wrap="square" anchor="t" lIns="18288" rIns="18288" tIns="0" bIns="0">
            <a:spAutoFit/>
          </a:bodyPr>
          <a:lstStyle/>
          <a:p>
            <a:r>
              <a:rPr sz="2500" b="1">
                <a:solidFill>
                  <a:srgbClr val="EFF4F7"/>
                </a:solidFill>
                <a:latin typeface="Aptos"/>
              </a:rPr>
              <a:t>Du texte au state</a:t>
            </a:r>
          </a:p>
        </p:txBody>
      </p:sp>
      <p:sp>
        <p:nvSpPr>
          <p:cNvPr id="4" name="TextBox 3"/>
          <p:cNvSpPr txBox="1"/>
          <p:nvPr/>
        </p:nvSpPr>
        <p:spPr>
          <a:xfrm>
            <a:off x="521207" y="704088"/>
            <a:ext cx="9875520" cy="256032"/>
          </a:xfrm>
          <a:prstGeom prst="rect">
            <a:avLst/>
          </a:prstGeom>
          <a:noFill/>
        </p:spPr>
        <p:txBody>
          <a:bodyPr wrap="square" anchor="t" lIns="18288" rIns="18288" tIns="0" bIns="0">
            <a:spAutoFit/>
          </a:bodyPr>
          <a:lstStyle/>
          <a:p>
            <a:r>
              <a:rPr sz="1150" b="0">
                <a:solidFill>
                  <a:srgbClr val="99A9B7"/>
                </a:solidFill>
                <a:latin typeface="Aptos"/>
              </a:rPr>
              <a:t>ExecuteText relie le parser aux actions du moteur</a:t>
            </a:r>
          </a:p>
        </p:txBody>
      </p:sp>
      <p:sp>
        <p:nvSpPr>
          <p:cNvPr id="5" name="Rectangle 4"/>
          <p:cNvSpPr/>
          <p:nvPr/>
        </p:nvSpPr>
        <p:spPr>
          <a:xfrm>
            <a:off x="512064" y="1005840"/>
            <a:ext cx="1078992" cy="45720"/>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840" y="320040"/>
            <a:ext cx="365760" cy="228600"/>
          </a:xfrm>
          <a:prstGeom prst="rect">
            <a:avLst/>
          </a:prstGeom>
          <a:noFill/>
        </p:spPr>
        <p:txBody>
          <a:bodyPr wrap="square" anchor="t" lIns="18288" rIns="18288" tIns="0" bIns="0">
            <a:spAutoFit/>
          </a:bodyPr>
          <a:lstStyle/>
          <a:p>
            <a:r>
              <a:rPr sz="1000" b="1">
                <a:solidFill>
                  <a:srgbClr val="99A9B7"/>
                </a:solidFill>
                <a:latin typeface="Aptos"/>
              </a:rPr>
              <a:t>04</a:t>
            </a:r>
          </a:p>
        </p:txBody>
      </p:sp>
      <p:sp>
        <p:nvSpPr>
          <p:cNvPr id="7" name="Rounded Rectangle 6"/>
          <p:cNvSpPr/>
          <p:nvPr/>
        </p:nvSpPr>
        <p:spPr>
          <a:xfrm>
            <a:off x="502920" y="1280160"/>
            <a:ext cx="1648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280160"/>
            <a:ext cx="64008" cy="640080"/>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 y="1481328"/>
            <a:ext cx="1447800" cy="228600"/>
          </a:xfrm>
          <a:prstGeom prst="rect">
            <a:avLst/>
          </a:prstGeom>
          <a:noFill/>
        </p:spPr>
        <p:txBody>
          <a:bodyPr wrap="square" anchor="t" lIns="18288" rIns="18288" tIns="0" bIns="0">
            <a:spAutoFit/>
          </a:bodyPr>
          <a:lstStyle/>
          <a:p>
            <a:r>
              <a:rPr sz="1019" b="1">
                <a:solidFill>
                  <a:srgbClr val="EFF4F7"/>
                </a:solidFill>
                <a:latin typeface="Aptos"/>
              </a:rPr>
              <a:t>Command</a:t>
            </a:r>
          </a:p>
        </p:txBody>
      </p:sp>
      <p:sp>
        <p:nvSpPr>
          <p:cNvPr id="10" name="TextBox 9"/>
          <p:cNvSpPr txBox="1"/>
          <p:nvPr/>
        </p:nvSpPr>
        <p:spPr>
          <a:xfrm>
            <a:off x="2215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11" name="Rounded Rectangle 10"/>
          <p:cNvSpPr/>
          <p:nvPr/>
        </p:nvSpPr>
        <p:spPr>
          <a:xfrm>
            <a:off x="2407920" y="1280160"/>
            <a:ext cx="1648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07920" y="1280160"/>
            <a:ext cx="64008" cy="640080"/>
          </a:xfrm>
          <a:prstGeom prst="rect">
            <a:avLst/>
          </a:prstGeom>
          <a:solidFill>
            <a:srgbClr val="F4C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35936" y="1481328"/>
            <a:ext cx="1447800" cy="228600"/>
          </a:xfrm>
          <a:prstGeom prst="rect">
            <a:avLst/>
          </a:prstGeom>
          <a:noFill/>
        </p:spPr>
        <p:txBody>
          <a:bodyPr wrap="square" anchor="t" lIns="18288" rIns="18288" tIns="0" bIns="0">
            <a:spAutoFit/>
          </a:bodyPr>
          <a:lstStyle/>
          <a:p>
            <a:r>
              <a:rPr sz="1019" b="1">
                <a:solidFill>
                  <a:srgbClr val="EFF4F7"/>
                </a:solidFill>
                <a:latin typeface="Aptos"/>
              </a:rPr>
              <a:t>ExecuteText()</a:t>
            </a:r>
          </a:p>
        </p:txBody>
      </p:sp>
      <p:sp>
        <p:nvSpPr>
          <p:cNvPr id="14" name="TextBox 13"/>
          <p:cNvSpPr txBox="1"/>
          <p:nvPr/>
        </p:nvSpPr>
        <p:spPr>
          <a:xfrm>
            <a:off x="4120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15" name="Rounded Rectangle 14"/>
          <p:cNvSpPr/>
          <p:nvPr/>
        </p:nvSpPr>
        <p:spPr>
          <a:xfrm>
            <a:off x="4312920" y="1280160"/>
            <a:ext cx="1648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12920" y="1280160"/>
            <a:ext cx="64008" cy="640080"/>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40936" y="1481328"/>
            <a:ext cx="1447800" cy="228600"/>
          </a:xfrm>
          <a:prstGeom prst="rect">
            <a:avLst/>
          </a:prstGeom>
          <a:noFill/>
        </p:spPr>
        <p:txBody>
          <a:bodyPr wrap="square" anchor="t" lIns="18288" rIns="18288" tIns="0" bIns="0">
            <a:spAutoFit/>
          </a:bodyPr>
          <a:lstStyle/>
          <a:p>
            <a:r>
              <a:rPr sz="1019" b="1">
                <a:solidFill>
                  <a:srgbClr val="EFF4F7"/>
                </a:solidFill>
                <a:latin typeface="Aptos"/>
              </a:rPr>
              <a:t>Execute()</a:t>
            </a:r>
          </a:p>
        </p:txBody>
      </p:sp>
      <p:sp>
        <p:nvSpPr>
          <p:cNvPr id="18" name="TextBox 17"/>
          <p:cNvSpPr txBox="1"/>
          <p:nvPr/>
        </p:nvSpPr>
        <p:spPr>
          <a:xfrm>
            <a:off x="6025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19" name="Rounded Rectangle 18"/>
          <p:cNvSpPr/>
          <p:nvPr/>
        </p:nvSpPr>
        <p:spPr>
          <a:xfrm>
            <a:off x="6217920" y="1280160"/>
            <a:ext cx="1648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1280160"/>
            <a:ext cx="64008" cy="640080"/>
          </a:xfrm>
          <a:prstGeom prst="rect">
            <a:avLst/>
          </a:prstGeom>
          <a:solidFill>
            <a:srgbClr val="5EC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5936" y="1481328"/>
            <a:ext cx="1447800" cy="228600"/>
          </a:xfrm>
          <a:prstGeom prst="rect">
            <a:avLst/>
          </a:prstGeom>
          <a:noFill/>
        </p:spPr>
        <p:txBody>
          <a:bodyPr wrap="square" anchor="t" lIns="18288" rIns="18288" tIns="0" bIns="0">
            <a:spAutoFit/>
          </a:bodyPr>
          <a:lstStyle/>
          <a:p>
            <a:r>
              <a:rPr sz="1019" b="1">
                <a:solidFill>
                  <a:srgbClr val="EFF4F7"/>
                </a:solidFill>
                <a:latin typeface="Aptos"/>
              </a:rPr>
              <a:t>Set / Get / Delete</a:t>
            </a:r>
          </a:p>
        </p:txBody>
      </p:sp>
      <p:sp>
        <p:nvSpPr>
          <p:cNvPr id="22" name="TextBox 21"/>
          <p:cNvSpPr txBox="1"/>
          <p:nvPr/>
        </p:nvSpPr>
        <p:spPr>
          <a:xfrm>
            <a:off x="7930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23" name="Rounded Rectangle 22"/>
          <p:cNvSpPr/>
          <p:nvPr/>
        </p:nvSpPr>
        <p:spPr>
          <a:xfrm>
            <a:off x="8122920" y="1280160"/>
            <a:ext cx="1648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22920" y="1280160"/>
            <a:ext cx="64008" cy="640080"/>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50936" y="1481328"/>
            <a:ext cx="1447800" cy="228600"/>
          </a:xfrm>
          <a:prstGeom prst="rect">
            <a:avLst/>
          </a:prstGeom>
          <a:noFill/>
        </p:spPr>
        <p:txBody>
          <a:bodyPr wrap="square" anchor="t" lIns="18288" rIns="18288" tIns="0" bIns="0">
            <a:spAutoFit/>
          </a:bodyPr>
          <a:lstStyle/>
          <a:p>
            <a:r>
              <a:rPr sz="1019" b="1">
                <a:solidFill>
                  <a:srgbClr val="EFF4F7"/>
                </a:solidFill>
                <a:latin typeface="Aptos"/>
              </a:rPr>
              <a:t>state</a:t>
            </a:r>
          </a:p>
        </p:txBody>
      </p:sp>
      <p:sp>
        <p:nvSpPr>
          <p:cNvPr id="26" name="TextBox 25"/>
          <p:cNvSpPr txBox="1"/>
          <p:nvPr/>
        </p:nvSpPr>
        <p:spPr>
          <a:xfrm>
            <a:off x="9835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27" name="Rounded Rectangle 26"/>
          <p:cNvSpPr/>
          <p:nvPr/>
        </p:nvSpPr>
        <p:spPr>
          <a:xfrm>
            <a:off x="10027920" y="1280160"/>
            <a:ext cx="1648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027920" y="1280160"/>
            <a:ext cx="64008" cy="640080"/>
          </a:xfrm>
          <a:prstGeom prst="rect">
            <a:avLst/>
          </a:prstGeom>
          <a:solidFill>
            <a:srgbClr val="F05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155936" y="1481328"/>
            <a:ext cx="1447800" cy="228600"/>
          </a:xfrm>
          <a:prstGeom prst="rect">
            <a:avLst/>
          </a:prstGeom>
          <a:noFill/>
        </p:spPr>
        <p:txBody>
          <a:bodyPr wrap="square" anchor="t" lIns="18288" rIns="18288" tIns="0" bIns="0">
            <a:spAutoFit/>
          </a:bodyPr>
          <a:lstStyle/>
          <a:p>
            <a:r>
              <a:rPr sz="1019" b="1">
                <a:solidFill>
                  <a:srgbClr val="EFF4F7"/>
                </a:solidFill>
                <a:latin typeface="Aptos"/>
              </a:rPr>
              <a:t>buffer</a:t>
            </a:r>
          </a:p>
        </p:txBody>
      </p:sp>
      <p:sp>
        <p:nvSpPr>
          <p:cNvPr id="30" name="Rounded Rectangle 29"/>
          <p:cNvSpPr/>
          <p:nvPr/>
        </p:nvSpPr>
        <p:spPr>
          <a:xfrm>
            <a:off x="502920" y="2157984"/>
            <a:ext cx="4133087" cy="3383280"/>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8952" y="2340864"/>
            <a:ext cx="3621023" cy="219456"/>
          </a:xfrm>
          <a:prstGeom prst="rect">
            <a:avLst/>
          </a:prstGeom>
          <a:noFill/>
        </p:spPr>
        <p:txBody>
          <a:bodyPr wrap="square" anchor="t" lIns="18288" rIns="18288" tIns="0" bIns="0">
            <a:spAutoFit/>
          </a:bodyPr>
          <a:lstStyle/>
          <a:p>
            <a:r>
              <a:rPr sz="950" b="1">
                <a:solidFill>
                  <a:srgbClr val="2DC1B7"/>
                </a:solidFill>
                <a:latin typeface="Aptos"/>
              </a:rPr>
              <a:t>internal/redis/engine.go:13-20</a:t>
            </a:r>
          </a:p>
        </p:txBody>
      </p:sp>
      <p:sp>
        <p:nvSpPr>
          <p:cNvPr id="32" name="TextBox 31"/>
          <p:cNvSpPr txBox="1"/>
          <p:nvPr/>
        </p:nvSpPr>
        <p:spPr>
          <a:xfrm>
            <a:off x="777240" y="2724912"/>
            <a:ext cx="3584447" cy="2633472"/>
          </a:xfrm>
          <a:prstGeom prst="rect">
            <a:avLst/>
          </a:prstGeom>
          <a:noFill/>
        </p:spPr>
        <p:txBody>
          <a:bodyPr wrap="square" anchor="t" lIns="18288" rIns="18288" tIns="0" bIns="0">
            <a:spAutoFit/>
          </a:bodyPr>
          <a:lstStyle/>
          <a:p>
            <a:r>
              <a:rPr sz="850" b="0">
                <a:solidFill>
                  <a:srgbClr val="EFF4F7"/>
                </a:solidFill>
                <a:latin typeface="Courier New"/>
              </a:rPr>
              <a:t>13  type Engine struct {
14      mu                sync.RWMutex
15      batchMu           sync.Mutex
16      bufferMu          sync.Mutex
17      state             Snapshot
18      buffer            []Operation
19      equalsIndex       map[string]map[string]struct{}
20      numberIndex       *BTree</a:t>
            </a:r>
          </a:p>
        </p:txBody>
      </p:sp>
      <p:sp>
        <p:nvSpPr>
          <p:cNvPr id="33" name="Rounded Rectangle 32"/>
          <p:cNvSpPr/>
          <p:nvPr/>
        </p:nvSpPr>
        <p:spPr>
          <a:xfrm>
            <a:off x="4846320" y="2157984"/>
            <a:ext cx="6830568" cy="3383280"/>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02352" y="2340864"/>
            <a:ext cx="6318504" cy="219456"/>
          </a:xfrm>
          <a:prstGeom prst="rect">
            <a:avLst/>
          </a:prstGeom>
          <a:noFill/>
        </p:spPr>
        <p:txBody>
          <a:bodyPr wrap="square" anchor="t" lIns="18288" rIns="18288" tIns="0" bIns="0">
            <a:spAutoFit/>
          </a:bodyPr>
          <a:lstStyle/>
          <a:p>
            <a:r>
              <a:rPr sz="950" b="1">
                <a:solidFill>
                  <a:srgbClr val="2DC1B7"/>
                </a:solidFill>
                <a:latin typeface="Aptos"/>
              </a:rPr>
              <a:t>internal/redis/engine.go:166-179</a:t>
            </a:r>
          </a:p>
        </p:txBody>
      </p:sp>
      <p:sp>
        <p:nvSpPr>
          <p:cNvPr id="35" name="TextBox 34"/>
          <p:cNvSpPr txBox="1"/>
          <p:nvPr/>
        </p:nvSpPr>
        <p:spPr>
          <a:xfrm>
            <a:off x="5120640" y="2724912"/>
            <a:ext cx="6281928" cy="2633472"/>
          </a:xfrm>
          <a:prstGeom prst="rect">
            <a:avLst/>
          </a:prstGeom>
          <a:noFill/>
        </p:spPr>
        <p:txBody>
          <a:bodyPr wrap="square" anchor="t" lIns="18288" rIns="18288" tIns="0" bIns="0">
            <a:spAutoFit/>
          </a:bodyPr>
          <a:lstStyle/>
          <a:p>
            <a:r>
              <a:rPr sz="1084" b="0">
                <a:solidFill>
                  <a:srgbClr val="EFF4F7"/>
                </a:solidFill>
                <a:latin typeface="Courier New"/>
              </a:rPr>
              <a:t>166  func (engine *Engine) ExecuteText(input string) (Result, []Operation) {
167      command, err := ParseCommand(input)
168      if err != nil {
169          return Result{OK: false, Error: err.Error()}, nil
170      }
171  
172      return engine.Execute(command)
173  }
174  
175  func (engine *Engine) Execute(command Command) (Result, []Operation) {
176      result, writes := engine.execute(command)
177      engine.appendToBuffer(writes)
178      return result, writes
179  }</a:t>
            </a:r>
          </a:p>
        </p:txBody>
      </p:sp>
      <p:sp>
        <p:nvSpPr>
          <p:cNvPr id="36" name="Rectangle 35"/>
          <p:cNvSpPr/>
          <p:nvPr/>
        </p:nvSpPr>
        <p:spPr>
          <a:xfrm>
            <a:off x="530352" y="5870448"/>
            <a:ext cx="73152" cy="438912"/>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13232" y="5852160"/>
            <a:ext cx="5440680" cy="438912"/>
          </a:xfrm>
          <a:prstGeom prst="rect">
            <a:avLst/>
          </a:prstGeom>
          <a:noFill/>
        </p:spPr>
        <p:txBody>
          <a:bodyPr wrap="square" anchor="t" lIns="18288" rIns="18288" tIns="0" bIns="0">
            <a:spAutoFit/>
          </a:bodyPr>
          <a:lstStyle/>
          <a:p>
            <a:r>
              <a:rPr sz="1150" b="1">
                <a:solidFill>
                  <a:srgbClr val="EFF4F7"/>
                </a:solidFill>
                <a:latin typeface="Aptos"/>
              </a:rPr>
              <a:t>Set, Get et Delete travaillent sur state.</a:t>
            </a:r>
          </a:p>
        </p:txBody>
      </p:sp>
      <p:sp>
        <p:nvSpPr>
          <p:cNvPr id="38" name="Rectangle 37"/>
          <p:cNvSpPr/>
          <p:nvPr/>
        </p:nvSpPr>
        <p:spPr>
          <a:xfrm>
            <a:off x="6181344" y="5870448"/>
            <a:ext cx="73152" cy="438912"/>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64224" y="5852160"/>
            <a:ext cx="5440680" cy="438912"/>
          </a:xfrm>
          <a:prstGeom prst="rect">
            <a:avLst/>
          </a:prstGeom>
          <a:noFill/>
        </p:spPr>
        <p:txBody>
          <a:bodyPr wrap="square" anchor="t" lIns="18288" rIns="18288" tIns="0" bIns="0">
            <a:spAutoFit/>
          </a:bodyPr>
          <a:lstStyle/>
          <a:p>
            <a:r>
              <a:rPr sz="1150" b="1">
                <a:solidFill>
                  <a:srgbClr val="EFF4F7"/>
                </a:solidFill>
                <a:latin typeface="Aptos"/>
              </a:rPr>
              <a:t>Execute ajoute seulement les ecritures au buffer.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384048"/>
          </a:xfrm>
          <a:prstGeom prst="rect">
            <a:avLst/>
          </a:prstGeom>
          <a:noFill/>
        </p:spPr>
        <p:txBody>
          <a:bodyPr wrap="square" anchor="t" lIns="18288" rIns="18288" tIns="0" bIns="0">
            <a:spAutoFit/>
          </a:bodyPr>
          <a:lstStyle/>
          <a:p>
            <a:r>
              <a:rPr sz="2500" b="1">
                <a:solidFill>
                  <a:srgbClr val="EFF4F7"/>
                </a:solidFill>
                <a:latin typeface="Aptos"/>
              </a:rPr>
              <a:t>Du buffer au restore</a:t>
            </a:r>
          </a:p>
        </p:txBody>
      </p:sp>
      <p:sp>
        <p:nvSpPr>
          <p:cNvPr id="4" name="TextBox 3"/>
          <p:cNvSpPr txBox="1"/>
          <p:nvPr/>
        </p:nvSpPr>
        <p:spPr>
          <a:xfrm>
            <a:off x="521207" y="704088"/>
            <a:ext cx="9875520" cy="256032"/>
          </a:xfrm>
          <a:prstGeom prst="rect">
            <a:avLst/>
          </a:prstGeom>
          <a:noFill/>
        </p:spPr>
        <p:txBody>
          <a:bodyPr wrap="square" anchor="t" lIns="18288" rIns="18288" tIns="0" bIns="0">
            <a:spAutoFit/>
          </a:bodyPr>
          <a:lstStyle/>
          <a:p>
            <a:r>
              <a:rPr sz="1150" b="0">
                <a:solidFill>
                  <a:srgbClr val="99A9B7"/>
                </a:solidFill>
                <a:latin typeface="Aptos"/>
              </a:rPr>
              <a:t>AOF pour le journal, snapshot pour la photo complete</a:t>
            </a:r>
          </a:p>
        </p:txBody>
      </p:sp>
      <p:sp>
        <p:nvSpPr>
          <p:cNvPr id="5" name="Rectangle 4"/>
          <p:cNvSpPr/>
          <p:nvPr/>
        </p:nvSpPr>
        <p:spPr>
          <a:xfrm>
            <a:off x="512064" y="1005840"/>
            <a:ext cx="1078992" cy="45720"/>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840" y="320040"/>
            <a:ext cx="365760" cy="228600"/>
          </a:xfrm>
          <a:prstGeom prst="rect">
            <a:avLst/>
          </a:prstGeom>
          <a:noFill/>
        </p:spPr>
        <p:txBody>
          <a:bodyPr wrap="square" anchor="t" lIns="18288" rIns="18288" tIns="0" bIns="0">
            <a:spAutoFit/>
          </a:bodyPr>
          <a:lstStyle/>
          <a:p>
            <a:r>
              <a:rPr sz="1000" b="1">
                <a:solidFill>
                  <a:srgbClr val="99A9B7"/>
                </a:solidFill>
                <a:latin typeface="Aptos"/>
              </a:rPr>
              <a:t>05</a:t>
            </a:r>
          </a:p>
        </p:txBody>
      </p:sp>
      <p:sp>
        <p:nvSpPr>
          <p:cNvPr id="7" name="Rounded Rectangle 6"/>
          <p:cNvSpPr/>
          <p:nvPr/>
        </p:nvSpPr>
        <p:spPr>
          <a:xfrm>
            <a:off x="502920" y="1280160"/>
            <a:ext cx="2029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280160"/>
            <a:ext cx="64008" cy="640080"/>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 y="1481328"/>
            <a:ext cx="1828800" cy="228600"/>
          </a:xfrm>
          <a:prstGeom prst="rect">
            <a:avLst/>
          </a:prstGeom>
          <a:noFill/>
        </p:spPr>
        <p:txBody>
          <a:bodyPr wrap="square" anchor="t" lIns="18288" rIns="18288" tIns="0" bIns="0">
            <a:spAutoFit/>
          </a:bodyPr>
          <a:lstStyle/>
          <a:p>
            <a:r>
              <a:rPr sz="1019" b="1">
                <a:solidFill>
                  <a:srgbClr val="EFF4F7"/>
                </a:solidFill>
                <a:latin typeface="Aptos"/>
              </a:rPr>
              <a:t>state</a:t>
            </a:r>
          </a:p>
        </p:txBody>
      </p:sp>
      <p:sp>
        <p:nvSpPr>
          <p:cNvPr id="10" name="TextBox 9"/>
          <p:cNvSpPr txBox="1"/>
          <p:nvPr/>
        </p:nvSpPr>
        <p:spPr>
          <a:xfrm>
            <a:off x="2596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11" name="Rounded Rectangle 10"/>
          <p:cNvSpPr/>
          <p:nvPr/>
        </p:nvSpPr>
        <p:spPr>
          <a:xfrm>
            <a:off x="2788920" y="1280160"/>
            <a:ext cx="2029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88920" y="1280160"/>
            <a:ext cx="64008" cy="640080"/>
          </a:xfrm>
          <a:prstGeom prst="rect">
            <a:avLst/>
          </a:prstGeom>
          <a:solidFill>
            <a:srgbClr val="F4C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16936" y="1481328"/>
            <a:ext cx="1828800" cy="228600"/>
          </a:xfrm>
          <a:prstGeom prst="rect">
            <a:avLst/>
          </a:prstGeom>
          <a:noFill/>
        </p:spPr>
        <p:txBody>
          <a:bodyPr wrap="square" anchor="t" lIns="18288" rIns="18288" tIns="0" bIns="0">
            <a:spAutoFit/>
          </a:bodyPr>
          <a:lstStyle/>
          <a:p>
            <a:r>
              <a:rPr sz="1019" b="1">
                <a:solidFill>
                  <a:srgbClr val="EFF4F7"/>
                </a:solidFill>
                <a:latin typeface="Aptos"/>
              </a:rPr>
              <a:t>buffer Go</a:t>
            </a:r>
          </a:p>
        </p:txBody>
      </p:sp>
      <p:sp>
        <p:nvSpPr>
          <p:cNvPr id="14" name="TextBox 13"/>
          <p:cNvSpPr txBox="1"/>
          <p:nvPr/>
        </p:nvSpPr>
        <p:spPr>
          <a:xfrm>
            <a:off x="4882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15" name="Rounded Rectangle 14"/>
          <p:cNvSpPr/>
          <p:nvPr/>
        </p:nvSpPr>
        <p:spPr>
          <a:xfrm>
            <a:off x="5074920" y="1280160"/>
            <a:ext cx="2029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74920" y="1280160"/>
            <a:ext cx="64008" cy="640080"/>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02936" y="1481328"/>
            <a:ext cx="1828800" cy="228600"/>
          </a:xfrm>
          <a:prstGeom prst="rect">
            <a:avLst/>
          </a:prstGeom>
          <a:noFill/>
        </p:spPr>
        <p:txBody>
          <a:bodyPr wrap="square" anchor="t" lIns="18288" rIns="18288" tIns="0" bIns="0">
            <a:spAutoFit/>
          </a:bodyPr>
          <a:lstStyle/>
          <a:p>
            <a:r>
              <a:rPr sz="1019" b="1">
                <a:solidFill>
                  <a:srgbClr val="EFF4F7"/>
                </a:solidFill>
                <a:latin typeface="Aptos"/>
              </a:rPr>
              <a:t>AOF</a:t>
            </a:r>
          </a:p>
        </p:txBody>
      </p:sp>
      <p:sp>
        <p:nvSpPr>
          <p:cNvPr id="18" name="TextBox 17"/>
          <p:cNvSpPr txBox="1"/>
          <p:nvPr/>
        </p:nvSpPr>
        <p:spPr>
          <a:xfrm>
            <a:off x="7168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19" name="Rounded Rectangle 18"/>
          <p:cNvSpPr/>
          <p:nvPr/>
        </p:nvSpPr>
        <p:spPr>
          <a:xfrm>
            <a:off x="7360920" y="1280160"/>
            <a:ext cx="2029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60920" y="1280160"/>
            <a:ext cx="64008" cy="640080"/>
          </a:xfrm>
          <a:prstGeom prst="rect">
            <a:avLst/>
          </a:prstGeom>
          <a:solidFill>
            <a:srgbClr val="F05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88936" y="1481328"/>
            <a:ext cx="1828800" cy="228600"/>
          </a:xfrm>
          <a:prstGeom prst="rect">
            <a:avLst/>
          </a:prstGeom>
          <a:noFill/>
        </p:spPr>
        <p:txBody>
          <a:bodyPr wrap="square" anchor="t" lIns="18288" rIns="18288" tIns="0" bIns="0">
            <a:spAutoFit/>
          </a:bodyPr>
          <a:lstStyle/>
          <a:p>
            <a:r>
              <a:rPr sz="1019" b="1">
                <a:solidFill>
                  <a:srgbClr val="EFF4F7"/>
                </a:solidFill>
                <a:latin typeface="Aptos"/>
              </a:rPr>
              <a:t>snapshot</a:t>
            </a:r>
          </a:p>
        </p:txBody>
      </p:sp>
      <p:sp>
        <p:nvSpPr>
          <p:cNvPr id="22" name="TextBox 21"/>
          <p:cNvSpPr txBox="1"/>
          <p:nvPr/>
        </p:nvSpPr>
        <p:spPr>
          <a:xfrm>
            <a:off x="9454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23" name="Rounded Rectangle 22"/>
          <p:cNvSpPr/>
          <p:nvPr/>
        </p:nvSpPr>
        <p:spPr>
          <a:xfrm>
            <a:off x="9646920" y="1280160"/>
            <a:ext cx="2029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46920" y="1280160"/>
            <a:ext cx="64008" cy="640080"/>
          </a:xfrm>
          <a:prstGeom prst="rect">
            <a:avLst/>
          </a:prstGeom>
          <a:solidFill>
            <a:srgbClr val="5EC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74936" y="1481328"/>
            <a:ext cx="1828800" cy="228600"/>
          </a:xfrm>
          <a:prstGeom prst="rect">
            <a:avLst/>
          </a:prstGeom>
          <a:noFill/>
        </p:spPr>
        <p:txBody>
          <a:bodyPr wrap="square" anchor="t" lIns="18288" rIns="18288" tIns="0" bIns="0">
            <a:spAutoFit/>
          </a:bodyPr>
          <a:lstStyle/>
          <a:p>
            <a:r>
              <a:rPr sz="1019" b="1">
                <a:solidFill>
                  <a:srgbClr val="EFF4F7"/>
                </a:solidFill>
                <a:latin typeface="Aptos"/>
              </a:rPr>
              <a:t>restore</a:t>
            </a:r>
          </a:p>
        </p:txBody>
      </p:sp>
      <p:sp>
        <p:nvSpPr>
          <p:cNvPr id="26" name="Rounded Rectangle 25"/>
          <p:cNvSpPr/>
          <p:nvPr/>
        </p:nvSpPr>
        <p:spPr>
          <a:xfrm>
            <a:off x="502920" y="2157984"/>
            <a:ext cx="5074920" cy="3383280"/>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8952" y="2340864"/>
            <a:ext cx="4562856" cy="219456"/>
          </a:xfrm>
          <a:prstGeom prst="rect">
            <a:avLst/>
          </a:prstGeom>
          <a:noFill/>
        </p:spPr>
        <p:txBody>
          <a:bodyPr wrap="square" anchor="t" lIns="18288" rIns="18288" tIns="0" bIns="0">
            <a:spAutoFit/>
          </a:bodyPr>
          <a:lstStyle/>
          <a:p>
            <a:r>
              <a:rPr sz="950" b="1">
                <a:solidFill>
                  <a:srgbClr val="2DC1B7"/>
                </a:solidFill>
                <a:latin typeface="Aptos"/>
              </a:rPr>
              <a:t>internal/redis/engine.go:230-238</a:t>
            </a:r>
          </a:p>
        </p:txBody>
      </p:sp>
      <p:sp>
        <p:nvSpPr>
          <p:cNvPr id="28" name="TextBox 27"/>
          <p:cNvSpPr txBox="1"/>
          <p:nvPr/>
        </p:nvSpPr>
        <p:spPr>
          <a:xfrm>
            <a:off x="777240" y="2724912"/>
            <a:ext cx="4526280" cy="2633472"/>
          </a:xfrm>
          <a:prstGeom prst="rect">
            <a:avLst/>
          </a:prstGeom>
          <a:noFill/>
        </p:spPr>
        <p:txBody>
          <a:bodyPr wrap="square" anchor="t" lIns="18288" rIns="18288" tIns="0" bIns="0">
            <a:spAutoFit/>
          </a:bodyPr>
          <a:lstStyle/>
          <a:p>
            <a:r>
              <a:rPr sz="1060" b="0">
                <a:solidFill>
                  <a:srgbClr val="EFF4F7"/>
                </a:solidFill>
                <a:latin typeface="Courier New"/>
              </a:rPr>
              <a:t>230  func (engine *Engine) DrainBuffer() []Operation {
231      engine.bufferMu.Lock()
232      defer engine.bufferMu.Unlock()
233  
234      writes := make([]Operation, len(engine.buffer))
235      copy(writes, engine.buffer)
236      engine.buffer = engine.buffer[:0]
237      return writes
238  }</a:t>
            </a:r>
          </a:p>
        </p:txBody>
      </p:sp>
      <p:sp>
        <p:nvSpPr>
          <p:cNvPr id="29" name="Rounded Rectangle 28"/>
          <p:cNvSpPr/>
          <p:nvPr/>
        </p:nvSpPr>
        <p:spPr>
          <a:xfrm>
            <a:off x="5797296" y="2157984"/>
            <a:ext cx="5879592" cy="3383280"/>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53328" y="2340864"/>
            <a:ext cx="5367528" cy="219456"/>
          </a:xfrm>
          <a:prstGeom prst="rect">
            <a:avLst/>
          </a:prstGeom>
          <a:noFill/>
        </p:spPr>
        <p:txBody>
          <a:bodyPr wrap="square" anchor="t" lIns="18288" rIns="18288" tIns="0" bIns="0">
            <a:spAutoFit/>
          </a:bodyPr>
          <a:lstStyle/>
          <a:p>
            <a:r>
              <a:rPr sz="950" b="1">
                <a:solidFill>
                  <a:srgbClr val="2DC1B7"/>
                </a:solidFill>
                <a:latin typeface="Aptos"/>
              </a:rPr>
              <a:t>web/src/worker/wasmRedis.worker.ts:356-367</a:t>
            </a:r>
          </a:p>
        </p:txBody>
      </p:sp>
      <p:sp>
        <p:nvSpPr>
          <p:cNvPr id="31" name="TextBox 30"/>
          <p:cNvSpPr txBox="1"/>
          <p:nvPr/>
        </p:nvSpPr>
        <p:spPr>
          <a:xfrm>
            <a:off x="6071616" y="2724912"/>
            <a:ext cx="5330952" cy="2633472"/>
          </a:xfrm>
          <a:prstGeom prst="rect">
            <a:avLst/>
          </a:prstGeom>
          <a:noFill/>
        </p:spPr>
        <p:txBody>
          <a:bodyPr wrap="square" anchor="t" lIns="18288" rIns="18288" tIns="0" bIns="0">
            <a:spAutoFit/>
          </a:bodyPr>
          <a:lstStyle/>
          <a:p>
            <a:r>
              <a:rPr sz="1060" b="0">
                <a:solidFill>
                  <a:srgbClr val="EFF4F7"/>
                </a:solidFill>
                <a:latin typeface="Courier New"/>
              </a:rPr>
              <a:t>356  function saveSnapshot(): Promise&lt;void&gt; {
357    if (!scope.wasmRedisDumpSnapshot) {
358      return Promise.resolve();
359    }
360  
361    return withStorageLock(async () =&gt; {
362      await writePendingAof();
363      const snapshot = scope.wasmRedisDumpSnapshot?.() ?? "{}";
364      await writeOpfsText(snapshotFileName, snapshot);
365      await writeOpfsText(aofFileName, "");
366    });
367  }</a:t>
            </a:r>
          </a:p>
        </p:txBody>
      </p:sp>
      <p:sp>
        <p:nvSpPr>
          <p:cNvPr id="32" name="Rectangle 31"/>
          <p:cNvSpPr/>
          <p:nvPr/>
        </p:nvSpPr>
        <p:spPr>
          <a:xfrm>
            <a:off x="530352" y="5870448"/>
            <a:ext cx="73152" cy="438912"/>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3232" y="5852160"/>
            <a:ext cx="5440680" cy="438912"/>
          </a:xfrm>
          <a:prstGeom prst="rect">
            <a:avLst/>
          </a:prstGeom>
          <a:noFill/>
        </p:spPr>
        <p:txBody>
          <a:bodyPr wrap="square" anchor="t" lIns="18288" rIns="18288" tIns="0" bIns="0">
            <a:spAutoFit/>
          </a:bodyPr>
          <a:lstStyle/>
          <a:p>
            <a:r>
              <a:rPr sz="1150" b="1">
                <a:solidFill>
                  <a:srgbClr val="EFF4F7"/>
                </a:solidFill>
                <a:latin typeface="Aptos"/>
              </a:rPr>
              <a:t>DrainBuffer remet la file Go a zero sous mutex.</a:t>
            </a:r>
          </a:p>
        </p:txBody>
      </p:sp>
      <p:sp>
        <p:nvSpPr>
          <p:cNvPr id="34" name="Rectangle 33"/>
          <p:cNvSpPr/>
          <p:nvPr/>
        </p:nvSpPr>
        <p:spPr>
          <a:xfrm>
            <a:off x="6181344" y="5870448"/>
            <a:ext cx="73152" cy="438912"/>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64224" y="5852160"/>
            <a:ext cx="5440680" cy="438912"/>
          </a:xfrm>
          <a:prstGeom prst="rect">
            <a:avLst/>
          </a:prstGeom>
          <a:noFill/>
        </p:spPr>
        <p:txBody>
          <a:bodyPr wrap="square" anchor="t" lIns="18288" rIns="18288" tIns="0" bIns="0">
            <a:spAutoFit/>
          </a:bodyPr>
          <a:lstStyle/>
          <a:p>
            <a:r>
              <a:rPr sz="1150" b="1">
                <a:solidFill>
                  <a:srgbClr val="EFF4F7"/>
                </a:solidFill>
                <a:latin typeface="Aptos"/>
              </a:rPr>
              <a:t>saveSnapshot ecrit le state puis compacte l'AOF.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384048"/>
          </a:xfrm>
          <a:prstGeom prst="rect">
            <a:avLst/>
          </a:prstGeom>
          <a:noFill/>
        </p:spPr>
        <p:txBody>
          <a:bodyPr wrap="square" anchor="t" lIns="18288" rIns="18288" tIns="0" bIns="0">
            <a:spAutoFit/>
          </a:bodyPr>
          <a:lstStyle/>
          <a:p>
            <a:r>
              <a:rPr sz="2500" b="1">
                <a:solidFill>
                  <a:srgbClr val="EFF4F7"/>
                </a:solidFill>
                <a:latin typeface="Aptos"/>
              </a:rPr>
              <a:t>Les plages passent par le B-Tree</a:t>
            </a:r>
          </a:p>
        </p:txBody>
      </p:sp>
      <p:sp>
        <p:nvSpPr>
          <p:cNvPr id="4" name="TextBox 3"/>
          <p:cNvSpPr txBox="1"/>
          <p:nvPr/>
        </p:nvSpPr>
        <p:spPr>
          <a:xfrm>
            <a:off x="521207" y="704088"/>
            <a:ext cx="9875520" cy="256032"/>
          </a:xfrm>
          <a:prstGeom prst="rect">
            <a:avLst/>
          </a:prstGeom>
          <a:noFill/>
        </p:spPr>
        <p:txBody>
          <a:bodyPr wrap="square" anchor="t" lIns="18288" rIns="18288" tIns="0" bIns="0">
            <a:spAutoFit/>
          </a:bodyPr>
          <a:lstStyle/>
          <a:p>
            <a:r>
              <a:rPr sz="1150" b="0">
                <a:solidFill>
                  <a:srgbClr val="99A9B7"/>
                </a:solidFill>
                <a:latin typeface="Aptos"/>
              </a:rPr>
              <a:t>Le parcours s'arrete des que la limite est depassee</a:t>
            </a:r>
          </a:p>
        </p:txBody>
      </p:sp>
      <p:sp>
        <p:nvSpPr>
          <p:cNvPr id="5" name="Rectangle 4"/>
          <p:cNvSpPr/>
          <p:nvPr/>
        </p:nvSpPr>
        <p:spPr>
          <a:xfrm>
            <a:off x="512064" y="1005840"/>
            <a:ext cx="1078992" cy="45720"/>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840" y="320040"/>
            <a:ext cx="365760" cy="228600"/>
          </a:xfrm>
          <a:prstGeom prst="rect">
            <a:avLst/>
          </a:prstGeom>
          <a:noFill/>
        </p:spPr>
        <p:txBody>
          <a:bodyPr wrap="square" anchor="t" lIns="18288" rIns="18288" tIns="0" bIns="0">
            <a:spAutoFit/>
          </a:bodyPr>
          <a:lstStyle/>
          <a:p>
            <a:r>
              <a:rPr sz="1000" b="1">
                <a:solidFill>
                  <a:srgbClr val="99A9B7"/>
                </a:solidFill>
                <a:latin typeface="Aptos"/>
              </a:rPr>
              <a:t>06</a:t>
            </a:r>
          </a:p>
        </p:txBody>
      </p:sp>
      <p:sp>
        <p:nvSpPr>
          <p:cNvPr id="7" name="Rounded Rectangle 6"/>
          <p:cNvSpPr/>
          <p:nvPr/>
        </p:nvSpPr>
        <p:spPr>
          <a:xfrm>
            <a:off x="502920" y="1298448"/>
            <a:ext cx="11173968" cy="4297680"/>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1481328"/>
            <a:ext cx="10661904" cy="219456"/>
          </a:xfrm>
          <a:prstGeom prst="rect">
            <a:avLst/>
          </a:prstGeom>
          <a:noFill/>
        </p:spPr>
        <p:txBody>
          <a:bodyPr wrap="square" anchor="t" lIns="18288" rIns="18288" tIns="0" bIns="0">
            <a:spAutoFit/>
          </a:bodyPr>
          <a:lstStyle/>
          <a:p>
            <a:r>
              <a:rPr sz="950" b="1">
                <a:solidFill>
                  <a:srgbClr val="2DC1B7"/>
                </a:solidFill>
                <a:latin typeface="Aptos"/>
              </a:rPr>
              <a:t>internal/redis/btree.go:95-103</a:t>
            </a:r>
          </a:p>
        </p:txBody>
      </p:sp>
      <p:sp>
        <p:nvSpPr>
          <p:cNvPr id="9" name="TextBox 8"/>
          <p:cNvSpPr txBox="1"/>
          <p:nvPr/>
        </p:nvSpPr>
        <p:spPr>
          <a:xfrm>
            <a:off x="777240" y="1865376"/>
            <a:ext cx="10625328" cy="3547872"/>
          </a:xfrm>
          <a:prstGeom prst="rect">
            <a:avLst/>
          </a:prstGeom>
          <a:noFill/>
        </p:spPr>
        <p:txBody>
          <a:bodyPr wrap="square" anchor="t" lIns="18288" rIns="18288" tIns="0" bIns="0">
            <a:spAutoFit/>
          </a:bodyPr>
          <a:lstStyle/>
          <a:p>
            <a:r>
              <a:rPr sz="1500" b="0">
                <a:solidFill>
                  <a:srgbClr val="EFF4F7"/>
                </a:solidFill>
                <a:latin typeface="Courier New"/>
              </a:rPr>
              <a:t> 95      if operator == OperatorLessThan || operator == OperatorLessOrEqual {
 96          tree.walkAscending(tree.root, func(item BTreeItem) bool {
 97              if !matchesRange(item.Value, operator, target) {
 98                  return false
 99              }
100              items = append(items, item)
101              return true
102          })
103          return items</a:t>
            </a:r>
          </a:p>
        </p:txBody>
      </p:sp>
      <p:sp>
        <p:nvSpPr>
          <p:cNvPr id="10" name="Rectangle 9"/>
          <p:cNvSpPr/>
          <p:nvPr/>
        </p:nvSpPr>
        <p:spPr>
          <a:xfrm>
            <a:off x="530352" y="5870448"/>
            <a:ext cx="73152" cy="438912"/>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5852160"/>
            <a:ext cx="5440680" cy="438912"/>
          </a:xfrm>
          <a:prstGeom prst="rect">
            <a:avLst/>
          </a:prstGeom>
          <a:noFill/>
        </p:spPr>
        <p:txBody>
          <a:bodyPr wrap="square" anchor="t" lIns="18288" rIns="18288" tIns="0" bIns="0">
            <a:spAutoFit/>
          </a:bodyPr>
          <a:lstStyle/>
          <a:p>
            <a:r>
              <a:rPr sz="1150" b="1">
                <a:solidFill>
                  <a:srgbClr val="EFF4F7"/>
                </a:solidFill>
                <a:latin typeface="Aptos"/>
              </a:rPr>
              <a:t>equals utilise un index inverse ; contains assume un scan.</a:t>
            </a:r>
          </a:p>
        </p:txBody>
      </p:sp>
      <p:sp>
        <p:nvSpPr>
          <p:cNvPr id="12" name="Rectangle 11"/>
          <p:cNvSpPr/>
          <p:nvPr/>
        </p:nvSpPr>
        <p:spPr>
          <a:xfrm>
            <a:off x="6181344" y="5870448"/>
            <a:ext cx="73152" cy="438912"/>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64224" y="5852160"/>
            <a:ext cx="5440680" cy="438912"/>
          </a:xfrm>
          <a:prstGeom prst="rect">
            <a:avLst/>
          </a:prstGeom>
          <a:noFill/>
        </p:spPr>
        <p:txBody>
          <a:bodyPr wrap="square" anchor="t" lIns="18288" rIns="18288" tIns="0" bIns="0">
            <a:spAutoFit/>
          </a:bodyPr>
          <a:lstStyle/>
          <a:p>
            <a:r>
              <a:rPr sz="1150" b="1">
                <a:solidFill>
                  <a:srgbClr val="EFF4F7"/>
                </a:solidFill>
                <a:latin typeface="Aptos"/>
              </a:rPr>
              <a:t>Une plage selective reste a environ 0,3 us jusqu'a 10 000 entrees.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384048"/>
          </a:xfrm>
          <a:prstGeom prst="rect">
            <a:avLst/>
          </a:prstGeom>
          <a:noFill/>
        </p:spPr>
        <p:txBody>
          <a:bodyPr wrap="square" anchor="t" lIns="18288" rIns="18288" tIns="0" bIns="0">
            <a:spAutoFit/>
          </a:bodyPr>
          <a:lstStyle/>
          <a:p>
            <a:r>
              <a:rPr sz="2500" b="1">
                <a:solidFill>
                  <a:srgbClr val="EFF4F7"/>
                </a:solidFill>
                <a:latin typeface="Aptos"/>
              </a:rPr>
              <a:t>Le TTL supprime vraiment la cle</a:t>
            </a:r>
          </a:p>
        </p:txBody>
      </p:sp>
      <p:sp>
        <p:nvSpPr>
          <p:cNvPr id="4" name="TextBox 3"/>
          <p:cNvSpPr txBox="1"/>
          <p:nvPr/>
        </p:nvSpPr>
        <p:spPr>
          <a:xfrm>
            <a:off x="521207" y="704088"/>
            <a:ext cx="9875520" cy="256032"/>
          </a:xfrm>
          <a:prstGeom prst="rect">
            <a:avLst/>
          </a:prstGeom>
          <a:noFill/>
        </p:spPr>
        <p:txBody>
          <a:bodyPr wrap="square" anchor="t" lIns="18288" rIns="18288" tIns="0" bIns="0">
            <a:spAutoFit/>
          </a:bodyPr>
          <a:lstStyle/>
          <a:p>
            <a:r>
              <a:rPr sz="1150" b="0">
                <a:solidFill>
                  <a:srgbClr val="99A9B7"/>
                </a:solidFill>
                <a:latin typeface="Aptos"/>
              </a:rPr>
              <a:t>State, index et AOF restent coherents</a:t>
            </a:r>
          </a:p>
        </p:txBody>
      </p:sp>
      <p:sp>
        <p:nvSpPr>
          <p:cNvPr id="5" name="Rectangle 4"/>
          <p:cNvSpPr/>
          <p:nvPr/>
        </p:nvSpPr>
        <p:spPr>
          <a:xfrm>
            <a:off x="512064" y="1005840"/>
            <a:ext cx="1078992" cy="45720"/>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840" y="320040"/>
            <a:ext cx="365760" cy="228600"/>
          </a:xfrm>
          <a:prstGeom prst="rect">
            <a:avLst/>
          </a:prstGeom>
          <a:noFill/>
        </p:spPr>
        <p:txBody>
          <a:bodyPr wrap="square" anchor="t" lIns="18288" rIns="18288" tIns="0" bIns="0">
            <a:spAutoFit/>
          </a:bodyPr>
          <a:lstStyle/>
          <a:p>
            <a:r>
              <a:rPr sz="1000" b="1">
                <a:solidFill>
                  <a:srgbClr val="99A9B7"/>
                </a:solidFill>
                <a:latin typeface="Aptos"/>
              </a:rPr>
              <a:t>07</a:t>
            </a:r>
          </a:p>
        </p:txBody>
      </p:sp>
      <p:sp>
        <p:nvSpPr>
          <p:cNvPr id="7" name="Rounded Rectangle 6"/>
          <p:cNvSpPr/>
          <p:nvPr/>
        </p:nvSpPr>
        <p:spPr>
          <a:xfrm>
            <a:off x="502920" y="1298448"/>
            <a:ext cx="11173968" cy="4297680"/>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1481328"/>
            <a:ext cx="10661904" cy="219456"/>
          </a:xfrm>
          <a:prstGeom prst="rect">
            <a:avLst/>
          </a:prstGeom>
          <a:noFill/>
        </p:spPr>
        <p:txBody>
          <a:bodyPr wrap="square" anchor="t" lIns="18288" rIns="18288" tIns="0" bIns="0">
            <a:spAutoFit/>
          </a:bodyPr>
          <a:lstStyle/>
          <a:p>
            <a:r>
              <a:rPr sz="950" b="1">
                <a:solidFill>
                  <a:srgbClr val="2DC1B7"/>
                </a:solidFill>
                <a:latin typeface="Aptos"/>
              </a:rPr>
              <a:t>internal/redis/engine.go:451-459</a:t>
            </a:r>
          </a:p>
        </p:txBody>
      </p:sp>
      <p:sp>
        <p:nvSpPr>
          <p:cNvPr id="9" name="TextBox 8"/>
          <p:cNvSpPr txBox="1"/>
          <p:nvPr/>
        </p:nvSpPr>
        <p:spPr>
          <a:xfrm>
            <a:off x="777240" y="1865376"/>
            <a:ext cx="10625328" cy="3547872"/>
          </a:xfrm>
          <a:prstGeom prst="rect">
            <a:avLst/>
          </a:prstGeom>
          <a:noFill/>
        </p:spPr>
        <p:txBody>
          <a:bodyPr wrap="square" anchor="t" lIns="18288" rIns="18288" tIns="0" bIns="0">
            <a:spAutoFit/>
          </a:bodyPr>
          <a:lstStyle/>
          <a:p>
            <a:r>
              <a:rPr sz="1500" b="0">
                <a:solidFill>
                  <a:srgbClr val="EFF4F7"/>
                </a:solidFill>
                <a:latin typeface="Courier New"/>
              </a:rPr>
              <a:t>451  func (engine *Engine) removeIfExpiredLocked(key string, stored StoredValue) bool {
452      if !engine.isExpired(stored) {
453          return false
454      }
455  
456      delete(engine.state, key)
457      engine.removeFromEqualsIndexLocked(key, stored.Value)
458      engine.removeFromNumberIndexLocked(stored.Value)
459      return true</a:t>
            </a:r>
          </a:p>
        </p:txBody>
      </p:sp>
      <p:sp>
        <p:nvSpPr>
          <p:cNvPr id="10" name="Rectangle 9"/>
          <p:cNvSpPr/>
          <p:nvPr/>
        </p:nvSpPr>
        <p:spPr>
          <a:xfrm>
            <a:off x="530352" y="5870448"/>
            <a:ext cx="73152" cy="438912"/>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5852160"/>
            <a:ext cx="5440680" cy="438912"/>
          </a:xfrm>
          <a:prstGeom prst="rect">
            <a:avLst/>
          </a:prstGeom>
          <a:noFill/>
        </p:spPr>
        <p:txBody>
          <a:bodyPr wrap="square" anchor="t" lIns="18288" rIns="18288" tIns="0" bIns="0">
            <a:spAutoFit/>
          </a:bodyPr>
          <a:lstStyle/>
          <a:p>
            <a:r>
              <a:rPr sz="1150" b="1">
                <a:solidFill>
                  <a:srgbClr val="EFF4F7"/>
                </a:solidFill>
                <a:latin typeface="Aptos"/>
              </a:rPr>
              <a:t>Expiration lazy au GET, plus balayage actif periodique.</a:t>
            </a:r>
          </a:p>
        </p:txBody>
      </p:sp>
      <p:sp>
        <p:nvSpPr>
          <p:cNvPr id="12" name="Rectangle 11"/>
          <p:cNvSpPr/>
          <p:nvPr/>
        </p:nvSpPr>
        <p:spPr>
          <a:xfrm>
            <a:off x="6181344" y="5870448"/>
            <a:ext cx="73152" cy="438912"/>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64224" y="5852160"/>
            <a:ext cx="5440680" cy="438912"/>
          </a:xfrm>
          <a:prstGeom prst="rect">
            <a:avLst/>
          </a:prstGeom>
          <a:noFill/>
        </p:spPr>
        <p:txBody>
          <a:bodyPr wrap="square" anchor="t" lIns="18288" rIns="18288" tIns="0" bIns="0">
            <a:spAutoFit/>
          </a:bodyPr>
          <a:lstStyle/>
          <a:p>
            <a:r>
              <a:rPr sz="1150" b="1">
                <a:solidFill>
                  <a:srgbClr val="EFF4F7"/>
                </a:solidFill>
                <a:latin typeface="Aptos"/>
              </a:rPr>
              <a:t>Le restore garde ExpiresAt et ne remplit pas de nouveau le buffer.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384048"/>
          </a:xfrm>
          <a:prstGeom prst="rect">
            <a:avLst/>
          </a:prstGeom>
          <a:noFill/>
        </p:spPr>
        <p:txBody>
          <a:bodyPr wrap="square" anchor="t" lIns="18288" rIns="18288" tIns="0" bIns="0">
            <a:spAutoFit/>
          </a:bodyPr>
          <a:lstStyle/>
          <a:p>
            <a:r>
              <a:rPr sz="2500" b="1">
                <a:solidFill>
                  <a:srgbClr val="EFF4F7"/>
                </a:solidFill>
                <a:latin typeface="Aptos"/>
              </a:rPr>
              <a:t>React atteint le moteur Go</a:t>
            </a:r>
          </a:p>
        </p:txBody>
      </p:sp>
      <p:sp>
        <p:nvSpPr>
          <p:cNvPr id="4" name="TextBox 3"/>
          <p:cNvSpPr txBox="1"/>
          <p:nvPr/>
        </p:nvSpPr>
        <p:spPr>
          <a:xfrm>
            <a:off x="521207" y="704088"/>
            <a:ext cx="9875520" cy="256032"/>
          </a:xfrm>
          <a:prstGeom prst="rect">
            <a:avLst/>
          </a:prstGeom>
          <a:noFill/>
        </p:spPr>
        <p:txBody>
          <a:bodyPr wrap="square" anchor="t" lIns="18288" rIns="18288" tIns="0" bIns="0">
            <a:spAutoFit/>
          </a:bodyPr>
          <a:lstStyle/>
          <a:p>
            <a:r>
              <a:rPr sz="1150" b="0">
                <a:solidFill>
                  <a:srgbClr val="99A9B7"/>
                </a:solidFill>
                <a:latin typeface="Aptos"/>
              </a:rPr>
              <a:t>Le SDK et le bridge WASM transportent la commande</a:t>
            </a:r>
          </a:p>
        </p:txBody>
      </p:sp>
      <p:sp>
        <p:nvSpPr>
          <p:cNvPr id="5" name="Rectangle 4"/>
          <p:cNvSpPr/>
          <p:nvPr/>
        </p:nvSpPr>
        <p:spPr>
          <a:xfrm>
            <a:off x="512064" y="1005840"/>
            <a:ext cx="1078992" cy="45720"/>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840" y="320040"/>
            <a:ext cx="365760" cy="228600"/>
          </a:xfrm>
          <a:prstGeom prst="rect">
            <a:avLst/>
          </a:prstGeom>
          <a:noFill/>
        </p:spPr>
        <p:txBody>
          <a:bodyPr wrap="square" anchor="t" lIns="18288" rIns="18288" tIns="0" bIns="0">
            <a:spAutoFit/>
          </a:bodyPr>
          <a:lstStyle/>
          <a:p>
            <a:r>
              <a:rPr sz="1000" b="1">
                <a:solidFill>
                  <a:srgbClr val="99A9B7"/>
                </a:solidFill>
                <a:latin typeface="Aptos"/>
              </a:rPr>
              <a:t>08</a:t>
            </a:r>
          </a:p>
        </p:txBody>
      </p:sp>
      <p:sp>
        <p:nvSpPr>
          <p:cNvPr id="7" name="Rounded Rectangle 6"/>
          <p:cNvSpPr/>
          <p:nvPr/>
        </p:nvSpPr>
        <p:spPr>
          <a:xfrm>
            <a:off x="502920" y="1280160"/>
            <a:ext cx="1648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280160"/>
            <a:ext cx="64008" cy="640080"/>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 y="1481328"/>
            <a:ext cx="1447800" cy="228600"/>
          </a:xfrm>
          <a:prstGeom prst="rect">
            <a:avLst/>
          </a:prstGeom>
          <a:noFill/>
        </p:spPr>
        <p:txBody>
          <a:bodyPr wrap="square" anchor="t" lIns="18288" rIns="18288" tIns="0" bIns="0">
            <a:spAutoFit/>
          </a:bodyPr>
          <a:lstStyle/>
          <a:p>
            <a:r>
              <a:rPr sz="1019" b="1">
                <a:solidFill>
                  <a:srgbClr val="EFF4F7"/>
                </a:solidFill>
                <a:latin typeface="Aptos"/>
              </a:rPr>
              <a:t>React</a:t>
            </a:r>
          </a:p>
        </p:txBody>
      </p:sp>
      <p:sp>
        <p:nvSpPr>
          <p:cNvPr id="10" name="TextBox 9"/>
          <p:cNvSpPr txBox="1"/>
          <p:nvPr/>
        </p:nvSpPr>
        <p:spPr>
          <a:xfrm>
            <a:off x="2215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11" name="Rounded Rectangle 10"/>
          <p:cNvSpPr/>
          <p:nvPr/>
        </p:nvSpPr>
        <p:spPr>
          <a:xfrm>
            <a:off x="2407920" y="1280160"/>
            <a:ext cx="1648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07920" y="1280160"/>
            <a:ext cx="64008" cy="640080"/>
          </a:xfrm>
          <a:prstGeom prst="rect">
            <a:avLst/>
          </a:prstGeom>
          <a:solidFill>
            <a:srgbClr val="F4C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35936" y="1481328"/>
            <a:ext cx="1447800" cy="228600"/>
          </a:xfrm>
          <a:prstGeom prst="rect">
            <a:avLst/>
          </a:prstGeom>
          <a:noFill/>
        </p:spPr>
        <p:txBody>
          <a:bodyPr wrap="square" anchor="t" lIns="18288" rIns="18288" tIns="0" bIns="0">
            <a:spAutoFit/>
          </a:bodyPr>
          <a:lstStyle/>
          <a:p>
            <a:r>
              <a:rPr sz="1019" b="1">
                <a:solidFill>
                  <a:srgbClr val="EFF4F7"/>
                </a:solidFill>
                <a:latin typeface="Aptos"/>
              </a:rPr>
              <a:t>SDK</a:t>
            </a:r>
          </a:p>
        </p:txBody>
      </p:sp>
      <p:sp>
        <p:nvSpPr>
          <p:cNvPr id="14" name="TextBox 13"/>
          <p:cNvSpPr txBox="1"/>
          <p:nvPr/>
        </p:nvSpPr>
        <p:spPr>
          <a:xfrm>
            <a:off x="4120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15" name="Rounded Rectangle 14"/>
          <p:cNvSpPr/>
          <p:nvPr/>
        </p:nvSpPr>
        <p:spPr>
          <a:xfrm>
            <a:off x="4312920" y="1280160"/>
            <a:ext cx="1648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12920" y="1280160"/>
            <a:ext cx="64008" cy="640080"/>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40936" y="1481328"/>
            <a:ext cx="1447800" cy="228600"/>
          </a:xfrm>
          <a:prstGeom prst="rect">
            <a:avLst/>
          </a:prstGeom>
          <a:noFill/>
        </p:spPr>
        <p:txBody>
          <a:bodyPr wrap="square" anchor="t" lIns="18288" rIns="18288" tIns="0" bIns="0">
            <a:spAutoFit/>
          </a:bodyPr>
          <a:lstStyle/>
          <a:p>
            <a:r>
              <a:rPr sz="1019" b="1">
                <a:solidFill>
                  <a:srgbClr val="EFF4F7"/>
                </a:solidFill>
                <a:latin typeface="Aptos"/>
              </a:rPr>
              <a:t>postMessage</a:t>
            </a:r>
          </a:p>
        </p:txBody>
      </p:sp>
      <p:sp>
        <p:nvSpPr>
          <p:cNvPr id="18" name="TextBox 17"/>
          <p:cNvSpPr txBox="1"/>
          <p:nvPr/>
        </p:nvSpPr>
        <p:spPr>
          <a:xfrm>
            <a:off x="6025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19" name="Rounded Rectangle 18"/>
          <p:cNvSpPr/>
          <p:nvPr/>
        </p:nvSpPr>
        <p:spPr>
          <a:xfrm>
            <a:off x="6217920" y="1280160"/>
            <a:ext cx="1648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1280160"/>
            <a:ext cx="64008" cy="640080"/>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5936" y="1481328"/>
            <a:ext cx="1447800" cy="228600"/>
          </a:xfrm>
          <a:prstGeom prst="rect">
            <a:avLst/>
          </a:prstGeom>
          <a:noFill/>
        </p:spPr>
        <p:txBody>
          <a:bodyPr wrap="square" anchor="t" lIns="18288" rIns="18288" tIns="0" bIns="0">
            <a:spAutoFit/>
          </a:bodyPr>
          <a:lstStyle/>
          <a:p>
            <a:r>
              <a:rPr sz="1019" b="1">
                <a:solidFill>
                  <a:srgbClr val="EFF4F7"/>
                </a:solidFill>
                <a:latin typeface="Aptos"/>
              </a:rPr>
              <a:t>Worker</a:t>
            </a:r>
          </a:p>
        </p:txBody>
      </p:sp>
      <p:sp>
        <p:nvSpPr>
          <p:cNvPr id="22" name="TextBox 21"/>
          <p:cNvSpPr txBox="1"/>
          <p:nvPr/>
        </p:nvSpPr>
        <p:spPr>
          <a:xfrm>
            <a:off x="7930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23" name="Rounded Rectangle 22"/>
          <p:cNvSpPr/>
          <p:nvPr/>
        </p:nvSpPr>
        <p:spPr>
          <a:xfrm>
            <a:off x="8122920" y="1280160"/>
            <a:ext cx="1648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22920" y="1280160"/>
            <a:ext cx="64008" cy="640080"/>
          </a:xfrm>
          <a:prstGeom prst="rect">
            <a:avLst/>
          </a:prstGeom>
          <a:solidFill>
            <a:srgbClr val="5EC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50936" y="1481328"/>
            <a:ext cx="1447800" cy="228600"/>
          </a:xfrm>
          <a:prstGeom prst="rect">
            <a:avLst/>
          </a:prstGeom>
          <a:noFill/>
        </p:spPr>
        <p:txBody>
          <a:bodyPr wrap="square" anchor="t" lIns="18288" rIns="18288" tIns="0" bIns="0">
            <a:spAutoFit/>
          </a:bodyPr>
          <a:lstStyle/>
          <a:p>
            <a:r>
              <a:rPr sz="1019" b="1">
                <a:solidFill>
                  <a:srgbClr val="EFF4F7"/>
                </a:solidFill>
                <a:latin typeface="Aptos"/>
              </a:rPr>
              <a:t>wasmRedisExecute</a:t>
            </a:r>
          </a:p>
        </p:txBody>
      </p:sp>
      <p:sp>
        <p:nvSpPr>
          <p:cNvPr id="26" name="TextBox 25"/>
          <p:cNvSpPr txBox="1"/>
          <p:nvPr/>
        </p:nvSpPr>
        <p:spPr>
          <a:xfrm>
            <a:off x="9835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27" name="Rounded Rectangle 26"/>
          <p:cNvSpPr/>
          <p:nvPr/>
        </p:nvSpPr>
        <p:spPr>
          <a:xfrm>
            <a:off x="10027920" y="1280160"/>
            <a:ext cx="1648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027920" y="1280160"/>
            <a:ext cx="64008" cy="640080"/>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155936" y="1481328"/>
            <a:ext cx="1447800" cy="228600"/>
          </a:xfrm>
          <a:prstGeom prst="rect">
            <a:avLst/>
          </a:prstGeom>
          <a:noFill/>
        </p:spPr>
        <p:txBody>
          <a:bodyPr wrap="square" anchor="t" lIns="18288" rIns="18288" tIns="0" bIns="0">
            <a:spAutoFit/>
          </a:bodyPr>
          <a:lstStyle/>
          <a:p>
            <a:r>
              <a:rPr sz="1019" b="1">
                <a:solidFill>
                  <a:srgbClr val="EFF4F7"/>
                </a:solidFill>
                <a:latin typeface="Aptos"/>
              </a:rPr>
              <a:t>Engine</a:t>
            </a:r>
          </a:p>
        </p:txBody>
      </p:sp>
      <p:sp>
        <p:nvSpPr>
          <p:cNvPr id="30" name="Rounded Rectangle 29"/>
          <p:cNvSpPr/>
          <p:nvPr/>
        </p:nvSpPr>
        <p:spPr>
          <a:xfrm>
            <a:off x="502920" y="2157984"/>
            <a:ext cx="4617720" cy="3383280"/>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8952" y="2340864"/>
            <a:ext cx="4105656" cy="219456"/>
          </a:xfrm>
          <a:prstGeom prst="rect">
            <a:avLst/>
          </a:prstGeom>
          <a:noFill/>
        </p:spPr>
        <p:txBody>
          <a:bodyPr wrap="square" anchor="t" lIns="18288" rIns="18288" tIns="0" bIns="0">
            <a:spAutoFit/>
          </a:bodyPr>
          <a:lstStyle/>
          <a:p>
            <a:r>
              <a:rPr sz="950" b="1">
                <a:solidFill>
                  <a:srgbClr val="2DC1B7"/>
                </a:solidFill>
                <a:latin typeface="Aptos"/>
              </a:rPr>
              <a:t>web/src/sdk/wasmRedis.ts:181-183</a:t>
            </a:r>
          </a:p>
        </p:txBody>
      </p:sp>
      <p:sp>
        <p:nvSpPr>
          <p:cNvPr id="32" name="TextBox 31"/>
          <p:cNvSpPr txBox="1"/>
          <p:nvPr/>
        </p:nvSpPr>
        <p:spPr>
          <a:xfrm>
            <a:off x="777240" y="2724912"/>
            <a:ext cx="4069080" cy="2633472"/>
          </a:xfrm>
          <a:prstGeom prst="rect">
            <a:avLst/>
          </a:prstGeom>
          <a:noFill/>
        </p:spPr>
        <p:txBody>
          <a:bodyPr wrap="square" anchor="t" lIns="18288" rIns="18288" tIns="0" bIns="0">
            <a:spAutoFit/>
          </a:bodyPr>
          <a:lstStyle/>
          <a:p>
            <a:r>
              <a:rPr sz="1112" b="0">
                <a:solidFill>
                  <a:srgbClr val="EFF4F7"/>
                </a:solidFill>
                <a:latin typeface="Courier New"/>
              </a:rPr>
              <a:t>181        pending.set(id, { resolve, reject });
182        worker.postMessage(message);
183      });</a:t>
            </a:r>
          </a:p>
        </p:txBody>
      </p:sp>
      <p:sp>
        <p:nvSpPr>
          <p:cNvPr id="33" name="Rounded Rectangle 32"/>
          <p:cNvSpPr/>
          <p:nvPr/>
        </p:nvSpPr>
        <p:spPr>
          <a:xfrm>
            <a:off x="5340096" y="2157984"/>
            <a:ext cx="6336792" cy="3383280"/>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596128" y="2340864"/>
            <a:ext cx="5824728" cy="219456"/>
          </a:xfrm>
          <a:prstGeom prst="rect">
            <a:avLst/>
          </a:prstGeom>
          <a:noFill/>
        </p:spPr>
        <p:txBody>
          <a:bodyPr wrap="square" anchor="t" lIns="18288" rIns="18288" tIns="0" bIns="0">
            <a:spAutoFit/>
          </a:bodyPr>
          <a:lstStyle/>
          <a:p>
            <a:r>
              <a:rPr sz="950" b="1">
                <a:solidFill>
                  <a:srgbClr val="2DC1B7"/>
                </a:solidFill>
                <a:latin typeface="Aptos"/>
              </a:rPr>
              <a:t>cmd/wasm/main.go:66-87</a:t>
            </a:r>
          </a:p>
        </p:txBody>
      </p:sp>
      <p:sp>
        <p:nvSpPr>
          <p:cNvPr id="35" name="TextBox 34"/>
          <p:cNvSpPr txBox="1"/>
          <p:nvPr/>
        </p:nvSpPr>
        <p:spPr>
          <a:xfrm>
            <a:off x="5614416" y="2724912"/>
            <a:ext cx="5788152" cy="2633472"/>
          </a:xfrm>
          <a:prstGeom prst="rect">
            <a:avLst/>
          </a:prstGeom>
          <a:noFill/>
        </p:spPr>
        <p:txBody>
          <a:bodyPr wrap="square" anchor="t" lIns="18288" rIns="18288" tIns="0" bIns="0">
            <a:spAutoFit/>
          </a:bodyPr>
          <a:lstStyle/>
          <a:p>
            <a:r>
              <a:rPr sz="926" b="0">
                <a:solidFill>
                  <a:srgbClr val="EFF4F7"/>
                </a:solidFill>
                <a:latin typeface="Courier New"/>
              </a:rPr>
              <a:t>66  func wasmRedisExecute(_ js.Value, args []js.Value) any {
69      if len(args) == 0 {
72          return encode(errorResponse{OK: false, Error: "missing request"})
73      }
76      var request executeRequest
79      if err := json.Unmarshal([]byte(args[0].String()), &amp;request); err != nil {
82          return encode(errorResponse{OK: false, Error: err.Error()})
83      }
86      return encode(engine.ExecuteBatch(request.Commands))
87  }</a:t>
            </a:r>
          </a:p>
        </p:txBody>
      </p:sp>
      <p:sp>
        <p:nvSpPr>
          <p:cNvPr id="36" name="Rectangle 35"/>
          <p:cNvSpPr/>
          <p:nvPr/>
        </p:nvSpPr>
        <p:spPr>
          <a:xfrm>
            <a:off x="530352" y="5870448"/>
            <a:ext cx="73152" cy="438912"/>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13232" y="5852160"/>
            <a:ext cx="5440680" cy="438912"/>
          </a:xfrm>
          <a:prstGeom prst="rect">
            <a:avLst/>
          </a:prstGeom>
          <a:noFill/>
        </p:spPr>
        <p:txBody>
          <a:bodyPr wrap="square" anchor="t" lIns="18288" rIns="18288" tIns="0" bIns="0">
            <a:spAutoFit/>
          </a:bodyPr>
          <a:lstStyle/>
          <a:p>
            <a:r>
              <a:rPr sz="1150" b="1">
                <a:solidFill>
                  <a:srgbClr val="EFF4F7"/>
                </a:solidFill>
                <a:latin typeface="Aptos"/>
              </a:rPr>
              <a:t>Le SDK valide avec TypeScript et Zod avant l'envoi.</a:t>
            </a:r>
          </a:p>
        </p:txBody>
      </p:sp>
      <p:sp>
        <p:nvSpPr>
          <p:cNvPr id="38" name="Rectangle 37"/>
          <p:cNvSpPr/>
          <p:nvPr/>
        </p:nvSpPr>
        <p:spPr>
          <a:xfrm>
            <a:off x="6181344" y="5870448"/>
            <a:ext cx="73152" cy="438912"/>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64224" y="5852160"/>
            <a:ext cx="5440680" cy="438912"/>
          </a:xfrm>
          <a:prstGeom prst="rect">
            <a:avLst/>
          </a:prstGeom>
          <a:noFill/>
        </p:spPr>
        <p:txBody>
          <a:bodyPr wrap="square" anchor="t" lIns="18288" rIns="18288" tIns="0" bIns="0">
            <a:spAutoFit/>
          </a:bodyPr>
          <a:lstStyle/>
          <a:p>
            <a:r>
              <a:rPr sz="1150" b="1">
                <a:solidFill>
                  <a:srgbClr val="EFF4F7"/>
                </a:solidFill>
                <a:latin typeface="Aptos"/>
              </a:rPr>
              <a:t>wasmRedisExecute decode puis appelle Engine.ExecuteBatch.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384048"/>
          </a:xfrm>
          <a:prstGeom prst="rect">
            <a:avLst/>
          </a:prstGeom>
          <a:noFill/>
        </p:spPr>
        <p:txBody>
          <a:bodyPr wrap="square" anchor="t" lIns="18288" rIns="18288" tIns="0" bIns="0">
            <a:spAutoFit/>
          </a:bodyPr>
          <a:lstStyle/>
          <a:p>
            <a:r>
              <a:rPr sz="2500" b="1">
                <a:solidFill>
                  <a:srgbClr val="EFF4F7"/>
                </a:solidFill>
                <a:latin typeface="Aptos"/>
              </a:rPr>
              <a:t>100 000 entrees, 29 lignes DOM</a:t>
            </a:r>
          </a:p>
        </p:txBody>
      </p:sp>
      <p:sp>
        <p:nvSpPr>
          <p:cNvPr id="4" name="TextBox 3"/>
          <p:cNvSpPr txBox="1"/>
          <p:nvPr/>
        </p:nvSpPr>
        <p:spPr>
          <a:xfrm>
            <a:off x="521207" y="704088"/>
            <a:ext cx="9875520" cy="256032"/>
          </a:xfrm>
          <a:prstGeom prst="rect">
            <a:avLst/>
          </a:prstGeom>
          <a:noFill/>
        </p:spPr>
        <p:txBody>
          <a:bodyPr wrap="square" anchor="t" lIns="18288" rIns="18288" tIns="0" bIns="0">
            <a:spAutoFit/>
          </a:bodyPr>
          <a:lstStyle/>
          <a:p>
            <a:r>
              <a:rPr sz="1150" b="0">
                <a:solidFill>
                  <a:srgbClr val="99A9B7"/>
                </a:solidFill>
                <a:latin typeface="Aptos"/>
              </a:rPr>
              <a:t>Virtual scroll maison + abonnement cible</a:t>
            </a:r>
          </a:p>
        </p:txBody>
      </p:sp>
      <p:sp>
        <p:nvSpPr>
          <p:cNvPr id="5" name="Rectangle 4"/>
          <p:cNvSpPr/>
          <p:nvPr/>
        </p:nvSpPr>
        <p:spPr>
          <a:xfrm>
            <a:off x="512064" y="1005840"/>
            <a:ext cx="1078992" cy="45720"/>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840" y="320040"/>
            <a:ext cx="365760" cy="228600"/>
          </a:xfrm>
          <a:prstGeom prst="rect">
            <a:avLst/>
          </a:prstGeom>
          <a:noFill/>
        </p:spPr>
        <p:txBody>
          <a:bodyPr wrap="square" anchor="t" lIns="18288" rIns="18288" tIns="0" bIns="0">
            <a:spAutoFit/>
          </a:bodyPr>
          <a:lstStyle/>
          <a:p>
            <a:r>
              <a:rPr sz="1000" b="1">
                <a:solidFill>
                  <a:srgbClr val="99A9B7"/>
                </a:solidFill>
                <a:latin typeface="Aptos"/>
              </a:rPr>
              <a:t>09</a:t>
            </a:r>
          </a:p>
        </p:txBody>
      </p:sp>
      <p:sp>
        <p:nvSpPr>
          <p:cNvPr id="7" name="Rounded Rectangle 6"/>
          <p:cNvSpPr/>
          <p:nvPr/>
        </p:nvSpPr>
        <p:spPr>
          <a:xfrm>
            <a:off x="502920" y="1298448"/>
            <a:ext cx="11173968" cy="4297680"/>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1481328"/>
            <a:ext cx="10661904" cy="219456"/>
          </a:xfrm>
          <a:prstGeom prst="rect">
            <a:avLst/>
          </a:prstGeom>
          <a:noFill/>
        </p:spPr>
        <p:txBody>
          <a:bodyPr wrap="square" anchor="t" lIns="18288" rIns="18288" tIns="0" bIns="0">
            <a:spAutoFit/>
          </a:bodyPr>
          <a:lstStyle/>
          <a:p>
            <a:r>
              <a:rPr sz="950" b="1">
                <a:solidFill>
                  <a:srgbClr val="2DC1B7"/>
                </a:solidFill>
                <a:latin typeface="Aptos"/>
              </a:rPr>
              <a:t>web/src/virtual/getVirtualRange.ts:22-27   |   web/src/store/entryStore.ts:60-64</a:t>
            </a:r>
          </a:p>
        </p:txBody>
      </p:sp>
      <p:sp>
        <p:nvSpPr>
          <p:cNvPr id="9" name="TextBox 8"/>
          <p:cNvSpPr txBox="1"/>
          <p:nvPr/>
        </p:nvSpPr>
        <p:spPr>
          <a:xfrm>
            <a:off x="777240" y="1865376"/>
            <a:ext cx="10625328" cy="3547872"/>
          </a:xfrm>
          <a:prstGeom prst="rect">
            <a:avLst/>
          </a:prstGeom>
          <a:noFill/>
        </p:spPr>
        <p:txBody>
          <a:bodyPr wrap="square" anchor="t" lIns="18288" rIns="18288" tIns="0" bIns="0">
            <a:spAutoFit/>
          </a:bodyPr>
          <a:lstStyle/>
          <a:p>
            <a:r>
              <a:rPr sz="1422" b="0">
                <a:solidFill>
                  <a:srgbClr val="EFF4F7"/>
                </a:solidFill>
                <a:latin typeface="Courier New"/>
              </a:rPr>
              <a:t>22    const firstVisible = Math.min(itemCount - 1, Math.floor(scrollTop / rowHeight));
23    const startIndex = Math.max(0, firstVisible - overscan);
24    const visibleCount = Math.ceil(viewportHeight / rowHeight) + overscan * 2;
25    const endIndex = Math.min(itemCount, startIndex + visibleCount);
26  
27    return { startIndex, endIndex, totalHeight: itemCount * rowHeight };
60  export function useEntry(key: string): StoreEntry | undefined {
61    const subscribe = useCallback((listener: Listener) =&gt; subscribeEntry(key, listener), [key]);
62    const getSnapshot = useCallback(() =&gt; getEntry(key), [key]);
63    return useSyncExternalStore(subscribe, getSnapshot, getSnapshot);
64  }</a:t>
            </a:r>
          </a:p>
        </p:txBody>
      </p:sp>
      <p:sp>
        <p:nvSpPr>
          <p:cNvPr id="10" name="Rectangle 9"/>
          <p:cNvSpPr/>
          <p:nvPr/>
        </p:nvSpPr>
        <p:spPr>
          <a:xfrm>
            <a:off x="530352" y="5870448"/>
            <a:ext cx="73152" cy="438912"/>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5852160"/>
            <a:ext cx="5440680" cy="438912"/>
          </a:xfrm>
          <a:prstGeom prst="rect">
            <a:avLst/>
          </a:prstGeom>
          <a:noFill/>
        </p:spPr>
        <p:txBody>
          <a:bodyPr wrap="square" anchor="t" lIns="18288" rIns="18288" tIns="0" bIns="0">
            <a:spAutoFit/>
          </a:bodyPr>
          <a:lstStyle/>
          <a:p>
            <a:r>
              <a:rPr sz="1150" b="1">
                <a:solidFill>
                  <a:srgbClr val="EFF4F7"/>
                </a:solidFill>
                <a:latin typeface="Aptos"/>
              </a:rPr>
              <a:t>Le spacer simule la hauteur totale ; seule la tranche visible est montee.</a:t>
            </a:r>
          </a:p>
        </p:txBody>
      </p:sp>
      <p:sp>
        <p:nvSpPr>
          <p:cNvPr id="12" name="Rectangle 11"/>
          <p:cNvSpPr/>
          <p:nvPr/>
        </p:nvSpPr>
        <p:spPr>
          <a:xfrm>
            <a:off x="6181344" y="5870448"/>
            <a:ext cx="73152" cy="438912"/>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64224" y="5852160"/>
            <a:ext cx="5440680" cy="438912"/>
          </a:xfrm>
          <a:prstGeom prst="rect">
            <a:avLst/>
          </a:prstGeom>
          <a:noFill/>
        </p:spPr>
        <p:txBody>
          <a:bodyPr wrap="square" anchor="t" lIns="18288" rIns="18288" tIns="0" bIns="0">
            <a:spAutoFit/>
          </a:bodyPr>
          <a:lstStyle/>
          <a:p>
            <a:r>
              <a:rPr sz="1150" b="1">
                <a:solidFill>
                  <a:srgbClr val="EFF4F7"/>
                </a:solidFill>
                <a:latin typeface="Aptos"/>
              </a:rPr>
              <a:t>Modifier une ligne : compteur 1 -&gt; 2 ; autre ligne : 1 -&gt;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384048"/>
          </a:xfrm>
          <a:prstGeom prst="rect">
            <a:avLst/>
          </a:prstGeom>
          <a:noFill/>
        </p:spPr>
        <p:txBody>
          <a:bodyPr wrap="square" anchor="t" lIns="18288" rIns="18288" tIns="0" bIns="0">
            <a:spAutoFit/>
          </a:bodyPr>
          <a:lstStyle/>
          <a:p>
            <a:r>
              <a:rPr sz="2500" b="1">
                <a:solidFill>
                  <a:srgbClr val="EFF4F7"/>
                </a:solidFill>
                <a:latin typeface="Aptos"/>
              </a:rPr>
              <a:t>Ce que la demo prouve</a:t>
            </a:r>
          </a:p>
        </p:txBody>
      </p:sp>
      <p:sp>
        <p:nvSpPr>
          <p:cNvPr id="4" name="TextBox 3"/>
          <p:cNvSpPr txBox="1"/>
          <p:nvPr/>
        </p:nvSpPr>
        <p:spPr>
          <a:xfrm>
            <a:off x="521207" y="704088"/>
            <a:ext cx="9875520" cy="256032"/>
          </a:xfrm>
          <a:prstGeom prst="rect">
            <a:avLst/>
          </a:prstGeom>
          <a:noFill/>
        </p:spPr>
        <p:txBody>
          <a:bodyPr wrap="square" anchor="t" lIns="18288" rIns="18288" tIns="0" bIns="0">
            <a:spAutoFit/>
          </a:bodyPr>
          <a:lstStyle/>
          <a:p>
            <a:r>
              <a:rPr sz="1150" b="0">
                <a:solidFill>
                  <a:srgbClr val="99A9B7"/>
                </a:solidFill>
                <a:latin typeface="Aptos"/>
              </a:rPr>
              <a:t>Mesures reelles, parcours reproductible</a:t>
            </a:r>
          </a:p>
        </p:txBody>
      </p:sp>
      <p:sp>
        <p:nvSpPr>
          <p:cNvPr id="5" name="Rectangle 4"/>
          <p:cNvSpPr/>
          <p:nvPr/>
        </p:nvSpPr>
        <p:spPr>
          <a:xfrm>
            <a:off x="512064" y="1005840"/>
            <a:ext cx="1078992" cy="45720"/>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840" y="320040"/>
            <a:ext cx="365760" cy="228600"/>
          </a:xfrm>
          <a:prstGeom prst="rect">
            <a:avLst/>
          </a:prstGeom>
          <a:noFill/>
        </p:spPr>
        <p:txBody>
          <a:bodyPr wrap="square" anchor="t" lIns="18288" rIns="18288" tIns="0" bIns="0">
            <a:spAutoFit/>
          </a:bodyPr>
          <a:lstStyle/>
          <a:p>
            <a:r>
              <a:rPr sz="1000" b="1">
                <a:solidFill>
                  <a:srgbClr val="99A9B7"/>
                </a:solidFill>
                <a:latin typeface="Aptos"/>
              </a:rPr>
              <a:t>10</a:t>
            </a:r>
          </a:p>
        </p:txBody>
      </p:sp>
      <p:sp>
        <p:nvSpPr>
          <p:cNvPr id="7" name="Rounded Rectangle 6"/>
          <p:cNvSpPr/>
          <p:nvPr/>
        </p:nvSpPr>
        <p:spPr>
          <a:xfrm>
            <a:off x="512064" y="1417320"/>
            <a:ext cx="2532888" cy="1298448"/>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700784"/>
            <a:ext cx="2011680" cy="402336"/>
          </a:xfrm>
          <a:prstGeom prst="rect">
            <a:avLst/>
          </a:prstGeom>
          <a:noFill/>
        </p:spPr>
        <p:txBody>
          <a:bodyPr wrap="square" anchor="t" lIns="18288" rIns="18288" tIns="0" bIns="0">
            <a:spAutoFit/>
          </a:bodyPr>
          <a:lstStyle/>
          <a:p>
            <a:r>
              <a:rPr sz="2500" b="1">
                <a:solidFill>
                  <a:srgbClr val="2DC1B7"/>
                </a:solidFill>
                <a:latin typeface="Aptos"/>
              </a:rPr>
              <a:t>15,5 x</a:t>
            </a:r>
          </a:p>
        </p:txBody>
      </p:sp>
      <p:sp>
        <p:nvSpPr>
          <p:cNvPr id="9" name="TextBox 8"/>
          <p:cNvSpPr txBox="1"/>
          <p:nvPr/>
        </p:nvSpPr>
        <p:spPr>
          <a:xfrm>
            <a:off x="713232" y="2212848"/>
            <a:ext cx="2011680" cy="219456"/>
          </a:xfrm>
          <a:prstGeom prst="rect">
            <a:avLst/>
          </a:prstGeom>
          <a:noFill/>
        </p:spPr>
        <p:txBody>
          <a:bodyPr wrap="square" anchor="t" lIns="18288" rIns="18288" tIns="0" bIns="0">
            <a:spAutoFit/>
          </a:bodyPr>
          <a:lstStyle/>
          <a:p>
            <a:r>
              <a:rPr sz="1000" b="0">
                <a:solidFill>
                  <a:srgbClr val="99A9B7"/>
                </a:solidFill>
                <a:latin typeface="Aptos"/>
              </a:rPr>
              <a:t>gain batch / 30 SET</a:t>
            </a:r>
          </a:p>
        </p:txBody>
      </p:sp>
      <p:sp>
        <p:nvSpPr>
          <p:cNvPr id="10" name="Rounded Rectangle 9"/>
          <p:cNvSpPr/>
          <p:nvPr/>
        </p:nvSpPr>
        <p:spPr>
          <a:xfrm>
            <a:off x="3374136" y="1417320"/>
            <a:ext cx="2532888" cy="1298448"/>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75304" y="1700784"/>
            <a:ext cx="2011680" cy="402336"/>
          </a:xfrm>
          <a:prstGeom prst="rect">
            <a:avLst/>
          </a:prstGeom>
          <a:noFill/>
        </p:spPr>
        <p:txBody>
          <a:bodyPr wrap="square" anchor="t" lIns="18288" rIns="18288" tIns="0" bIns="0">
            <a:spAutoFit/>
          </a:bodyPr>
          <a:lstStyle/>
          <a:p>
            <a:r>
              <a:rPr sz="2500" b="1">
                <a:solidFill>
                  <a:srgbClr val="5ECD91"/>
                </a:solidFill>
                <a:latin typeface="Aptos"/>
              </a:rPr>
              <a:t>~0,3 us</a:t>
            </a:r>
          </a:p>
        </p:txBody>
      </p:sp>
      <p:sp>
        <p:nvSpPr>
          <p:cNvPr id="12" name="TextBox 11"/>
          <p:cNvSpPr txBox="1"/>
          <p:nvPr/>
        </p:nvSpPr>
        <p:spPr>
          <a:xfrm>
            <a:off x="3575304" y="2212848"/>
            <a:ext cx="2011680" cy="219456"/>
          </a:xfrm>
          <a:prstGeom prst="rect">
            <a:avLst/>
          </a:prstGeom>
          <a:noFill/>
        </p:spPr>
        <p:txBody>
          <a:bodyPr wrap="square" anchor="t" lIns="18288" rIns="18288" tIns="0" bIns="0">
            <a:spAutoFit/>
          </a:bodyPr>
          <a:lstStyle/>
          <a:p>
            <a:r>
              <a:rPr sz="1000" b="0">
                <a:solidFill>
                  <a:srgbClr val="99A9B7"/>
                </a:solidFill>
                <a:latin typeface="Aptos"/>
              </a:rPr>
              <a:t>range selective / 10k</a:t>
            </a:r>
          </a:p>
        </p:txBody>
      </p:sp>
      <p:sp>
        <p:nvSpPr>
          <p:cNvPr id="13" name="Rounded Rectangle 12"/>
          <p:cNvSpPr/>
          <p:nvPr/>
        </p:nvSpPr>
        <p:spPr>
          <a:xfrm>
            <a:off x="6236208" y="1417320"/>
            <a:ext cx="2532888" cy="1298448"/>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1700784"/>
            <a:ext cx="2011680" cy="402336"/>
          </a:xfrm>
          <a:prstGeom prst="rect">
            <a:avLst/>
          </a:prstGeom>
          <a:noFill/>
        </p:spPr>
        <p:txBody>
          <a:bodyPr wrap="square" anchor="t" lIns="18288" rIns="18288" tIns="0" bIns="0">
            <a:spAutoFit/>
          </a:bodyPr>
          <a:lstStyle/>
          <a:p>
            <a:r>
              <a:rPr sz="2500" b="1">
                <a:solidFill>
                  <a:srgbClr val="F4CD60"/>
                </a:solidFill>
                <a:latin typeface="Aptos"/>
              </a:rPr>
              <a:t>60 FPS</a:t>
            </a:r>
          </a:p>
        </p:txBody>
      </p:sp>
      <p:sp>
        <p:nvSpPr>
          <p:cNvPr id="15" name="TextBox 14"/>
          <p:cNvSpPr txBox="1"/>
          <p:nvPr/>
        </p:nvSpPr>
        <p:spPr>
          <a:xfrm>
            <a:off x="6437376" y="2212848"/>
            <a:ext cx="2011680" cy="219456"/>
          </a:xfrm>
          <a:prstGeom prst="rect">
            <a:avLst/>
          </a:prstGeom>
          <a:noFill/>
        </p:spPr>
        <p:txBody>
          <a:bodyPr wrap="square" anchor="t" lIns="18288" rIns="18288" tIns="0" bIns="0">
            <a:spAutoFit/>
          </a:bodyPr>
          <a:lstStyle/>
          <a:p>
            <a:r>
              <a:rPr sz="1000" b="0">
                <a:solidFill>
                  <a:srgbClr val="99A9B7"/>
                </a:solidFill>
                <a:latin typeface="Aptos"/>
              </a:rPr>
              <a:t>scroll mesure</a:t>
            </a:r>
          </a:p>
        </p:txBody>
      </p:sp>
      <p:sp>
        <p:nvSpPr>
          <p:cNvPr id="16" name="Rounded Rectangle 15"/>
          <p:cNvSpPr/>
          <p:nvPr/>
        </p:nvSpPr>
        <p:spPr>
          <a:xfrm>
            <a:off x="9098280" y="1417320"/>
            <a:ext cx="2532888" cy="1298448"/>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99448" y="1700784"/>
            <a:ext cx="2011680" cy="402336"/>
          </a:xfrm>
          <a:prstGeom prst="rect">
            <a:avLst/>
          </a:prstGeom>
          <a:noFill/>
        </p:spPr>
        <p:txBody>
          <a:bodyPr wrap="square" anchor="t" lIns="18288" rIns="18288" tIns="0" bIns="0">
            <a:spAutoFit/>
          </a:bodyPr>
          <a:lstStyle/>
          <a:p>
            <a:r>
              <a:rPr sz="2500" b="1">
                <a:solidFill>
                  <a:srgbClr val="F57F4D"/>
                </a:solidFill>
                <a:latin typeface="Aptos"/>
              </a:rPr>
              <a:t>29</a:t>
            </a:r>
          </a:p>
        </p:txBody>
      </p:sp>
      <p:sp>
        <p:nvSpPr>
          <p:cNvPr id="18" name="TextBox 17"/>
          <p:cNvSpPr txBox="1"/>
          <p:nvPr/>
        </p:nvSpPr>
        <p:spPr>
          <a:xfrm>
            <a:off x="9299448" y="2212848"/>
            <a:ext cx="2011680" cy="219456"/>
          </a:xfrm>
          <a:prstGeom prst="rect">
            <a:avLst/>
          </a:prstGeom>
          <a:noFill/>
        </p:spPr>
        <p:txBody>
          <a:bodyPr wrap="square" anchor="t" lIns="18288" rIns="18288" tIns="0" bIns="0">
            <a:spAutoFit/>
          </a:bodyPr>
          <a:lstStyle/>
          <a:p>
            <a:r>
              <a:rPr sz="1000" b="0">
                <a:solidFill>
                  <a:srgbClr val="99A9B7"/>
                </a:solidFill>
                <a:latin typeface="Aptos"/>
              </a:rPr>
              <a:t>lignes DOM / 100k</a:t>
            </a:r>
          </a:p>
        </p:txBody>
      </p:sp>
      <p:sp>
        <p:nvSpPr>
          <p:cNvPr id="19" name="TextBox 18"/>
          <p:cNvSpPr txBox="1"/>
          <p:nvPr/>
        </p:nvSpPr>
        <p:spPr>
          <a:xfrm>
            <a:off x="566928" y="3246120"/>
            <a:ext cx="3657600" cy="292608"/>
          </a:xfrm>
          <a:prstGeom prst="rect">
            <a:avLst/>
          </a:prstGeom>
          <a:noFill/>
        </p:spPr>
        <p:txBody>
          <a:bodyPr wrap="square" anchor="t" lIns="18288" rIns="18288" tIns="0" bIns="0">
            <a:spAutoFit/>
          </a:bodyPr>
          <a:lstStyle/>
          <a:p>
            <a:r>
              <a:rPr sz="1700" b="1">
                <a:solidFill>
                  <a:srgbClr val="EFF4F7"/>
                </a:solidFill>
                <a:latin typeface="Aptos"/>
              </a:rPr>
              <a:t>Demo en 60 secondes</a:t>
            </a:r>
          </a:p>
        </p:txBody>
      </p:sp>
      <p:sp>
        <p:nvSpPr>
          <p:cNvPr id="20" name="TextBox 19"/>
          <p:cNvSpPr txBox="1"/>
          <p:nvPr/>
        </p:nvSpPr>
        <p:spPr>
          <a:xfrm>
            <a:off x="621792" y="3749039"/>
            <a:ext cx="6583680" cy="256032"/>
          </a:xfrm>
          <a:prstGeom prst="rect">
            <a:avLst/>
          </a:prstGeom>
          <a:noFill/>
        </p:spPr>
        <p:txBody>
          <a:bodyPr wrap="square" anchor="t" lIns="18288" rIns="18288" tIns="0" bIns="0">
            <a:spAutoFit/>
          </a:bodyPr>
          <a:lstStyle/>
          <a:p>
            <a:r>
              <a:rPr sz="1300" b="1">
                <a:solidFill>
                  <a:srgbClr val="EFF4F7"/>
                </a:solidFill>
                <a:latin typeface="Aptos"/>
              </a:rPr>
              <a:t>1  SET avec TTL, puis Flush</a:t>
            </a:r>
          </a:p>
        </p:txBody>
      </p:sp>
      <p:sp>
        <p:nvSpPr>
          <p:cNvPr id="21" name="TextBox 20"/>
          <p:cNvSpPr txBox="1"/>
          <p:nvPr/>
        </p:nvSpPr>
        <p:spPr>
          <a:xfrm>
            <a:off x="621792" y="4178807"/>
            <a:ext cx="6583680" cy="256032"/>
          </a:xfrm>
          <a:prstGeom prst="rect">
            <a:avLst/>
          </a:prstGeom>
          <a:noFill/>
        </p:spPr>
        <p:txBody>
          <a:bodyPr wrap="square" anchor="t" lIns="18288" rIns="18288" tIns="0" bIns="0">
            <a:spAutoFit/>
          </a:bodyPr>
          <a:lstStyle/>
          <a:p>
            <a:r>
              <a:rPr sz="1300" b="0">
                <a:solidFill>
                  <a:srgbClr val="EFF4F7"/>
                </a:solidFill>
                <a:latin typeface="Aptos"/>
              </a:rPr>
              <a:t>2  Recharger : la cle revient depuis OPFS</a:t>
            </a:r>
          </a:p>
        </p:txBody>
      </p:sp>
      <p:sp>
        <p:nvSpPr>
          <p:cNvPr id="22" name="TextBox 21"/>
          <p:cNvSpPr txBox="1"/>
          <p:nvPr/>
        </p:nvSpPr>
        <p:spPr>
          <a:xfrm>
            <a:off x="621792" y="4608575"/>
            <a:ext cx="6583680" cy="256032"/>
          </a:xfrm>
          <a:prstGeom prst="rect">
            <a:avLst/>
          </a:prstGeom>
          <a:noFill/>
        </p:spPr>
        <p:txBody>
          <a:bodyPr wrap="square" anchor="t" lIns="18288" rIns="18288" tIns="0" bIns="0">
            <a:spAutoFit/>
          </a:bodyPr>
          <a:lstStyle/>
          <a:p>
            <a:r>
              <a:rPr sz="1300" b="0">
                <a:solidFill>
                  <a:srgbClr val="EFF4F7"/>
                </a:solidFill>
                <a:latin typeface="Aptos"/>
              </a:rPr>
              <a:t>3  Seed 100, puis value &gt;= 50</a:t>
            </a:r>
          </a:p>
        </p:txBody>
      </p:sp>
      <p:sp>
        <p:nvSpPr>
          <p:cNvPr id="23" name="TextBox 22"/>
          <p:cNvSpPr txBox="1"/>
          <p:nvPr/>
        </p:nvSpPr>
        <p:spPr>
          <a:xfrm>
            <a:off x="621792" y="5038344"/>
            <a:ext cx="6583680" cy="256032"/>
          </a:xfrm>
          <a:prstGeom prst="rect">
            <a:avLst/>
          </a:prstGeom>
          <a:noFill/>
        </p:spPr>
        <p:txBody>
          <a:bodyPr wrap="square" anchor="t" lIns="18288" rIns="18288" tIns="0" bIns="0">
            <a:spAutoFit/>
          </a:bodyPr>
          <a:lstStyle/>
          <a:p>
            <a:r>
              <a:rPr sz="1300" b="0">
                <a:solidFill>
                  <a:srgbClr val="EFF4F7"/>
                </a:solidFill>
                <a:latin typeface="Aptos"/>
              </a:rPr>
              <a:t>4  Editer une ligne : seule elle passe de 1 a 2</a:t>
            </a:r>
          </a:p>
        </p:txBody>
      </p:sp>
      <p:sp>
        <p:nvSpPr>
          <p:cNvPr id="24" name="TextBox 23"/>
          <p:cNvSpPr txBox="1"/>
          <p:nvPr/>
        </p:nvSpPr>
        <p:spPr>
          <a:xfrm>
            <a:off x="621792" y="5468112"/>
            <a:ext cx="6583680" cy="256032"/>
          </a:xfrm>
          <a:prstGeom prst="rect">
            <a:avLst/>
          </a:prstGeom>
          <a:noFill/>
        </p:spPr>
        <p:txBody>
          <a:bodyPr wrap="square" anchor="t" lIns="18288" rIns="18288" tIns="0" bIns="0">
            <a:spAutoFit/>
          </a:bodyPr>
          <a:lstStyle/>
          <a:p>
            <a:r>
              <a:rPr sz="1300" b="0">
                <a:solidFill>
                  <a:srgbClr val="EFF4F7"/>
                </a:solidFill>
                <a:latin typeface="Aptos"/>
              </a:rPr>
              <a:t>5  Benchmark : latences, restore et FPS</a:t>
            </a:r>
          </a:p>
        </p:txBody>
      </p:sp>
      <p:sp>
        <p:nvSpPr>
          <p:cNvPr id="25" name="Rounded Rectangle 24"/>
          <p:cNvSpPr/>
          <p:nvPr/>
        </p:nvSpPr>
        <p:spPr>
          <a:xfrm>
            <a:off x="7818120" y="3310128"/>
            <a:ext cx="3794760" cy="233172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92440" y="3593592"/>
            <a:ext cx="3108960" cy="274320"/>
          </a:xfrm>
          <a:prstGeom prst="rect">
            <a:avLst/>
          </a:prstGeom>
          <a:noFill/>
        </p:spPr>
        <p:txBody>
          <a:bodyPr wrap="square" anchor="t" lIns="18288" rIns="18288" tIns="0" bIns="0">
            <a:spAutoFit/>
          </a:bodyPr>
          <a:lstStyle/>
          <a:p>
            <a:r>
              <a:rPr sz="1600" b="1">
                <a:solidFill>
                  <a:srgbClr val="F4CD60"/>
                </a:solidFill>
                <a:latin typeface="Aptos"/>
              </a:rPr>
              <a:t>Validation finale</a:t>
            </a:r>
          </a:p>
        </p:txBody>
      </p:sp>
      <p:sp>
        <p:nvSpPr>
          <p:cNvPr id="27" name="TextBox 26"/>
          <p:cNvSpPr txBox="1"/>
          <p:nvPr/>
        </p:nvSpPr>
        <p:spPr>
          <a:xfrm>
            <a:off x="8119872" y="4114800"/>
            <a:ext cx="2194560" cy="228600"/>
          </a:xfrm>
          <a:prstGeom prst="rect">
            <a:avLst/>
          </a:prstGeom>
          <a:noFill/>
        </p:spPr>
        <p:txBody>
          <a:bodyPr wrap="square" anchor="t" lIns="18288" rIns="18288" tIns="0" bIns="0">
            <a:spAutoFit/>
          </a:bodyPr>
          <a:lstStyle/>
          <a:p>
            <a:r>
              <a:rPr sz="1300" b="1">
                <a:solidFill>
                  <a:srgbClr val="EFF4F7"/>
                </a:solidFill>
                <a:latin typeface="Aptos"/>
              </a:rPr>
              <a:t>Go race tests</a:t>
            </a:r>
          </a:p>
        </p:txBody>
      </p:sp>
      <p:sp>
        <p:nvSpPr>
          <p:cNvPr id="28" name="TextBox 27"/>
          <p:cNvSpPr txBox="1"/>
          <p:nvPr/>
        </p:nvSpPr>
        <p:spPr>
          <a:xfrm>
            <a:off x="8119872" y="4526280"/>
            <a:ext cx="2194560" cy="228600"/>
          </a:xfrm>
          <a:prstGeom prst="rect">
            <a:avLst/>
          </a:prstGeom>
          <a:noFill/>
        </p:spPr>
        <p:txBody>
          <a:bodyPr wrap="square" anchor="t" lIns="18288" rIns="18288" tIns="0" bIns="0">
            <a:spAutoFit/>
          </a:bodyPr>
          <a:lstStyle/>
          <a:p>
            <a:r>
              <a:rPr sz="1300" b="1">
                <a:solidFill>
                  <a:srgbClr val="EFF4F7"/>
                </a:solidFill>
                <a:latin typeface="Aptos"/>
              </a:rPr>
              <a:t>Tests TypeScript</a:t>
            </a:r>
          </a:p>
        </p:txBody>
      </p:sp>
      <p:sp>
        <p:nvSpPr>
          <p:cNvPr id="29" name="TextBox 28"/>
          <p:cNvSpPr txBox="1"/>
          <p:nvPr/>
        </p:nvSpPr>
        <p:spPr>
          <a:xfrm>
            <a:off x="8119872" y="4937760"/>
            <a:ext cx="2560320" cy="228600"/>
          </a:xfrm>
          <a:prstGeom prst="rect">
            <a:avLst/>
          </a:prstGeom>
          <a:noFill/>
        </p:spPr>
        <p:txBody>
          <a:bodyPr wrap="square" anchor="t" lIns="18288" rIns="18288" tIns="0" bIns="0">
            <a:spAutoFit/>
          </a:bodyPr>
          <a:lstStyle/>
          <a:p>
            <a:r>
              <a:rPr sz="1300" b="1">
                <a:solidFill>
                  <a:srgbClr val="EFF4F7"/>
                </a:solidFill>
                <a:latin typeface="Aptos"/>
              </a:rPr>
              <a:t>Build WASM + React</a:t>
            </a:r>
          </a:p>
        </p:txBody>
      </p:sp>
      <p:sp>
        <p:nvSpPr>
          <p:cNvPr id="30" name="TextBox 29"/>
          <p:cNvSpPr txBox="1"/>
          <p:nvPr/>
        </p:nvSpPr>
        <p:spPr>
          <a:xfrm>
            <a:off x="10561320" y="4114800"/>
            <a:ext cx="502920" cy="228600"/>
          </a:xfrm>
          <a:prstGeom prst="rect">
            <a:avLst/>
          </a:prstGeom>
          <a:noFill/>
        </p:spPr>
        <p:txBody>
          <a:bodyPr wrap="square" anchor="t" lIns="18288" rIns="18288" tIns="0" bIns="0">
            <a:spAutoFit/>
          </a:bodyPr>
          <a:lstStyle/>
          <a:p>
            <a:r>
              <a:rPr sz="1300" b="1">
                <a:solidFill>
                  <a:srgbClr val="5ECD91"/>
                </a:solidFill>
                <a:latin typeface="Aptos"/>
              </a:rPr>
              <a:t>OK</a:t>
            </a:r>
          </a:p>
        </p:txBody>
      </p:sp>
      <p:sp>
        <p:nvSpPr>
          <p:cNvPr id="31" name="TextBox 30"/>
          <p:cNvSpPr txBox="1"/>
          <p:nvPr/>
        </p:nvSpPr>
        <p:spPr>
          <a:xfrm>
            <a:off x="10561320" y="4526280"/>
            <a:ext cx="502920" cy="228600"/>
          </a:xfrm>
          <a:prstGeom prst="rect">
            <a:avLst/>
          </a:prstGeom>
          <a:noFill/>
        </p:spPr>
        <p:txBody>
          <a:bodyPr wrap="square" anchor="t" lIns="18288" rIns="18288" tIns="0" bIns="0">
            <a:spAutoFit/>
          </a:bodyPr>
          <a:lstStyle/>
          <a:p>
            <a:r>
              <a:rPr sz="1300" b="1">
                <a:solidFill>
                  <a:srgbClr val="5ECD91"/>
                </a:solidFill>
                <a:latin typeface="Aptos"/>
              </a:rPr>
              <a:t>OK</a:t>
            </a:r>
          </a:p>
        </p:txBody>
      </p:sp>
      <p:sp>
        <p:nvSpPr>
          <p:cNvPr id="32" name="TextBox 31"/>
          <p:cNvSpPr txBox="1"/>
          <p:nvPr/>
        </p:nvSpPr>
        <p:spPr>
          <a:xfrm>
            <a:off x="10561320" y="4937760"/>
            <a:ext cx="502920" cy="228600"/>
          </a:xfrm>
          <a:prstGeom prst="rect">
            <a:avLst/>
          </a:prstGeom>
          <a:noFill/>
        </p:spPr>
        <p:txBody>
          <a:bodyPr wrap="square" anchor="t" lIns="18288" rIns="18288" tIns="0" bIns="0">
            <a:spAutoFit/>
          </a:bodyPr>
          <a:lstStyle/>
          <a:p>
            <a:r>
              <a:rPr sz="1300" b="1">
                <a:solidFill>
                  <a:srgbClr val="5ECD91"/>
                </a:solidFill>
                <a:latin typeface="Aptos"/>
              </a:rPr>
              <a:t>OK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