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512064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00" b="1">
                <a:solidFill>
                  <a:srgbClr val="2DC1B7"/>
                </a:solidFill>
                <a:latin typeface="Aptos"/>
              </a:rPr>
              <a:t>WASM / REDIS /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078992"/>
            <a:ext cx="6400800" cy="7498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5100" b="1">
                <a:solidFill>
                  <a:srgbClr val="EFF4F7"/>
                </a:solidFill>
                <a:latin typeface="Aptos"/>
              </a:rPr>
              <a:t>WasmRedis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7132320" cy="4114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0">
                <a:solidFill>
                  <a:srgbClr val="99A9B7"/>
                </a:solidFill>
                <a:latin typeface="Aptos"/>
              </a:rPr>
              <a:t>Une base Redis lite, entierement dans le navigateur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70632"/>
            <a:ext cx="67665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900" b="1">
                <a:solidFill>
                  <a:srgbClr val="EFF4F7"/>
                </a:solidFill>
                <a:latin typeface="Aptos"/>
              </a:rPr>
              <a:t>Go en RAM. OPFS sur disque. React reste fluide.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914400"/>
            <a:ext cx="2423160" cy="585216"/>
          </a:xfrm>
          <a:prstGeom prst="round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060704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0A1019"/>
                </a:solidFill>
                <a:latin typeface="Aptos"/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423160" cy="585216"/>
          </a:xfrm>
          <a:prstGeom prst="roundRect">
            <a:avLst/>
          </a:prstGeom>
          <a:solidFill>
            <a:srgbClr val="F4C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8" y="2020823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0A1019"/>
                </a:solidFill>
                <a:latin typeface="Aptos"/>
              </a:rPr>
              <a:t>SDK 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834640"/>
            <a:ext cx="2423160" cy="585216"/>
          </a:xfrm>
          <a:prstGeom prst="round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2980944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0A1019"/>
                </a:solidFill>
                <a:latin typeface="Aptos"/>
              </a:rPr>
              <a:t>Worker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794760"/>
            <a:ext cx="2423160" cy="585216"/>
          </a:xfrm>
          <a:prstGeom prst="roundRect">
            <a:avLst/>
          </a:prstGeom>
          <a:solidFill>
            <a:srgbClr val="5E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7968" y="3941064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0A1019"/>
                </a:solidFill>
                <a:latin typeface="Aptos"/>
              </a:rPr>
              <a:t>Go/WASM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754880"/>
            <a:ext cx="2423160" cy="585216"/>
          </a:xfrm>
          <a:prstGeom prst="roundRect">
            <a:avLst/>
          </a:prstGeom>
          <a:solidFill>
            <a:srgbClr val="F0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4901184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0A1019"/>
                </a:solidFill>
                <a:latin typeface="Aptos"/>
              </a:rPr>
              <a:t>OPFS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36208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0">
                <a:solidFill>
                  <a:srgbClr val="99A9B7"/>
                </a:solidFill>
                <a:latin typeface="Aptos"/>
              </a:rPr>
              <a:t>Projet local, sans serveur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Une commande, cinq etapes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Le fil rouge de toute la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874519" cy="120700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874519" cy="91440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600" b="1">
                <a:solidFill>
                  <a:srgbClr val="EFF4F7"/>
                </a:solidFill>
                <a:latin typeface="Aptos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9456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0">
                <a:solidFill>
                  <a:srgbClr val="99A9B7"/>
                </a:solidFill>
                <a:latin typeface="Aptos"/>
              </a:rPr>
              <a:t>CRUD + liste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874519"/>
            <a:ext cx="2286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1">
                <a:solidFill>
                  <a:srgbClr val="F57F4D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481328"/>
            <a:ext cx="1874519" cy="120700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1481328"/>
            <a:ext cx="1874519" cy="91440"/>
          </a:xfrm>
          <a:prstGeom prst="rect">
            <a:avLst/>
          </a:prstGeom>
          <a:solidFill>
            <a:srgbClr val="F4C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1828800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600" b="1">
                <a:solidFill>
                  <a:srgbClr val="EFF4F7"/>
                </a:solidFill>
                <a:latin typeface="Aptos"/>
              </a:rPr>
              <a:t>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19456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0">
                <a:solidFill>
                  <a:srgbClr val="99A9B7"/>
                </a:solidFill>
                <a:latin typeface="Aptos"/>
              </a:rPr>
              <a:t>types + Zod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74519"/>
            <a:ext cx="2286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1">
                <a:solidFill>
                  <a:srgbClr val="F57F4D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3" y="1481328"/>
            <a:ext cx="1874519" cy="120700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9783" y="1481328"/>
            <a:ext cx="1874519" cy="9144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5" y="1828800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600" b="1">
                <a:solidFill>
                  <a:srgbClr val="EFF4F7"/>
                </a:solidFill>
                <a:latin typeface="Aptos"/>
              </a:rPr>
              <a:t>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5" y="219456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0">
                <a:solidFill>
                  <a:srgbClr val="99A9B7"/>
                </a:solidFill>
                <a:latin typeface="Aptos"/>
              </a:rPr>
              <a:t>postMessage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1874519"/>
            <a:ext cx="2286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1">
                <a:solidFill>
                  <a:srgbClr val="F57F4D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6" y="1481328"/>
            <a:ext cx="1874519" cy="120700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6" y="1481328"/>
            <a:ext cx="1874519" cy="91440"/>
          </a:xfrm>
          <a:prstGeom prst="rect">
            <a:avLst/>
          </a:prstGeom>
          <a:solidFill>
            <a:srgbClr val="5E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828800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600" b="1">
                <a:solidFill>
                  <a:srgbClr val="EFF4F7"/>
                </a:solidFill>
                <a:latin typeface="Aptos"/>
              </a:rPr>
              <a:t>Go/WASM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9456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0">
                <a:solidFill>
                  <a:srgbClr val="99A9B7"/>
                </a:solidFill>
                <a:latin typeface="Aptos"/>
              </a:rPr>
              <a:t>state +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1874519"/>
            <a:ext cx="2286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1">
                <a:solidFill>
                  <a:srgbClr val="F57F4D"/>
                </a:solidFill>
                <a:latin typeface="Aptos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481328"/>
            <a:ext cx="1874519" cy="120700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6648" y="1481328"/>
            <a:ext cx="1874519" cy="91440"/>
          </a:xfrm>
          <a:prstGeom prst="rect">
            <a:avLst/>
          </a:prstGeom>
          <a:solidFill>
            <a:srgbClr val="F0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828800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600" b="1">
                <a:solidFill>
                  <a:srgbClr val="EFF4F7"/>
                </a:solidFill>
                <a:latin typeface="Aptos"/>
              </a:rPr>
              <a:t>OPFS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194560"/>
            <a:ext cx="1554480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0">
                <a:solidFill>
                  <a:srgbClr val="99A9B7"/>
                </a:solidFill>
                <a:latin typeface="Aptos"/>
              </a:rPr>
              <a:t>AOF + snapshot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246120"/>
            <a:ext cx="274320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99A9B7"/>
                </a:solidFill>
                <a:latin typeface="Aptos"/>
              </a:rPr>
              <a:t>Cycle de persistance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703320"/>
            <a:ext cx="2304288" cy="713232"/>
          </a:xfrm>
          <a:prstGeom prst="roundRect">
            <a:avLst/>
          </a:prstGeom>
          <a:solidFill>
            <a:srgbClr val="1C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703320"/>
            <a:ext cx="73152" cy="71323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922776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state 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886200"/>
            <a:ext cx="2286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1">
                <a:solidFill>
                  <a:srgbClr val="2DC1B7"/>
                </a:solidFill>
                <a:latin typeface="Aptos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3703320"/>
            <a:ext cx="2304288" cy="713232"/>
          </a:xfrm>
          <a:prstGeom prst="roundRect">
            <a:avLst/>
          </a:prstGeom>
          <a:solidFill>
            <a:srgbClr val="1C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1568" y="3703320"/>
            <a:ext cx="73152" cy="713232"/>
          </a:xfrm>
          <a:prstGeom prst="rect">
            <a:avLst/>
          </a:prstGeom>
          <a:solidFill>
            <a:srgbClr val="F4C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30168" y="3922776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buffer 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886200"/>
            <a:ext cx="2286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1">
                <a:solidFill>
                  <a:srgbClr val="F4CD60"/>
                </a:solidFill>
                <a:latin typeface="Aptos"/>
              </a:rP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3703320"/>
            <a:ext cx="2304288" cy="713232"/>
          </a:xfrm>
          <a:prstGeom prst="roundRect">
            <a:avLst/>
          </a:prstGeom>
          <a:solidFill>
            <a:srgbClr val="1C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6208" y="3703320"/>
            <a:ext cx="73152" cy="71323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3922776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AOF ~1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886200"/>
            <a:ext cx="2286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800" b="1">
                <a:solidFill>
                  <a:srgbClr val="F57F4D"/>
                </a:solidFill>
                <a:latin typeface="Aptos"/>
              </a:rPr>
              <a:t>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0848" y="3703320"/>
            <a:ext cx="2304288" cy="713232"/>
          </a:xfrm>
          <a:prstGeom prst="roundRect">
            <a:avLst/>
          </a:prstGeom>
          <a:solidFill>
            <a:srgbClr val="1C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70848" y="3703320"/>
            <a:ext cx="73152" cy="713232"/>
          </a:xfrm>
          <a:prstGeom prst="rect">
            <a:avLst/>
          </a:prstGeom>
          <a:solidFill>
            <a:srgbClr val="F0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3922776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snapshot ~2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React ne bloque jamais : le moteur et le disque vivent dans le worker.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La RAM donne la vitesse ; AOF + snapshot donnent la persistance.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Le parser protege l'entree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Du texte vers une commande Go valide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4297680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61904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1">
                <a:solidFill>
                  <a:srgbClr val="2DC1B7"/>
                </a:solidFill>
                <a:latin typeface="Aptos"/>
              </a:rPr>
              <a:t>internal/redis/parser.go:44-51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0625328" cy="35478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0">
                <a:solidFill>
                  <a:srgbClr val="EFF4F7"/>
                </a:solidFill>
                <a:latin typeface="Courier New"/>
              </a:rPr>
              <a:t>44      switch CommandType(commandName) {
45  
46      // GET accepte soit une cle, soit la forme GET WHERE.
47      case CommandGet:
48          if len(parts) &gt; 1 &amp;&amp; strings.EqualFold(parts[1], "WHERE") {
49              return parseWhereCommand(parts)
50          }
51          return parseKeyCommand(CommandGet, parts)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GET WHERE est distingue d'un GET par 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Toute commande inconnue est rejetee avant le moteur.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Le buffer appartient au moteur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Les ecritures attendent en RAM avant le flush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4297680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61904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1">
                <a:solidFill>
                  <a:srgbClr val="2DC1B7"/>
                </a:solidFill>
                <a:latin typeface="Aptos"/>
              </a:rPr>
              <a:t>internal/redis/engine.go:230-239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0625328" cy="35478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0">
                <a:solidFill>
                  <a:srgbClr val="EFF4F7"/>
                </a:solidFill>
                <a:latin typeface="Courier New"/>
              </a:rPr>
              <a:t>230  func (engine *Engine) DrainBuffer() []Operation {
231      engine.bufferMu.Lock()
232      defer engine.bufferMu.Unlock()
233  
234      writes := make([]Operation, len(engine.buffer))
235      copy(writes, engine.buffer)
236      engine.buffer = engine.buffer[:0]
237      return writes
238  }
239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Le mutex interdit deux vidages concurrents.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DrainBuffer copie les operations puis remet la file a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AOF puis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Le worker serialise l'acces OPFS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4297680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61904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1">
                <a:solidFill>
                  <a:srgbClr val="2DC1B7"/>
                </a:solidFill>
                <a:latin typeface="Aptos"/>
              </a:rPr>
              <a:t>web/src/worker/wasmRedis.worker.ts:386-400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0625328" cy="35478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482" b="0">
                <a:solidFill>
                  <a:srgbClr val="EFF4F7"/>
                </a:solidFill>
                <a:latin typeface="Courier New"/>
              </a:rPr>
              <a:t>386  async function writePendingAof(): Promise&lt;void&gt; {
387    const writes = retryAof.concat(drainGoBuffer());
388    if (writes.length === 0) {
389      return;
390    }
391  
392    retryAof = [];
393    const lines = writes.map((operation) =&gt; JSON.stringify(operation)).join("\n") + "\n";
394    try {
395      await appendOpfsText(aofFileName, lines);
396    } catch (error) {
397      retryAof = writes.concat(retryAof);
398      throw error;
399    }
400 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L'AOF est ajoute en fin de fichier, jamais reecrit a chaque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En cas d'echec OPFS, les operations retournent dans retryAof.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Les plages passent par le B-Tree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Le parcours s'arrete des que la limite est depassee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4297680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61904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1">
                <a:solidFill>
                  <a:srgbClr val="2DC1B7"/>
                </a:solidFill>
                <a:latin typeface="Aptos"/>
              </a:rPr>
              <a:t>internal/redis/btree.go:95-103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0625328" cy="35478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0">
                <a:solidFill>
                  <a:srgbClr val="EFF4F7"/>
                </a:solidFill>
                <a:latin typeface="Courier New"/>
              </a:rPr>
              <a:t> 95      if operator == OperatorLessThan || operator == OperatorLessOrEqual {
 96          tree.walkAscending(tree.root, func(item BTreeItem) bool {
 97              if !matchesRange(item.Value, operator, target) {
 98                  return false
 99              }
100              items = append(items, item)
101              return true
102          })
103          return items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equals utilise un index inverse ; contains assume un scan.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Une plage selective reste a environ 0,3 us jusqu'a 10 000 entrees.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Le TTL supprime vraiment la 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State, index et AOF restent coherents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4297680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61904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1">
                <a:solidFill>
                  <a:srgbClr val="2DC1B7"/>
                </a:solidFill>
                <a:latin typeface="Aptos"/>
              </a:rPr>
              <a:t>internal/redis/engine.go:451-459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0625328" cy="35478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0">
                <a:solidFill>
                  <a:srgbClr val="EFF4F7"/>
                </a:solidFill>
                <a:latin typeface="Courier New"/>
              </a:rPr>
              <a:t>451  func (engine *Engine) removeIfExpiredLocked(key string, stored StoredValue) bool {
452      if !engine.isExpired(stored) {
453          return false
454      }
455  
456      delete(engine.state, key)
457      engine.removeFromEqualsIndexLocked(key, stored.Value)
458      engine.removeFromNumberIndexLocked(stored.Value)
459      return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Expiration lazy au GET, plus balayage actif periodique.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Le restore garde ExpiresAt et ne remplit pas de nouveau le buffer.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Le SDK rend les requetes typees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Les erreurs simples sont trouvees avant l'execution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4297680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61904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1">
                <a:solidFill>
                  <a:srgbClr val="2DC1B7"/>
                </a:solidFill>
                <a:latin typeface="Aptos"/>
              </a:rPr>
              <a:t>web/src/sdk/wasmRedis.ts:35-42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0625328" cy="35478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437" b="0">
                <a:solidFill>
                  <a:srgbClr val="EFF4F7"/>
                </a:solidFill>
                <a:latin typeface="Courier New"/>
              </a:rPr>
              <a:t>35  export type WhereMethod&lt;Schema extends Record&lt;string, unknown&gt;&gt; = {
36    &lt;Key extends RedisKey&lt;Schema&gt;&gt;(
37      field: Key,
38      operator: FilterOperatorFor&lt;Schema[Key]&gt;,
39      value: Schema[Key],
40    ): WhereQuery&lt;Schema&gt;;
41    (field: FilterField, operator: FilterOperator, value: string | number): WhereQuery&lt;Schema&gt;;
42  };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age: number autorise les plages ; name: string autorise contains.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Zod revalide aussi les donnees au runtime avant postMessage.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100 000 entrees, 29 lignes 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Virtual scroll maison + abonnement 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98448"/>
            <a:ext cx="11173968" cy="4297680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0661904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950" b="1">
                <a:solidFill>
                  <a:srgbClr val="2DC1B7"/>
                </a:solidFill>
                <a:latin typeface="Aptos"/>
              </a:rPr>
              <a:t>web/src/virtual/getVirtualRange.ts:22-27   |   web/src/store/entryStore.ts:60-64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10625328" cy="35478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422" b="0">
                <a:solidFill>
                  <a:srgbClr val="EFF4F7"/>
                </a:solidFill>
                <a:latin typeface="Courier New"/>
              </a:rPr>
              <a:t>22    const firstVisible = Math.min(itemCount - 1, Math.floor(scrollTop / rowHeight));
23    const startIndex = Math.max(0, firstVisible - overscan);
24    const visibleCount = Math.ceil(viewportHeight / rowHeight) + overscan * 2;
25    const endIndex = Math.min(itemCount, startIndex + visibleCount);
26  
27    return { startIndex, endIndex, totalHeight: itemCount * rowHeight };
60  export function useEntry(key: string): StoreEntry | undefined {
61    const subscribe = useCallback((listener: Listener) =&gt; subscribeEntry(key, listener), [key]);
62    const getSnapshot = useCallback(() =&gt; getEntry(key), [key]);
63    return useSyncExternalStore(subscribe, getSnapshot, getSnapshot);
64 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870448"/>
            <a:ext cx="73152" cy="438912"/>
          </a:xfrm>
          <a:prstGeom prst="rect">
            <a:avLst/>
          </a:prstGeom>
          <a:solidFill>
            <a:srgbClr val="2DC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Le spacer simule la hauteur totale ; seule la tranche visible est montee.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5870448"/>
            <a:ext cx="73152" cy="438912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5852160"/>
            <a:ext cx="5440680" cy="438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1">
                <a:solidFill>
                  <a:srgbClr val="EFF4F7"/>
                </a:solidFill>
                <a:latin typeface="Aptos"/>
              </a:rPr>
              <a:t>Modifier une ligne : compteur 1 -&gt; 2 ; autre ligne : 1 -&gt;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EFF4F7"/>
                </a:solidFill>
                <a:latin typeface="Aptos"/>
              </a:rPr>
              <a:t>Ce que la demo prouve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04088"/>
            <a:ext cx="987552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150" b="0">
                <a:solidFill>
                  <a:srgbClr val="99A9B7"/>
                </a:solidFill>
                <a:latin typeface="Aptos"/>
              </a:rPr>
              <a:t>Mesures reelles, parcours reproductible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005840"/>
            <a:ext cx="1078992" cy="45720"/>
          </a:xfrm>
          <a:prstGeom prst="rect">
            <a:avLst/>
          </a:prstGeom>
          <a:solidFill>
            <a:srgbClr val="F5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200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1">
                <a:solidFill>
                  <a:srgbClr val="99A9B7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417320"/>
            <a:ext cx="2532888" cy="129844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0784"/>
            <a:ext cx="2011680" cy="40233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2DC1B7"/>
                </a:solidFill>
                <a:latin typeface="Aptos"/>
              </a:rPr>
              <a:t>15,5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12848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0">
                <a:solidFill>
                  <a:srgbClr val="99A9B7"/>
                </a:solidFill>
                <a:latin typeface="Aptos"/>
              </a:rPr>
              <a:t>gain batch / 30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417320"/>
            <a:ext cx="2532888" cy="129844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700784"/>
            <a:ext cx="2011680" cy="40233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5ECD91"/>
                </a:solidFill>
                <a:latin typeface="Aptos"/>
              </a:rPr>
              <a:t>~0,3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212848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0">
                <a:solidFill>
                  <a:srgbClr val="99A9B7"/>
                </a:solidFill>
                <a:latin typeface="Aptos"/>
              </a:rPr>
              <a:t>range selective / 10k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17320"/>
            <a:ext cx="2532888" cy="129844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700784"/>
            <a:ext cx="2011680" cy="40233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F4CD60"/>
                </a:solidFill>
                <a:latin typeface="Aptos"/>
              </a:rPr>
              <a:t>60 FPS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212848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0">
                <a:solidFill>
                  <a:srgbClr val="99A9B7"/>
                </a:solidFill>
                <a:latin typeface="Aptos"/>
              </a:rPr>
              <a:t>scroll mesure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417320"/>
            <a:ext cx="2532888" cy="1298448"/>
          </a:xfrm>
          <a:prstGeom prst="roundRect">
            <a:avLst/>
          </a:prstGeom>
          <a:solidFill>
            <a:srgbClr val="121C29"/>
          </a:solidFill>
          <a:ln>
            <a:solidFill>
              <a:srgbClr val="1C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1700784"/>
            <a:ext cx="2011680" cy="40233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500" b="1">
                <a:solidFill>
                  <a:srgbClr val="F57F4D"/>
                </a:solidFill>
                <a:latin typeface="Aptos"/>
              </a:rPr>
              <a:t>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212848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000" b="0">
                <a:solidFill>
                  <a:srgbClr val="99A9B7"/>
                </a:solidFill>
                <a:latin typeface="Aptos"/>
              </a:rPr>
              <a:t>lignes DOM / 100k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246120"/>
            <a:ext cx="365760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700" b="1">
                <a:solidFill>
                  <a:srgbClr val="EFF4F7"/>
                </a:solidFill>
                <a:latin typeface="Aptos"/>
              </a:rPr>
              <a:t>Demo en 60 secondes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749039"/>
            <a:ext cx="65836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1  SET avec TTL, puis Flush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178807"/>
            <a:ext cx="65836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0">
                <a:solidFill>
                  <a:srgbClr val="EFF4F7"/>
                </a:solidFill>
                <a:latin typeface="Aptos"/>
              </a:rPr>
              <a:t>2  Recharger : la cle revient depuis OPFS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608575"/>
            <a:ext cx="65836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0">
                <a:solidFill>
                  <a:srgbClr val="EFF4F7"/>
                </a:solidFill>
                <a:latin typeface="Aptos"/>
              </a:rPr>
              <a:t>3  Seed 100, puis value &gt;=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038344"/>
            <a:ext cx="65836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0">
                <a:solidFill>
                  <a:srgbClr val="EFF4F7"/>
                </a:solidFill>
                <a:latin typeface="Aptos"/>
              </a:rPr>
              <a:t>4  Editer une ligne : seule elle passe de 1 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468112"/>
            <a:ext cx="65836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0">
                <a:solidFill>
                  <a:srgbClr val="EFF4F7"/>
                </a:solidFill>
                <a:latin typeface="Aptos"/>
              </a:rPr>
              <a:t>5  Benchmark : latences, restore et FPS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310128"/>
            <a:ext cx="3794760" cy="2331720"/>
          </a:xfrm>
          <a:prstGeom prst="roundRect">
            <a:avLst/>
          </a:prstGeom>
          <a:solidFill>
            <a:srgbClr val="1C2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593592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600" b="1">
                <a:solidFill>
                  <a:srgbClr val="F4CD60"/>
                </a:solidFill>
                <a:latin typeface="Aptos"/>
              </a:rPr>
              <a:t>Validation finale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4114800"/>
            <a:ext cx="21945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Go race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4526280"/>
            <a:ext cx="21945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Tests TypeScript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4937760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EFF4F7"/>
                </a:solidFill>
                <a:latin typeface="Aptos"/>
              </a:rPr>
              <a:t>Build WASM + React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114800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5ECD91"/>
                </a:solidFill>
                <a:latin typeface="Aptos"/>
              </a:rPr>
              <a:t>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526280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5ECD91"/>
                </a:solidFill>
                <a:latin typeface="Aptos"/>
              </a:rPr>
              <a:t>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937760"/>
            <a:ext cx="50292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300" b="1">
                <a:solidFill>
                  <a:srgbClr val="5ECD91"/>
                </a:solidFill>
                <a:latin typeface="Aptos"/>
              </a:rPr>
              <a:t>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