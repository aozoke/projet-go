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presente une base cle-valeur volontairement simple. Le coeur metier est en Go, compile en WebAssembly. React pilote le moteur sans serveur, et OPFS garde les donnees.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pars d'un clic dans React. Le SDK valide puis envoie un message au worker. Le worker appelle Go/WASM. Go modifie le state et son buffer, puis le worker vide ce buffer dans OPFS. C'est la carte mentale a garder pour la suite.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schema montre le trajet depuis React jusqu'au moteur. La fonction affichee est le point d'entree Go expose a JavaScript : wasmRedisExecute verifie la requete, decode le JSON puis appelle Engine.ExecuteBatch. Le moteur et les acces OPFS restent dans le worker car les Sync Access Handles ne sont pas disponibles sur le main thread.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ParseCommand nettoie le texte puis lit le nom de commande. L'extrait garde la decision la plus interessante : pour GET, le parser distingue GET WHERE d'une lecture par cle. Le default montre aussi qu'une commande inconnue est rejetee avant le moteur.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fonction execute contient la decision importante : son switch choisit Set, Get ou Delete. Set et Delete modifient state et renvoient une Operation a persister, alors que Get renvoie seulement la valeur. Execute ajoutera ensuite ces operations au buffer. Les numeros de ligne sautent car seuls les trois cas utiles sont affiches.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restoreFromOpfs est la fonction centrale du redemarrage. Elle lit snapshot.json et le charge dans Go, puis lit aof.log, reconstruit les operations valides et les rejoue. Les lignes de validation secondaire sont coupees, mais chaque ligne visible vient du fichier indique. Les intervalles et tailles sont fournis par le fichier .env.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ExecuteBatch prend un verrou pour qu'aucun autre batch ne s'intercale. La boucle execute chaque commande dans l'ordre, ajoute son resultat au meme index logique et rassemble les ecritures. Le benchmark mesure 15,5 fois moins de cout pour trente SET regroupes.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une recherche inferieure, le B-Tree est parcouru dans l'ordre croissant. Des qu'une valeur ne correspond plus, la fonction retourne false et coupe le parcours. Le cas superieur fait la meme chose en sens inverse.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valeur garde une date ExpiresAt. Si elle est depassee, cette fonction retire la cle du state et des deux index. L'appelant cree ensuite une operation DELETE pour l'AOF. Une horloge injectable rend ce comportement testable sans attendre.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calcul transforme scrollTop en startIndex et endIndex, avec huit lignes de marge. Le test utilise 100 000 entrees et ne depasse jamais 29 lignes. Chaque EntryRow s'abonne a une seule cle avec useSyncExternalStore, donc une edition ne reveille pas les autres.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termine par une demo courte : ajouter une cle avec TTL, forcer le flush, recharger, lancer Seed 100, filtrer value &gt;= 50, editer une ligne puis lancer Benchmark. Le dataset 100k existe dans le repo mais n'est pas charge par defaut sur ce petit PC.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
            <a:ext cx="5120640" cy="228600"/>
          </a:xfrm>
          <a:prstGeom prst="rect">
            <a:avLst/>
          </a:prstGeom>
          <a:noFill/>
        </p:spPr>
        <p:txBody>
          <a:bodyPr wrap="square" anchor="t" lIns="18288" rIns="18288" tIns="0" bIns="0">
            <a:spAutoFit/>
          </a:bodyPr>
          <a:lstStyle/>
          <a:p>
            <a:r>
              <a:rPr sz="1100" b="1">
                <a:solidFill>
                  <a:srgbClr val="2DC1B7"/>
                </a:solidFill>
                <a:latin typeface="Aptos"/>
              </a:rPr>
              <a:t>WASM / REDIS / REACT</a:t>
            </a:r>
          </a:p>
        </p:txBody>
      </p:sp>
      <p:sp>
        <p:nvSpPr>
          <p:cNvPr id="5" name="TextBox 4"/>
          <p:cNvSpPr txBox="1"/>
          <p:nvPr/>
        </p:nvSpPr>
        <p:spPr>
          <a:xfrm>
            <a:off x="694944" y="1078992"/>
            <a:ext cx="6400800" cy="749808"/>
          </a:xfrm>
          <a:prstGeom prst="rect">
            <a:avLst/>
          </a:prstGeom>
          <a:noFill/>
        </p:spPr>
        <p:txBody>
          <a:bodyPr wrap="square" anchor="t" lIns="18288" rIns="18288" tIns="0" bIns="0">
            <a:spAutoFit/>
          </a:bodyPr>
          <a:lstStyle/>
          <a:p>
            <a:r>
              <a:rPr sz="5100" b="1">
                <a:solidFill>
                  <a:srgbClr val="EFF4F7"/>
                </a:solidFill>
                <a:latin typeface="Aptos"/>
              </a:rPr>
              <a:t>WasmRedis</a:t>
            </a:r>
          </a:p>
        </p:txBody>
      </p:sp>
      <p:sp>
        <p:nvSpPr>
          <p:cNvPr id="6" name="TextBox 5"/>
          <p:cNvSpPr txBox="1"/>
          <p:nvPr/>
        </p:nvSpPr>
        <p:spPr>
          <a:xfrm>
            <a:off x="731520" y="1938528"/>
            <a:ext cx="7132320" cy="411480"/>
          </a:xfrm>
          <a:prstGeom prst="rect">
            <a:avLst/>
          </a:prstGeom>
          <a:noFill/>
        </p:spPr>
        <p:txBody>
          <a:bodyPr wrap="square" anchor="t" lIns="18288" rIns="18288" tIns="0" bIns="0">
            <a:spAutoFit/>
          </a:bodyPr>
          <a:lstStyle/>
          <a:p>
            <a:r>
              <a:rPr sz="1800" b="0">
                <a:solidFill>
                  <a:srgbClr val="99A9B7"/>
                </a:solidFill>
                <a:latin typeface="Aptos"/>
              </a:rPr>
              <a:t>Une base Redis lite, entierement dans le navigateur</a:t>
            </a:r>
          </a:p>
        </p:txBody>
      </p:sp>
      <p:sp>
        <p:nvSpPr>
          <p:cNvPr id="7" name="TextBox 6"/>
          <p:cNvSpPr txBox="1"/>
          <p:nvPr/>
        </p:nvSpPr>
        <p:spPr>
          <a:xfrm>
            <a:off x="731520" y="2770632"/>
            <a:ext cx="6766560" cy="384048"/>
          </a:xfrm>
          <a:prstGeom prst="rect">
            <a:avLst/>
          </a:prstGeom>
          <a:noFill/>
        </p:spPr>
        <p:txBody>
          <a:bodyPr wrap="square" anchor="t" lIns="18288" rIns="18288" tIns="0" bIns="0">
            <a:spAutoFit/>
          </a:bodyPr>
          <a:lstStyle/>
          <a:p>
            <a:r>
              <a:rPr sz="1900" b="1">
                <a:solidFill>
                  <a:srgbClr val="EFF4F7"/>
                </a:solidFill>
                <a:latin typeface="Aptos"/>
              </a:rPr>
              <a:t>Go en RAM. OPFS sur disque. React reste fluide.</a:t>
            </a:r>
          </a:p>
        </p:txBody>
      </p:sp>
      <p:sp>
        <p:nvSpPr>
          <p:cNvPr id="8" name="Rounded Rectangle 7"/>
          <p:cNvSpPr/>
          <p:nvPr/>
        </p:nvSpPr>
        <p:spPr>
          <a:xfrm>
            <a:off x="8641080" y="914400"/>
            <a:ext cx="2423160" cy="585216"/>
          </a:xfrm>
          <a:prstGeom prst="round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7968" y="1060704"/>
            <a:ext cx="1920240" cy="228600"/>
          </a:xfrm>
          <a:prstGeom prst="rect">
            <a:avLst/>
          </a:prstGeom>
          <a:noFill/>
        </p:spPr>
        <p:txBody>
          <a:bodyPr wrap="square" anchor="t" lIns="18288" rIns="18288" tIns="0" bIns="0">
            <a:spAutoFit/>
          </a:bodyPr>
          <a:lstStyle/>
          <a:p>
            <a:r>
              <a:rPr sz="1500" b="1">
                <a:solidFill>
                  <a:srgbClr val="0A1019"/>
                </a:solidFill>
                <a:latin typeface="Aptos"/>
              </a:rPr>
              <a:t>React</a:t>
            </a:r>
          </a:p>
        </p:txBody>
      </p:sp>
      <p:sp>
        <p:nvSpPr>
          <p:cNvPr id="10" name="Rounded Rectangle 9"/>
          <p:cNvSpPr/>
          <p:nvPr/>
        </p:nvSpPr>
        <p:spPr>
          <a:xfrm>
            <a:off x="8641080" y="1874519"/>
            <a:ext cx="2423160" cy="585216"/>
          </a:xfrm>
          <a:prstGeom prst="roundRect">
            <a:avLst/>
          </a:prstGeom>
          <a:solidFill>
            <a:srgbClr val="F4C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87968" y="2020823"/>
            <a:ext cx="1920240" cy="228600"/>
          </a:xfrm>
          <a:prstGeom prst="rect">
            <a:avLst/>
          </a:prstGeom>
          <a:noFill/>
        </p:spPr>
        <p:txBody>
          <a:bodyPr wrap="square" anchor="t" lIns="18288" rIns="18288" tIns="0" bIns="0">
            <a:spAutoFit/>
          </a:bodyPr>
          <a:lstStyle/>
          <a:p>
            <a:r>
              <a:rPr sz="1500" b="1">
                <a:solidFill>
                  <a:srgbClr val="0A1019"/>
                </a:solidFill>
                <a:latin typeface="Aptos"/>
              </a:rPr>
              <a:t>SDK TS</a:t>
            </a:r>
          </a:p>
        </p:txBody>
      </p:sp>
      <p:sp>
        <p:nvSpPr>
          <p:cNvPr id="12" name="Rounded Rectangle 11"/>
          <p:cNvSpPr/>
          <p:nvPr/>
        </p:nvSpPr>
        <p:spPr>
          <a:xfrm>
            <a:off x="8641080" y="2834640"/>
            <a:ext cx="2423160" cy="585216"/>
          </a:xfrm>
          <a:prstGeom prst="round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87968" y="2980944"/>
            <a:ext cx="1920240" cy="228600"/>
          </a:xfrm>
          <a:prstGeom prst="rect">
            <a:avLst/>
          </a:prstGeom>
          <a:noFill/>
        </p:spPr>
        <p:txBody>
          <a:bodyPr wrap="square" anchor="t" lIns="18288" rIns="18288" tIns="0" bIns="0">
            <a:spAutoFit/>
          </a:bodyPr>
          <a:lstStyle/>
          <a:p>
            <a:r>
              <a:rPr sz="1500" b="1">
                <a:solidFill>
                  <a:srgbClr val="0A1019"/>
                </a:solidFill>
                <a:latin typeface="Aptos"/>
              </a:rPr>
              <a:t>Worker</a:t>
            </a:r>
          </a:p>
        </p:txBody>
      </p:sp>
      <p:sp>
        <p:nvSpPr>
          <p:cNvPr id="14" name="Rounded Rectangle 13"/>
          <p:cNvSpPr/>
          <p:nvPr/>
        </p:nvSpPr>
        <p:spPr>
          <a:xfrm>
            <a:off x="8641080" y="3794760"/>
            <a:ext cx="2423160" cy="585216"/>
          </a:xfrm>
          <a:prstGeom prst="roundRect">
            <a:avLst/>
          </a:prstGeom>
          <a:solidFill>
            <a:srgbClr val="5EC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87968" y="3941064"/>
            <a:ext cx="1920240" cy="228600"/>
          </a:xfrm>
          <a:prstGeom prst="rect">
            <a:avLst/>
          </a:prstGeom>
          <a:noFill/>
        </p:spPr>
        <p:txBody>
          <a:bodyPr wrap="square" anchor="t" lIns="18288" rIns="18288" tIns="0" bIns="0">
            <a:spAutoFit/>
          </a:bodyPr>
          <a:lstStyle/>
          <a:p>
            <a:r>
              <a:rPr sz="1500" b="1">
                <a:solidFill>
                  <a:srgbClr val="0A1019"/>
                </a:solidFill>
                <a:latin typeface="Aptos"/>
              </a:rPr>
              <a:t>Go/WASM</a:t>
            </a:r>
          </a:p>
        </p:txBody>
      </p:sp>
      <p:sp>
        <p:nvSpPr>
          <p:cNvPr id="16" name="Rounded Rectangle 15"/>
          <p:cNvSpPr/>
          <p:nvPr/>
        </p:nvSpPr>
        <p:spPr>
          <a:xfrm>
            <a:off x="8641080" y="4754880"/>
            <a:ext cx="2423160" cy="585216"/>
          </a:xfrm>
          <a:prstGeom prst="roundRect">
            <a:avLst/>
          </a:prstGeom>
          <a:solidFill>
            <a:srgbClr val="F05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87968" y="4901184"/>
            <a:ext cx="1920240" cy="228600"/>
          </a:xfrm>
          <a:prstGeom prst="rect">
            <a:avLst/>
          </a:prstGeom>
          <a:noFill/>
        </p:spPr>
        <p:txBody>
          <a:bodyPr wrap="square" anchor="t" lIns="18288" rIns="18288" tIns="0" bIns="0">
            <a:spAutoFit/>
          </a:bodyPr>
          <a:lstStyle/>
          <a:p>
            <a:r>
              <a:rPr sz="1500" b="1">
                <a:solidFill>
                  <a:srgbClr val="0A1019"/>
                </a:solidFill>
                <a:latin typeface="Aptos"/>
              </a:rPr>
              <a:t>OPFS</a:t>
            </a:r>
          </a:p>
        </p:txBody>
      </p:sp>
      <p:sp>
        <p:nvSpPr>
          <p:cNvPr id="18" name="TextBox 17"/>
          <p:cNvSpPr txBox="1"/>
          <p:nvPr/>
        </p:nvSpPr>
        <p:spPr>
          <a:xfrm>
            <a:off x="731520" y="6236208"/>
            <a:ext cx="3657600" cy="228600"/>
          </a:xfrm>
          <a:prstGeom prst="rect">
            <a:avLst/>
          </a:prstGeom>
          <a:noFill/>
        </p:spPr>
        <p:txBody>
          <a:bodyPr wrap="square" anchor="t" lIns="18288" rIns="18288" tIns="0" bIns="0">
            <a:spAutoFit/>
          </a:bodyPr>
          <a:lstStyle/>
          <a:p>
            <a:r>
              <a:rPr sz="1000" b="0">
                <a:solidFill>
                  <a:srgbClr val="99A9B7"/>
                </a:solidFill>
                <a:latin typeface="Aptos"/>
              </a:rPr>
              <a:t>Projet local, sans serveur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Une commande, cinq etapes</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Le fil rouge de toute la presentation</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02</a:t>
            </a:r>
          </a:p>
        </p:txBody>
      </p:sp>
      <p:sp>
        <p:nvSpPr>
          <p:cNvPr id="6" name="Rounded Rectangle 5"/>
          <p:cNvSpPr/>
          <p:nvPr/>
        </p:nvSpPr>
        <p:spPr>
          <a:xfrm>
            <a:off x="502920" y="1481328"/>
            <a:ext cx="1874519" cy="120700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481328"/>
            <a:ext cx="1874519" cy="91440"/>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828800"/>
            <a:ext cx="1554480" cy="256032"/>
          </a:xfrm>
          <a:prstGeom prst="rect">
            <a:avLst/>
          </a:prstGeom>
          <a:noFill/>
        </p:spPr>
        <p:txBody>
          <a:bodyPr wrap="square" anchor="t" lIns="18288" rIns="18288" tIns="0" bIns="0">
            <a:spAutoFit/>
          </a:bodyPr>
          <a:lstStyle/>
          <a:p>
            <a:r>
              <a:rPr sz="1600" b="1">
                <a:solidFill>
                  <a:srgbClr val="EFF4F7"/>
                </a:solidFill>
                <a:latin typeface="Aptos"/>
              </a:rPr>
              <a:t>React</a:t>
            </a:r>
          </a:p>
        </p:txBody>
      </p:sp>
      <p:sp>
        <p:nvSpPr>
          <p:cNvPr id="9" name="TextBox 8"/>
          <p:cNvSpPr txBox="1"/>
          <p:nvPr/>
        </p:nvSpPr>
        <p:spPr>
          <a:xfrm>
            <a:off x="667512" y="2194560"/>
            <a:ext cx="1554480" cy="201168"/>
          </a:xfrm>
          <a:prstGeom prst="rect">
            <a:avLst/>
          </a:prstGeom>
          <a:noFill/>
        </p:spPr>
        <p:txBody>
          <a:bodyPr wrap="square" anchor="t" lIns="18288" rIns="18288" tIns="0" bIns="0">
            <a:spAutoFit/>
          </a:bodyPr>
          <a:lstStyle/>
          <a:p>
            <a:r>
              <a:rPr sz="950" b="0">
                <a:solidFill>
                  <a:srgbClr val="99A9B7"/>
                </a:solidFill>
                <a:latin typeface="Aptos"/>
              </a:rPr>
              <a:t>CRUD + liste</a:t>
            </a:r>
          </a:p>
        </p:txBody>
      </p:sp>
      <p:sp>
        <p:nvSpPr>
          <p:cNvPr id="10" name="TextBox 9"/>
          <p:cNvSpPr txBox="1"/>
          <p:nvPr/>
        </p:nvSpPr>
        <p:spPr>
          <a:xfrm>
            <a:off x="2487168" y="1874519"/>
            <a:ext cx="228600" cy="274320"/>
          </a:xfrm>
          <a:prstGeom prst="rect">
            <a:avLst/>
          </a:prstGeom>
          <a:noFill/>
        </p:spPr>
        <p:txBody>
          <a:bodyPr wrap="square" anchor="t" lIns="18288" rIns="18288" tIns="0" bIns="0">
            <a:spAutoFit/>
          </a:bodyPr>
          <a:lstStyle/>
          <a:p>
            <a:r>
              <a:rPr sz="1800" b="1">
                <a:solidFill>
                  <a:srgbClr val="F57F4D"/>
                </a:solidFill>
                <a:latin typeface="Aptos"/>
              </a:rPr>
              <a:t>&gt;</a:t>
            </a:r>
          </a:p>
        </p:txBody>
      </p:sp>
      <p:sp>
        <p:nvSpPr>
          <p:cNvPr id="11" name="Rounded Rectangle 10"/>
          <p:cNvSpPr/>
          <p:nvPr/>
        </p:nvSpPr>
        <p:spPr>
          <a:xfrm>
            <a:off x="2816352" y="1481328"/>
            <a:ext cx="1874519" cy="120700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16352" y="1481328"/>
            <a:ext cx="1874519" cy="91440"/>
          </a:xfrm>
          <a:prstGeom prst="rect">
            <a:avLst/>
          </a:prstGeom>
          <a:solidFill>
            <a:srgbClr val="F4C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80944" y="1828800"/>
            <a:ext cx="1554480" cy="256032"/>
          </a:xfrm>
          <a:prstGeom prst="rect">
            <a:avLst/>
          </a:prstGeom>
          <a:noFill/>
        </p:spPr>
        <p:txBody>
          <a:bodyPr wrap="square" anchor="t" lIns="18288" rIns="18288" tIns="0" bIns="0">
            <a:spAutoFit/>
          </a:bodyPr>
          <a:lstStyle/>
          <a:p>
            <a:r>
              <a:rPr sz="1600" b="1">
                <a:solidFill>
                  <a:srgbClr val="EFF4F7"/>
                </a:solidFill>
                <a:latin typeface="Aptos"/>
              </a:rPr>
              <a:t>SDK</a:t>
            </a:r>
          </a:p>
        </p:txBody>
      </p:sp>
      <p:sp>
        <p:nvSpPr>
          <p:cNvPr id="14" name="TextBox 13"/>
          <p:cNvSpPr txBox="1"/>
          <p:nvPr/>
        </p:nvSpPr>
        <p:spPr>
          <a:xfrm>
            <a:off x="2980944" y="2194560"/>
            <a:ext cx="1554480" cy="201168"/>
          </a:xfrm>
          <a:prstGeom prst="rect">
            <a:avLst/>
          </a:prstGeom>
          <a:noFill/>
        </p:spPr>
        <p:txBody>
          <a:bodyPr wrap="square" anchor="t" lIns="18288" rIns="18288" tIns="0" bIns="0">
            <a:spAutoFit/>
          </a:bodyPr>
          <a:lstStyle/>
          <a:p>
            <a:r>
              <a:rPr sz="950" b="0">
                <a:solidFill>
                  <a:srgbClr val="99A9B7"/>
                </a:solidFill>
                <a:latin typeface="Aptos"/>
              </a:rPr>
              <a:t>types + Zod</a:t>
            </a:r>
          </a:p>
        </p:txBody>
      </p:sp>
      <p:sp>
        <p:nvSpPr>
          <p:cNvPr id="15" name="TextBox 14"/>
          <p:cNvSpPr txBox="1"/>
          <p:nvPr/>
        </p:nvSpPr>
        <p:spPr>
          <a:xfrm>
            <a:off x="4800600" y="1874519"/>
            <a:ext cx="228600" cy="274320"/>
          </a:xfrm>
          <a:prstGeom prst="rect">
            <a:avLst/>
          </a:prstGeom>
          <a:noFill/>
        </p:spPr>
        <p:txBody>
          <a:bodyPr wrap="square" anchor="t" lIns="18288" rIns="18288" tIns="0" bIns="0">
            <a:spAutoFit/>
          </a:bodyPr>
          <a:lstStyle/>
          <a:p>
            <a:r>
              <a:rPr sz="1800" b="1">
                <a:solidFill>
                  <a:srgbClr val="F57F4D"/>
                </a:solidFill>
                <a:latin typeface="Aptos"/>
              </a:rPr>
              <a:t>&gt;</a:t>
            </a:r>
          </a:p>
        </p:txBody>
      </p:sp>
      <p:sp>
        <p:nvSpPr>
          <p:cNvPr id="16" name="Rounded Rectangle 15"/>
          <p:cNvSpPr/>
          <p:nvPr/>
        </p:nvSpPr>
        <p:spPr>
          <a:xfrm>
            <a:off x="5129783" y="1481328"/>
            <a:ext cx="1874519" cy="120700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29783" y="1481328"/>
            <a:ext cx="1874519" cy="91440"/>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94375" y="1828800"/>
            <a:ext cx="1554480" cy="256032"/>
          </a:xfrm>
          <a:prstGeom prst="rect">
            <a:avLst/>
          </a:prstGeom>
          <a:noFill/>
        </p:spPr>
        <p:txBody>
          <a:bodyPr wrap="square" anchor="t" lIns="18288" rIns="18288" tIns="0" bIns="0">
            <a:spAutoFit/>
          </a:bodyPr>
          <a:lstStyle/>
          <a:p>
            <a:r>
              <a:rPr sz="1600" b="1">
                <a:solidFill>
                  <a:srgbClr val="EFF4F7"/>
                </a:solidFill>
                <a:latin typeface="Aptos"/>
              </a:rPr>
              <a:t>Worker</a:t>
            </a:r>
          </a:p>
        </p:txBody>
      </p:sp>
      <p:sp>
        <p:nvSpPr>
          <p:cNvPr id="19" name="TextBox 18"/>
          <p:cNvSpPr txBox="1"/>
          <p:nvPr/>
        </p:nvSpPr>
        <p:spPr>
          <a:xfrm>
            <a:off x="5294375" y="2194560"/>
            <a:ext cx="1554480" cy="201168"/>
          </a:xfrm>
          <a:prstGeom prst="rect">
            <a:avLst/>
          </a:prstGeom>
          <a:noFill/>
        </p:spPr>
        <p:txBody>
          <a:bodyPr wrap="square" anchor="t" lIns="18288" rIns="18288" tIns="0" bIns="0">
            <a:spAutoFit/>
          </a:bodyPr>
          <a:lstStyle/>
          <a:p>
            <a:r>
              <a:rPr sz="950" b="0">
                <a:solidFill>
                  <a:srgbClr val="99A9B7"/>
                </a:solidFill>
                <a:latin typeface="Aptos"/>
              </a:rPr>
              <a:t>postMessage</a:t>
            </a:r>
          </a:p>
        </p:txBody>
      </p:sp>
      <p:sp>
        <p:nvSpPr>
          <p:cNvPr id="20" name="TextBox 19"/>
          <p:cNvSpPr txBox="1"/>
          <p:nvPr/>
        </p:nvSpPr>
        <p:spPr>
          <a:xfrm>
            <a:off x="7114031" y="1874519"/>
            <a:ext cx="228600" cy="274320"/>
          </a:xfrm>
          <a:prstGeom prst="rect">
            <a:avLst/>
          </a:prstGeom>
          <a:noFill/>
        </p:spPr>
        <p:txBody>
          <a:bodyPr wrap="square" anchor="t" lIns="18288" rIns="18288" tIns="0" bIns="0">
            <a:spAutoFit/>
          </a:bodyPr>
          <a:lstStyle/>
          <a:p>
            <a:r>
              <a:rPr sz="1800" b="1">
                <a:solidFill>
                  <a:srgbClr val="F57F4D"/>
                </a:solidFill>
                <a:latin typeface="Aptos"/>
              </a:rPr>
              <a:t>&gt;</a:t>
            </a:r>
          </a:p>
        </p:txBody>
      </p:sp>
      <p:sp>
        <p:nvSpPr>
          <p:cNvPr id="21" name="Rounded Rectangle 20"/>
          <p:cNvSpPr/>
          <p:nvPr/>
        </p:nvSpPr>
        <p:spPr>
          <a:xfrm>
            <a:off x="7443216" y="1481328"/>
            <a:ext cx="1874519" cy="120700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43216" y="1481328"/>
            <a:ext cx="1874519" cy="91440"/>
          </a:xfrm>
          <a:prstGeom prst="rect">
            <a:avLst/>
          </a:prstGeom>
          <a:solidFill>
            <a:srgbClr val="5EC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07808" y="1828800"/>
            <a:ext cx="1554480" cy="256032"/>
          </a:xfrm>
          <a:prstGeom prst="rect">
            <a:avLst/>
          </a:prstGeom>
          <a:noFill/>
        </p:spPr>
        <p:txBody>
          <a:bodyPr wrap="square" anchor="t" lIns="18288" rIns="18288" tIns="0" bIns="0">
            <a:spAutoFit/>
          </a:bodyPr>
          <a:lstStyle/>
          <a:p>
            <a:r>
              <a:rPr sz="1600" b="1">
                <a:solidFill>
                  <a:srgbClr val="EFF4F7"/>
                </a:solidFill>
                <a:latin typeface="Aptos"/>
              </a:rPr>
              <a:t>Go/WASM</a:t>
            </a:r>
          </a:p>
        </p:txBody>
      </p:sp>
      <p:sp>
        <p:nvSpPr>
          <p:cNvPr id="24" name="TextBox 23"/>
          <p:cNvSpPr txBox="1"/>
          <p:nvPr/>
        </p:nvSpPr>
        <p:spPr>
          <a:xfrm>
            <a:off x="7607808" y="2194560"/>
            <a:ext cx="1554480" cy="201168"/>
          </a:xfrm>
          <a:prstGeom prst="rect">
            <a:avLst/>
          </a:prstGeom>
          <a:noFill/>
        </p:spPr>
        <p:txBody>
          <a:bodyPr wrap="square" anchor="t" lIns="18288" rIns="18288" tIns="0" bIns="0">
            <a:spAutoFit/>
          </a:bodyPr>
          <a:lstStyle/>
          <a:p>
            <a:r>
              <a:rPr sz="950" b="0">
                <a:solidFill>
                  <a:srgbClr val="99A9B7"/>
                </a:solidFill>
                <a:latin typeface="Aptos"/>
              </a:rPr>
              <a:t>state + index</a:t>
            </a:r>
          </a:p>
        </p:txBody>
      </p:sp>
      <p:sp>
        <p:nvSpPr>
          <p:cNvPr id="25" name="TextBox 24"/>
          <p:cNvSpPr txBox="1"/>
          <p:nvPr/>
        </p:nvSpPr>
        <p:spPr>
          <a:xfrm>
            <a:off x="9427464" y="1874519"/>
            <a:ext cx="228600" cy="274320"/>
          </a:xfrm>
          <a:prstGeom prst="rect">
            <a:avLst/>
          </a:prstGeom>
          <a:noFill/>
        </p:spPr>
        <p:txBody>
          <a:bodyPr wrap="square" anchor="t" lIns="18288" rIns="18288" tIns="0" bIns="0">
            <a:spAutoFit/>
          </a:bodyPr>
          <a:lstStyle/>
          <a:p>
            <a:r>
              <a:rPr sz="1800" b="1">
                <a:solidFill>
                  <a:srgbClr val="F57F4D"/>
                </a:solidFill>
                <a:latin typeface="Aptos"/>
              </a:rPr>
              <a:t>&gt;</a:t>
            </a:r>
          </a:p>
        </p:txBody>
      </p:sp>
      <p:sp>
        <p:nvSpPr>
          <p:cNvPr id="26" name="Rounded Rectangle 25"/>
          <p:cNvSpPr/>
          <p:nvPr/>
        </p:nvSpPr>
        <p:spPr>
          <a:xfrm>
            <a:off x="9756648" y="1481328"/>
            <a:ext cx="1874519" cy="120700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756648" y="1481328"/>
            <a:ext cx="1874519" cy="91440"/>
          </a:xfrm>
          <a:prstGeom prst="rect">
            <a:avLst/>
          </a:prstGeom>
          <a:solidFill>
            <a:srgbClr val="F05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1828800"/>
            <a:ext cx="1554480" cy="256032"/>
          </a:xfrm>
          <a:prstGeom prst="rect">
            <a:avLst/>
          </a:prstGeom>
          <a:noFill/>
        </p:spPr>
        <p:txBody>
          <a:bodyPr wrap="square" anchor="t" lIns="18288" rIns="18288" tIns="0" bIns="0">
            <a:spAutoFit/>
          </a:bodyPr>
          <a:lstStyle/>
          <a:p>
            <a:r>
              <a:rPr sz="1600" b="1">
                <a:solidFill>
                  <a:srgbClr val="EFF4F7"/>
                </a:solidFill>
                <a:latin typeface="Aptos"/>
              </a:rPr>
              <a:t>OPFS</a:t>
            </a:r>
          </a:p>
        </p:txBody>
      </p:sp>
      <p:sp>
        <p:nvSpPr>
          <p:cNvPr id="29" name="TextBox 28"/>
          <p:cNvSpPr txBox="1"/>
          <p:nvPr/>
        </p:nvSpPr>
        <p:spPr>
          <a:xfrm>
            <a:off x="9921240" y="2194560"/>
            <a:ext cx="1554480" cy="201168"/>
          </a:xfrm>
          <a:prstGeom prst="rect">
            <a:avLst/>
          </a:prstGeom>
          <a:noFill/>
        </p:spPr>
        <p:txBody>
          <a:bodyPr wrap="square" anchor="t" lIns="18288" rIns="18288" tIns="0" bIns="0">
            <a:spAutoFit/>
          </a:bodyPr>
          <a:lstStyle/>
          <a:p>
            <a:r>
              <a:rPr sz="950" b="0">
                <a:solidFill>
                  <a:srgbClr val="99A9B7"/>
                </a:solidFill>
                <a:latin typeface="Aptos"/>
              </a:rPr>
              <a:t>AOF + snapshot</a:t>
            </a:r>
          </a:p>
        </p:txBody>
      </p:sp>
      <p:sp>
        <p:nvSpPr>
          <p:cNvPr id="30" name="TextBox 29"/>
          <p:cNvSpPr txBox="1"/>
          <p:nvPr/>
        </p:nvSpPr>
        <p:spPr>
          <a:xfrm>
            <a:off x="566928" y="3246120"/>
            <a:ext cx="2743200" cy="256032"/>
          </a:xfrm>
          <a:prstGeom prst="rect">
            <a:avLst/>
          </a:prstGeom>
          <a:noFill/>
        </p:spPr>
        <p:txBody>
          <a:bodyPr wrap="square" anchor="t" lIns="18288" rIns="18288" tIns="0" bIns="0">
            <a:spAutoFit/>
          </a:bodyPr>
          <a:lstStyle/>
          <a:p>
            <a:r>
              <a:rPr sz="1300" b="1">
                <a:solidFill>
                  <a:srgbClr val="99A9B7"/>
                </a:solidFill>
                <a:latin typeface="Aptos"/>
              </a:rPr>
              <a:t>Cycle de persistance</a:t>
            </a:r>
          </a:p>
        </p:txBody>
      </p:sp>
      <p:sp>
        <p:nvSpPr>
          <p:cNvPr id="31" name="Rounded Rectangle 30"/>
          <p:cNvSpPr/>
          <p:nvPr/>
        </p:nvSpPr>
        <p:spPr>
          <a:xfrm>
            <a:off x="566928" y="3703320"/>
            <a:ext cx="2304288" cy="713232"/>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3703320"/>
            <a:ext cx="73152" cy="71323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8" y="3922776"/>
            <a:ext cx="1828800" cy="228600"/>
          </a:xfrm>
          <a:prstGeom prst="rect">
            <a:avLst/>
          </a:prstGeom>
          <a:noFill/>
        </p:spPr>
        <p:txBody>
          <a:bodyPr wrap="square" anchor="t" lIns="18288" rIns="18288" tIns="0" bIns="0">
            <a:spAutoFit/>
          </a:bodyPr>
          <a:lstStyle/>
          <a:p>
            <a:r>
              <a:rPr sz="1300" b="1">
                <a:solidFill>
                  <a:srgbClr val="EFF4F7"/>
                </a:solidFill>
                <a:latin typeface="Aptos"/>
              </a:rPr>
              <a:t>state RAM</a:t>
            </a:r>
          </a:p>
        </p:txBody>
      </p:sp>
      <p:sp>
        <p:nvSpPr>
          <p:cNvPr id="34" name="TextBox 33"/>
          <p:cNvSpPr txBox="1"/>
          <p:nvPr/>
        </p:nvSpPr>
        <p:spPr>
          <a:xfrm>
            <a:off x="3017520" y="3886200"/>
            <a:ext cx="228600" cy="228600"/>
          </a:xfrm>
          <a:prstGeom prst="rect">
            <a:avLst/>
          </a:prstGeom>
          <a:noFill/>
        </p:spPr>
        <p:txBody>
          <a:bodyPr wrap="square" anchor="t" lIns="18288" rIns="18288" tIns="0" bIns="0">
            <a:spAutoFit/>
          </a:bodyPr>
          <a:lstStyle/>
          <a:p>
            <a:r>
              <a:rPr sz="1800" b="1">
                <a:solidFill>
                  <a:srgbClr val="2DC1B7"/>
                </a:solidFill>
                <a:latin typeface="Aptos"/>
              </a:rPr>
              <a:t>&gt;</a:t>
            </a:r>
          </a:p>
        </p:txBody>
      </p:sp>
      <p:sp>
        <p:nvSpPr>
          <p:cNvPr id="35" name="Rounded Rectangle 34"/>
          <p:cNvSpPr/>
          <p:nvPr/>
        </p:nvSpPr>
        <p:spPr>
          <a:xfrm>
            <a:off x="3401568" y="3703320"/>
            <a:ext cx="2304288" cy="713232"/>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401568" y="3703320"/>
            <a:ext cx="73152" cy="713232"/>
          </a:xfrm>
          <a:prstGeom prst="rect">
            <a:avLst/>
          </a:prstGeom>
          <a:solidFill>
            <a:srgbClr val="F4C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30168" y="3922776"/>
            <a:ext cx="1828800" cy="228600"/>
          </a:xfrm>
          <a:prstGeom prst="rect">
            <a:avLst/>
          </a:prstGeom>
          <a:noFill/>
        </p:spPr>
        <p:txBody>
          <a:bodyPr wrap="square" anchor="t" lIns="18288" rIns="18288" tIns="0" bIns="0">
            <a:spAutoFit/>
          </a:bodyPr>
          <a:lstStyle/>
          <a:p>
            <a:r>
              <a:rPr sz="1300" b="1">
                <a:solidFill>
                  <a:srgbClr val="EFF4F7"/>
                </a:solidFill>
                <a:latin typeface="Aptos"/>
              </a:rPr>
              <a:t>buffer Go</a:t>
            </a:r>
          </a:p>
        </p:txBody>
      </p:sp>
      <p:sp>
        <p:nvSpPr>
          <p:cNvPr id="38" name="TextBox 37"/>
          <p:cNvSpPr txBox="1"/>
          <p:nvPr/>
        </p:nvSpPr>
        <p:spPr>
          <a:xfrm>
            <a:off x="5852160" y="3886200"/>
            <a:ext cx="228600" cy="228600"/>
          </a:xfrm>
          <a:prstGeom prst="rect">
            <a:avLst/>
          </a:prstGeom>
          <a:noFill/>
        </p:spPr>
        <p:txBody>
          <a:bodyPr wrap="square" anchor="t" lIns="18288" rIns="18288" tIns="0" bIns="0">
            <a:spAutoFit/>
          </a:bodyPr>
          <a:lstStyle/>
          <a:p>
            <a:r>
              <a:rPr sz="1800" b="1">
                <a:solidFill>
                  <a:srgbClr val="F4CD60"/>
                </a:solidFill>
                <a:latin typeface="Aptos"/>
              </a:rPr>
              <a:t>&gt;</a:t>
            </a:r>
          </a:p>
        </p:txBody>
      </p:sp>
      <p:sp>
        <p:nvSpPr>
          <p:cNvPr id="39" name="Rounded Rectangle 38"/>
          <p:cNvSpPr/>
          <p:nvPr/>
        </p:nvSpPr>
        <p:spPr>
          <a:xfrm>
            <a:off x="6236208" y="3703320"/>
            <a:ext cx="2304288" cy="713232"/>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6208" y="3703320"/>
            <a:ext cx="73152" cy="71323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4808" y="3922776"/>
            <a:ext cx="1828800" cy="228600"/>
          </a:xfrm>
          <a:prstGeom prst="rect">
            <a:avLst/>
          </a:prstGeom>
          <a:noFill/>
        </p:spPr>
        <p:txBody>
          <a:bodyPr wrap="square" anchor="t" lIns="18288" rIns="18288" tIns="0" bIns="0">
            <a:spAutoFit/>
          </a:bodyPr>
          <a:lstStyle/>
          <a:p>
            <a:r>
              <a:rPr sz="1300" b="1">
                <a:solidFill>
                  <a:srgbClr val="EFF4F7"/>
                </a:solidFill>
                <a:latin typeface="Aptos"/>
              </a:rPr>
              <a:t>AOF ~1 s</a:t>
            </a:r>
          </a:p>
        </p:txBody>
      </p:sp>
      <p:sp>
        <p:nvSpPr>
          <p:cNvPr id="42" name="TextBox 41"/>
          <p:cNvSpPr txBox="1"/>
          <p:nvPr/>
        </p:nvSpPr>
        <p:spPr>
          <a:xfrm>
            <a:off x="8686800" y="3886200"/>
            <a:ext cx="228600" cy="228600"/>
          </a:xfrm>
          <a:prstGeom prst="rect">
            <a:avLst/>
          </a:prstGeom>
          <a:noFill/>
        </p:spPr>
        <p:txBody>
          <a:bodyPr wrap="square" anchor="t" lIns="18288" rIns="18288" tIns="0" bIns="0">
            <a:spAutoFit/>
          </a:bodyPr>
          <a:lstStyle/>
          <a:p>
            <a:r>
              <a:rPr sz="1800" b="1">
                <a:solidFill>
                  <a:srgbClr val="F57F4D"/>
                </a:solidFill>
                <a:latin typeface="Aptos"/>
              </a:rPr>
              <a:t>&gt;</a:t>
            </a:r>
          </a:p>
        </p:txBody>
      </p:sp>
      <p:sp>
        <p:nvSpPr>
          <p:cNvPr id="43" name="Rounded Rectangle 42"/>
          <p:cNvSpPr/>
          <p:nvPr/>
        </p:nvSpPr>
        <p:spPr>
          <a:xfrm>
            <a:off x="9070848" y="3703320"/>
            <a:ext cx="2304288" cy="713232"/>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070848" y="3703320"/>
            <a:ext cx="73152" cy="713232"/>
          </a:xfrm>
          <a:prstGeom prst="rect">
            <a:avLst/>
          </a:prstGeom>
          <a:solidFill>
            <a:srgbClr val="F05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99448" y="3922776"/>
            <a:ext cx="1828800" cy="228600"/>
          </a:xfrm>
          <a:prstGeom prst="rect">
            <a:avLst/>
          </a:prstGeom>
          <a:noFill/>
        </p:spPr>
        <p:txBody>
          <a:bodyPr wrap="square" anchor="t" lIns="18288" rIns="18288" tIns="0" bIns="0">
            <a:spAutoFit/>
          </a:bodyPr>
          <a:lstStyle/>
          <a:p>
            <a:r>
              <a:rPr sz="1300" b="1">
                <a:solidFill>
                  <a:srgbClr val="EFF4F7"/>
                </a:solidFill>
                <a:latin typeface="Aptos"/>
              </a:rPr>
              <a:t>snapshot ~2 min</a:t>
            </a:r>
          </a:p>
        </p:txBody>
      </p:sp>
      <p:sp>
        <p:nvSpPr>
          <p:cNvPr id="46" name="Rectangle 45"/>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React ne bloque jamais : le moteur et le disque vivent dans le worker.</a:t>
            </a:r>
          </a:p>
        </p:txBody>
      </p:sp>
      <p:sp>
        <p:nvSpPr>
          <p:cNvPr id="48" name="Rectangle 47"/>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La RAM donne la vitesse ; AOF + snapshot donnent la persistance.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React atteint le moteur Go</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SDK, Worker et WASM transportent la commande</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03</a:t>
            </a:r>
          </a:p>
        </p:txBody>
      </p:sp>
      <p:sp>
        <p:nvSpPr>
          <p:cNvPr id="6" name="Rounded Rectangle 5"/>
          <p:cNvSpPr/>
          <p:nvPr/>
        </p:nvSpPr>
        <p:spPr>
          <a:xfrm>
            <a:off x="502920" y="1280160"/>
            <a:ext cx="1648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640080"/>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481328"/>
            <a:ext cx="1447800" cy="228600"/>
          </a:xfrm>
          <a:prstGeom prst="rect">
            <a:avLst/>
          </a:prstGeom>
          <a:noFill/>
        </p:spPr>
        <p:txBody>
          <a:bodyPr wrap="square" anchor="t" lIns="18288" rIns="18288" tIns="0" bIns="0">
            <a:spAutoFit/>
          </a:bodyPr>
          <a:lstStyle/>
          <a:p>
            <a:r>
              <a:rPr sz="1019" b="1">
                <a:solidFill>
                  <a:srgbClr val="EFF4F7"/>
                </a:solidFill>
                <a:latin typeface="Aptos"/>
              </a:rPr>
              <a:t>React</a:t>
            </a:r>
          </a:p>
        </p:txBody>
      </p:sp>
      <p:sp>
        <p:nvSpPr>
          <p:cNvPr id="9" name="TextBox 8"/>
          <p:cNvSpPr txBox="1"/>
          <p:nvPr/>
        </p:nvSpPr>
        <p:spPr>
          <a:xfrm>
            <a:off x="2215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0" name="Rounded Rectangle 9"/>
          <p:cNvSpPr/>
          <p:nvPr/>
        </p:nvSpPr>
        <p:spPr>
          <a:xfrm>
            <a:off x="2407920" y="1280160"/>
            <a:ext cx="1648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407920" y="1280160"/>
            <a:ext cx="64008" cy="640080"/>
          </a:xfrm>
          <a:prstGeom prst="rect">
            <a:avLst/>
          </a:prstGeom>
          <a:solidFill>
            <a:srgbClr val="F4C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35936" y="1481328"/>
            <a:ext cx="1447800" cy="228600"/>
          </a:xfrm>
          <a:prstGeom prst="rect">
            <a:avLst/>
          </a:prstGeom>
          <a:noFill/>
        </p:spPr>
        <p:txBody>
          <a:bodyPr wrap="square" anchor="t" lIns="18288" rIns="18288" tIns="0" bIns="0">
            <a:spAutoFit/>
          </a:bodyPr>
          <a:lstStyle/>
          <a:p>
            <a:r>
              <a:rPr sz="1019" b="1">
                <a:solidFill>
                  <a:srgbClr val="EFF4F7"/>
                </a:solidFill>
                <a:latin typeface="Aptos"/>
              </a:rPr>
              <a:t>SDK</a:t>
            </a:r>
          </a:p>
        </p:txBody>
      </p:sp>
      <p:sp>
        <p:nvSpPr>
          <p:cNvPr id="13" name="TextBox 12"/>
          <p:cNvSpPr txBox="1"/>
          <p:nvPr/>
        </p:nvSpPr>
        <p:spPr>
          <a:xfrm>
            <a:off x="4120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4" name="Rounded Rectangle 13"/>
          <p:cNvSpPr/>
          <p:nvPr/>
        </p:nvSpPr>
        <p:spPr>
          <a:xfrm>
            <a:off x="4312920" y="1280160"/>
            <a:ext cx="1648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2920" y="1280160"/>
            <a:ext cx="64008" cy="640080"/>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0936" y="1481328"/>
            <a:ext cx="1447800" cy="228600"/>
          </a:xfrm>
          <a:prstGeom prst="rect">
            <a:avLst/>
          </a:prstGeom>
          <a:noFill/>
        </p:spPr>
        <p:txBody>
          <a:bodyPr wrap="square" anchor="t" lIns="18288" rIns="18288" tIns="0" bIns="0">
            <a:spAutoFit/>
          </a:bodyPr>
          <a:lstStyle/>
          <a:p>
            <a:r>
              <a:rPr sz="1019" b="1">
                <a:solidFill>
                  <a:srgbClr val="EFF4F7"/>
                </a:solidFill>
                <a:latin typeface="Aptos"/>
              </a:rPr>
              <a:t>postMessage</a:t>
            </a:r>
          </a:p>
        </p:txBody>
      </p:sp>
      <p:sp>
        <p:nvSpPr>
          <p:cNvPr id="17" name="TextBox 16"/>
          <p:cNvSpPr txBox="1"/>
          <p:nvPr/>
        </p:nvSpPr>
        <p:spPr>
          <a:xfrm>
            <a:off x="6025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8" name="Rounded Rectangle 17"/>
          <p:cNvSpPr/>
          <p:nvPr/>
        </p:nvSpPr>
        <p:spPr>
          <a:xfrm>
            <a:off x="6217920" y="1280160"/>
            <a:ext cx="1648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1280160"/>
            <a:ext cx="64008" cy="640080"/>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1481328"/>
            <a:ext cx="1447800" cy="228600"/>
          </a:xfrm>
          <a:prstGeom prst="rect">
            <a:avLst/>
          </a:prstGeom>
          <a:noFill/>
        </p:spPr>
        <p:txBody>
          <a:bodyPr wrap="square" anchor="t" lIns="18288" rIns="18288" tIns="0" bIns="0">
            <a:spAutoFit/>
          </a:bodyPr>
          <a:lstStyle/>
          <a:p>
            <a:r>
              <a:rPr sz="1019" b="1">
                <a:solidFill>
                  <a:srgbClr val="EFF4F7"/>
                </a:solidFill>
                <a:latin typeface="Aptos"/>
              </a:rPr>
              <a:t>Worker</a:t>
            </a:r>
          </a:p>
        </p:txBody>
      </p:sp>
      <p:sp>
        <p:nvSpPr>
          <p:cNvPr id="21" name="TextBox 20"/>
          <p:cNvSpPr txBox="1"/>
          <p:nvPr/>
        </p:nvSpPr>
        <p:spPr>
          <a:xfrm>
            <a:off x="7930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22" name="Rounded Rectangle 21"/>
          <p:cNvSpPr/>
          <p:nvPr/>
        </p:nvSpPr>
        <p:spPr>
          <a:xfrm>
            <a:off x="8122920" y="1280160"/>
            <a:ext cx="1648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2920" y="1280160"/>
            <a:ext cx="64008" cy="640080"/>
          </a:xfrm>
          <a:prstGeom prst="rect">
            <a:avLst/>
          </a:prstGeom>
          <a:solidFill>
            <a:srgbClr val="5EC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0936" y="1481328"/>
            <a:ext cx="1447800" cy="228600"/>
          </a:xfrm>
          <a:prstGeom prst="rect">
            <a:avLst/>
          </a:prstGeom>
          <a:noFill/>
        </p:spPr>
        <p:txBody>
          <a:bodyPr wrap="square" anchor="t" lIns="18288" rIns="18288" tIns="0" bIns="0">
            <a:spAutoFit/>
          </a:bodyPr>
          <a:lstStyle/>
          <a:p>
            <a:r>
              <a:rPr sz="1019" b="1">
                <a:solidFill>
                  <a:srgbClr val="EFF4F7"/>
                </a:solidFill>
                <a:latin typeface="Aptos"/>
              </a:rPr>
              <a:t>wasmRedisExecute</a:t>
            </a:r>
          </a:p>
        </p:txBody>
      </p:sp>
      <p:sp>
        <p:nvSpPr>
          <p:cNvPr id="25" name="TextBox 24"/>
          <p:cNvSpPr txBox="1"/>
          <p:nvPr/>
        </p:nvSpPr>
        <p:spPr>
          <a:xfrm>
            <a:off x="9835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26" name="Rounded Rectangle 25"/>
          <p:cNvSpPr/>
          <p:nvPr/>
        </p:nvSpPr>
        <p:spPr>
          <a:xfrm>
            <a:off x="10027920" y="1280160"/>
            <a:ext cx="1648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027920" y="1280160"/>
            <a:ext cx="64008" cy="640080"/>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55936" y="1481328"/>
            <a:ext cx="1447800" cy="228600"/>
          </a:xfrm>
          <a:prstGeom prst="rect">
            <a:avLst/>
          </a:prstGeom>
          <a:noFill/>
        </p:spPr>
        <p:txBody>
          <a:bodyPr wrap="square" anchor="t" lIns="18288" rIns="18288" tIns="0" bIns="0">
            <a:spAutoFit/>
          </a:bodyPr>
          <a:lstStyle/>
          <a:p>
            <a:r>
              <a:rPr sz="1019" b="1">
                <a:solidFill>
                  <a:srgbClr val="EFF4F7"/>
                </a:solidFill>
                <a:latin typeface="Aptos"/>
              </a:rPr>
              <a:t>Engine</a:t>
            </a:r>
          </a:p>
        </p:txBody>
      </p:sp>
      <p:sp>
        <p:nvSpPr>
          <p:cNvPr id="29" name="Rounded Rectangle 28"/>
          <p:cNvSpPr/>
          <p:nvPr/>
        </p:nvSpPr>
        <p:spPr>
          <a:xfrm>
            <a:off x="502920" y="2386583"/>
            <a:ext cx="11173968" cy="285292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 y="2569463"/>
            <a:ext cx="10661904" cy="219456"/>
          </a:xfrm>
          <a:prstGeom prst="rect">
            <a:avLst/>
          </a:prstGeom>
          <a:noFill/>
        </p:spPr>
        <p:txBody>
          <a:bodyPr wrap="square" anchor="t" lIns="18288" rIns="18288" tIns="0" bIns="0">
            <a:spAutoFit/>
          </a:bodyPr>
          <a:lstStyle/>
          <a:p>
            <a:r>
              <a:rPr sz="950" b="1">
                <a:solidFill>
                  <a:srgbClr val="2DC1B7"/>
                </a:solidFill>
                <a:latin typeface="Aptos"/>
              </a:rPr>
              <a:t>cmd/wasm/main.go:66-87</a:t>
            </a:r>
          </a:p>
        </p:txBody>
      </p:sp>
      <p:sp>
        <p:nvSpPr>
          <p:cNvPr id="31" name="TextBox 30"/>
          <p:cNvSpPr txBox="1"/>
          <p:nvPr/>
        </p:nvSpPr>
        <p:spPr>
          <a:xfrm>
            <a:off x="777240" y="2953511"/>
            <a:ext cx="10625328" cy="2103120"/>
          </a:xfrm>
          <a:prstGeom prst="rect">
            <a:avLst/>
          </a:prstGeom>
          <a:noFill/>
        </p:spPr>
        <p:txBody>
          <a:bodyPr wrap="square" anchor="t" lIns="18288" rIns="18288" tIns="0" bIns="0">
            <a:spAutoFit/>
          </a:bodyPr>
          <a:lstStyle/>
          <a:p>
            <a:r>
              <a:rPr sz="1324" b="0">
                <a:solidFill>
                  <a:srgbClr val="EFF4F7"/>
                </a:solidFill>
                <a:latin typeface="Courier New"/>
              </a:rPr>
              <a:t>66  func wasmRedisExecute(_ js.Value, args []js.Value) any {
69      if len(args) == 0 {
72          return encode(errorResponse{OK: false, Error: "missing request"})
73      }
76      var request executeRequest
79      if err := json.Unmarshal([]byte(args[0].String()), &amp;request); err != nil {
82          return encode(errorResponse{OK: false, Error: err.Error()})
83      }
86      return encode(engine.ExecuteBatch(request.Commands))
87  }</a:t>
            </a:r>
          </a:p>
        </p:txBody>
      </p:sp>
      <p:sp>
        <p:nvSpPr>
          <p:cNvPr id="32" name="Rectangle 31"/>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Le SDK valide, puis le worker appelle le bridge Go/WASM.</a:t>
            </a:r>
          </a:p>
        </p:txBody>
      </p:sp>
      <p:sp>
        <p:nvSpPr>
          <p:cNvPr id="34" name="Rectangle 33"/>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OPFS impose le Worker : ses Sync Access Handles n'existent pas sur le main thread.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Le parser protege l'entree</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Du texte vers une commande Go valide</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04</a:t>
            </a:r>
          </a:p>
        </p:txBody>
      </p:sp>
      <p:sp>
        <p:nvSpPr>
          <p:cNvPr id="6" name="Rounded Rectangle 5"/>
          <p:cNvSpPr/>
          <p:nvPr/>
        </p:nvSpPr>
        <p:spPr>
          <a:xfrm>
            <a:off x="502920" y="1792223"/>
            <a:ext cx="11173968" cy="3255264"/>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75103"/>
            <a:ext cx="10661904" cy="219456"/>
          </a:xfrm>
          <a:prstGeom prst="rect">
            <a:avLst/>
          </a:prstGeom>
          <a:noFill/>
        </p:spPr>
        <p:txBody>
          <a:bodyPr wrap="square" anchor="t" lIns="18288" rIns="18288" tIns="0" bIns="0">
            <a:spAutoFit/>
          </a:bodyPr>
          <a:lstStyle/>
          <a:p>
            <a:r>
              <a:rPr sz="950" b="1">
                <a:solidFill>
                  <a:srgbClr val="2DC1B7"/>
                </a:solidFill>
                <a:latin typeface="Aptos"/>
              </a:rPr>
              <a:t>internal/redis/parser.go:35-68</a:t>
            </a:r>
          </a:p>
        </p:txBody>
      </p:sp>
      <p:sp>
        <p:nvSpPr>
          <p:cNvPr id="8" name="TextBox 7"/>
          <p:cNvSpPr txBox="1"/>
          <p:nvPr/>
        </p:nvSpPr>
        <p:spPr>
          <a:xfrm>
            <a:off x="777240" y="2359151"/>
            <a:ext cx="10625328" cy="2505456"/>
          </a:xfrm>
          <a:prstGeom prst="rect">
            <a:avLst/>
          </a:prstGeom>
          <a:noFill/>
        </p:spPr>
        <p:txBody>
          <a:bodyPr wrap="square" anchor="t" lIns="18288" rIns="18288" tIns="0" bIns="0">
            <a:spAutoFit/>
          </a:bodyPr>
          <a:lstStyle/>
          <a:p>
            <a:r>
              <a:rPr sz="1315" b="0">
                <a:solidFill>
                  <a:srgbClr val="EFF4F7"/>
                </a:solidFill>
                <a:latin typeface="Courier New"/>
              </a:rPr>
              <a:t>35  func ParseCommand(input string) (Command, error) {
38      parts := strings.Fields(strings.TrimSpace(input))
41      commandName := ReadCommandName(input)
44      switch CommandType(commandName) {
47      case CommandGet:
48          if len(parts) &gt; 1 &amp;&amp; strings.EqualFold(parts[1], "WHERE") {
49              return parseWhereCommand(parts)
50          }
51          return parseKeyCommand(CommandGet, parts)
66      default:
67          return Command{}, fmt.Errorf("unknown command")
68      }</a:t>
            </a:r>
          </a:p>
        </p:txBody>
      </p:sp>
      <p:sp>
        <p:nvSpPr>
          <p:cNvPr id="9" name="Rectangle 8"/>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GET WHERE est distingue d'un GET par cle.</a:t>
            </a:r>
          </a:p>
        </p:txBody>
      </p:sp>
      <p:sp>
        <p:nvSpPr>
          <p:cNvPr id="11" name="Rectangle 10"/>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Toute commande inconnue est rejetee avant le moteur.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Du texte au state</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Le moteur choisit l'action et produit les ecritures</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05</a:t>
            </a:r>
          </a:p>
        </p:txBody>
      </p:sp>
      <p:sp>
        <p:nvSpPr>
          <p:cNvPr id="6" name="Rounded Rectangle 5"/>
          <p:cNvSpPr/>
          <p:nvPr/>
        </p:nvSpPr>
        <p:spPr>
          <a:xfrm>
            <a:off x="502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640080"/>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481328"/>
            <a:ext cx="1828800" cy="228600"/>
          </a:xfrm>
          <a:prstGeom prst="rect">
            <a:avLst/>
          </a:prstGeom>
          <a:noFill/>
        </p:spPr>
        <p:txBody>
          <a:bodyPr wrap="square" anchor="t" lIns="18288" rIns="18288" tIns="0" bIns="0">
            <a:spAutoFit/>
          </a:bodyPr>
          <a:lstStyle/>
          <a:p>
            <a:r>
              <a:rPr sz="1019" b="1">
                <a:solidFill>
                  <a:srgbClr val="EFF4F7"/>
                </a:solidFill>
                <a:latin typeface="Aptos"/>
              </a:rPr>
              <a:t>Command</a:t>
            </a:r>
          </a:p>
        </p:txBody>
      </p:sp>
      <p:sp>
        <p:nvSpPr>
          <p:cNvPr id="9" name="TextBox 8"/>
          <p:cNvSpPr txBox="1"/>
          <p:nvPr/>
        </p:nvSpPr>
        <p:spPr>
          <a:xfrm>
            <a:off x="2596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0" name="Rounded Rectangle 9"/>
          <p:cNvSpPr/>
          <p:nvPr/>
        </p:nvSpPr>
        <p:spPr>
          <a:xfrm>
            <a:off x="2788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280160"/>
            <a:ext cx="64008" cy="640080"/>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16936" y="1481328"/>
            <a:ext cx="1828800" cy="228600"/>
          </a:xfrm>
          <a:prstGeom prst="rect">
            <a:avLst/>
          </a:prstGeom>
          <a:noFill/>
        </p:spPr>
        <p:txBody>
          <a:bodyPr wrap="square" anchor="t" lIns="18288" rIns="18288" tIns="0" bIns="0">
            <a:spAutoFit/>
          </a:bodyPr>
          <a:lstStyle/>
          <a:p>
            <a:r>
              <a:rPr sz="1019" b="1">
                <a:solidFill>
                  <a:srgbClr val="EFF4F7"/>
                </a:solidFill>
                <a:latin typeface="Aptos"/>
              </a:rPr>
              <a:t>execute(command)</a:t>
            </a:r>
          </a:p>
        </p:txBody>
      </p:sp>
      <p:sp>
        <p:nvSpPr>
          <p:cNvPr id="13" name="TextBox 12"/>
          <p:cNvSpPr txBox="1"/>
          <p:nvPr/>
        </p:nvSpPr>
        <p:spPr>
          <a:xfrm>
            <a:off x="4882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4" name="Rounded Rectangle 13"/>
          <p:cNvSpPr/>
          <p:nvPr/>
        </p:nvSpPr>
        <p:spPr>
          <a:xfrm>
            <a:off x="5074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1280160"/>
            <a:ext cx="64008" cy="640080"/>
          </a:xfrm>
          <a:prstGeom prst="rect">
            <a:avLst/>
          </a:prstGeom>
          <a:solidFill>
            <a:srgbClr val="5EC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02936" y="1481328"/>
            <a:ext cx="1828800" cy="228600"/>
          </a:xfrm>
          <a:prstGeom prst="rect">
            <a:avLst/>
          </a:prstGeom>
          <a:noFill/>
        </p:spPr>
        <p:txBody>
          <a:bodyPr wrap="square" anchor="t" lIns="18288" rIns="18288" tIns="0" bIns="0">
            <a:spAutoFit/>
          </a:bodyPr>
          <a:lstStyle/>
          <a:p>
            <a:r>
              <a:rPr sz="1019" b="1">
                <a:solidFill>
                  <a:srgbClr val="EFF4F7"/>
                </a:solidFill>
                <a:latin typeface="Aptos"/>
              </a:rPr>
              <a:t>Set / Get / Delete</a:t>
            </a:r>
          </a:p>
        </p:txBody>
      </p:sp>
      <p:sp>
        <p:nvSpPr>
          <p:cNvPr id="17" name="TextBox 16"/>
          <p:cNvSpPr txBox="1"/>
          <p:nvPr/>
        </p:nvSpPr>
        <p:spPr>
          <a:xfrm>
            <a:off x="7168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8" name="Rounded Rectangle 17"/>
          <p:cNvSpPr/>
          <p:nvPr/>
        </p:nvSpPr>
        <p:spPr>
          <a:xfrm>
            <a:off x="7360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60920" y="1280160"/>
            <a:ext cx="64008" cy="640080"/>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481328"/>
            <a:ext cx="1828800" cy="228600"/>
          </a:xfrm>
          <a:prstGeom prst="rect">
            <a:avLst/>
          </a:prstGeom>
          <a:noFill/>
        </p:spPr>
        <p:txBody>
          <a:bodyPr wrap="square" anchor="t" lIns="18288" rIns="18288" tIns="0" bIns="0">
            <a:spAutoFit/>
          </a:bodyPr>
          <a:lstStyle/>
          <a:p>
            <a:r>
              <a:rPr sz="1019" b="1">
                <a:solidFill>
                  <a:srgbClr val="EFF4F7"/>
                </a:solidFill>
                <a:latin typeface="Aptos"/>
              </a:rPr>
              <a:t>state</a:t>
            </a:r>
          </a:p>
        </p:txBody>
      </p:sp>
      <p:sp>
        <p:nvSpPr>
          <p:cNvPr id="21" name="TextBox 20"/>
          <p:cNvSpPr txBox="1"/>
          <p:nvPr/>
        </p:nvSpPr>
        <p:spPr>
          <a:xfrm>
            <a:off x="9454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22" name="Rounded Rectangle 21"/>
          <p:cNvSpPr/>
          <p:nvPr/>
        </p:nvSpPr>
        <p:spPr>
          <a:xfrm>
            <a:off x="9646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646920" y="1280160"/>
            <a:ext cx="64008" cy="640080"/>
          </a:xfrm>
          <a:prstGeom prst="rect">
            <a:avLst/>
          </a:prstGeom>
          <a:solidFill>
            <a:srgbClr val="F05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74936" y="1481328"/>
            <a:ext cx="1828800" cy="228600"/>
          </a:xfrm>
          <a:prstGeom prst="rect">
            <a:avLst/>
          </a:prstGeom>
          <a:noFill/>
        </p:spPr>
        <p:txBody>
          <a:bodyPr wrap="square" anchor="t" lIns="18288" rIns="18288" tIns="0" bIns="0">
            <a:spAutoFit/>
          </a:bodyPr>
          <a:lstStyle/>
          <a:p>
            <a:r>
              <a:rPr sz="1019" b="1">
                <a:solidFill>
                  <a:srgbClr val="EFF4F7"/>
                </a:solidFill>
                <a:latin typeface="Aptos"/>
              </a:rPr>
              <a:t>buffer</a:t>
            </a:r>
          </a:p>
        </p:txBody>
      </p:sp>
      <p:sp>
        <p:nvSpPr>
          <p:cNvPr id="25" name="Rounded Rectangle 24"/>
          <p:cNvSpPr/>
          <p:nvPr/>
        </p:nvSpPr>
        <p:spPr>
          <a:xfrm>
            <a:off x="502920" y="2286000"/>
            <a:ext cx="11173968" cy="3054096"/>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2468880"/>
            <a:ext cx="10661904" cy="219456"/>
          </a:xfrm>
          <a:prstGeom prst="rect">
            <a:avLst/>
          </a:prstGeom>
          <a:noFill/>
        </p:spPr>
        <p:txBody>
          <a:bodyPr wrap="square" anchor="t" lIns="18288" rIns="18288" tIns="0" bIns="0">
            <a:spAutoFit/>
          </a:bodyPr>
          <a:lstStyle/>
          <a:p>
            <a:r>
              <a:rPr sz="950" b="1">
                <a:solidFill>
                  <a:srgbClr val="2DC1B7"/>
                </a:solidFill>
                <a:latin typeface="Aptos"/>
              </a:rPr>
              <a:t>internal/redis/engine.go:181-217</a:t>
            </a:r>
          </a:p>
        </p:txBody>
      </p:sp>
      <p:sp>
        <p:nvSpPr>
          <p:cNvPr id="27" name="TextBox 26"/>
          <p:cNvSpPr txBox="1"/>
          <p:nvPr/>
        </p:nvSpPr>
        <p:spPr>
          <a:xfrm>
            <a:off x="777240" y="2852928"/>
            <a:ext cx="10625328" cy="2304288"/>
          </a:xfrm>
          <a:prstGeom prst="rect">
            <a:avLst/>
          </a:prstGeom>
          <a:noFill/>
        </p:spPr>
        <p:txBody>
          <a:bodyPr wrap="square" anchor="t" lIns="18288" rIns="18288" tIns="0" bIns="0">
            <a:spAutoFit/>
          </a:bodyPr>
          <a:lstStyle/>
          <a:p>
            <a:r>
              <a:rPr sz="1319" b="0">
                <a:solidFill>
                  <a:srgbClr val="EFF4F7"/>
                </a:solidFill>
                <a:latin typeface="Courier New"/>
              </a:rPr>
              <a:t>181  func (engine *Engine) execute(command Command) (Result, []Operation) {
182      switch command.Type {
183      case CommandSet:
184          stored := engine.SetWithTTL(command.Key, command.Value, command.TTLSeconds)
192      case CommandGet:
193          value, expired, err := engine.getAndExpire(command.Key)
201          return Result{OK: true, Value: value}, nil
208      case CommandDelete:
209          engine.Delete(command.Key)
210          return Result{OK: true}, []Operation{{Type: CommandDelete, Key: command.Key}}
217  }</a:t>
            </a:r>
          </a:p>
        </p:txBody>
      </p:sp>
      <p:sp>
        <p:nvSpPr>
          <p:cNvPr id="28" name="Rectangle 27"/>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Le switch relie chaque CommandType a Set, Get ou Delete sur state.</a:t>
            </a:r>
          </a:p>
        </p:txBody>
      </p:sp>
      <p:sp>
        <p:nvSpPr>
          <p:cNvPr id="30" name="Rectangle 29"/>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Les ecritures renvoient une Operation qui sera ajoutee au buffer.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AOF + snapshot : restaurer l'etat</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Le snapshot est charge avant le rejeu du journal</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06</a:t>
            </a:r>
          </a:p>
        </p:txBody>
      </p:sp>
      <p:sp>
        <p:nvSpPr>
          <p:cNvPr id="6" name="Rounded Rectangle 5"/>
          <p:cNvSpPr/>
          <p:nvPr/>
        </p:nvSpPr>
        <p:spPr>
          <a:xfrm>
            <a:off x="502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64008" cy="640080"/>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481328"/>
            <a:ext cx="1828800" cy="228600"/>
          </a:xfrm>
          <a:prstGeom prst="rect">
            <a:avLst/>
          </a:prstGeom>
          <a:noFill/>
        </p:spPr>
        <p:txBody>
          <a:bodyPr wrap="square" anchor="t" lIns="18288" rIns="18288" tIns="0" bIns="0">
            <a:spAutoFit/>
          </a:bodyPr>
          <a:lstStyle/>
          <a:p>
            <a:r>
              <a:rPr sz="1019" b="1">
                <a:solidFill>
                  <a:srgbClr val="EFF4F7"/>
                </a:solidFill>
                <a:latin typeface="Aptos"/>
              </a:rPr>
              <a:t>state</a:t>
            </a:r>
          </a:p>
        </p:txBody>
      </p:sp>
      <p:sp>
        <p:nvSpPr>
          <p:cNvPr id="9" name="TextBox 8"/>
          <p:cNvSpPr txBox="1"/>
          <p:nvPr/>
        </p:nvSpPr>
        <p:spPr>
          <a:xfrm>
            <a:off x="2596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0" name="Rounded Rectangle 9"/>
          <p:cNvSpPr/>
          <p:nvPr/>
        </p:nvSpPr>
        <p:spPr>
          <a:xfrm>
            <a:off x="2788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280160"/>
            <a:ext cx="64008" cy="640080"/>
          </a:xfrm>
          <a:prstGeom prst="rect">
            <a:avLst/>
          </a:prstGeom>
          <a:solidFill>
            <a:srgbClr val="F4CD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16936" y="1481328"/>
            <a:ext cx="1828800" cy="228600"/>
          </a:xfrm>
          <a:prstGeom prst="rect">
            <a:avLst/>
          </a:prstGeom>
          <a:noFill/>
        </p:spPr>
        <p:txBody>
          <a:bodyPr wrap="square" anchor="t" lIns="18288" rIns="18288" tIns="0" bIns="0">
            <a:spAutoFit/>
          </a:bodyPr>
          <a:lstStyle/>
          <a:p>
            <a:r>
              <a:rPr sz="1019" b="1">
                <a:solidFill>
                  <a:srgbClr val="EFF4F7"/>
                </a:solidFill>
                <a:latin typeface="Aptos"/>
              </a:rPr>
              <a:t>buffer Go</a:t>
            </a:r>
          </a:p>
        </p:txBody>
      </p:sp>
      <p:sp>
        <p:nvSpPr>
          <p:cNvPr id="13" name="TextBox 12"/>
          <p:cNvSpPr txBox="1"/>
          <p:nvPr/>
        </p:nvSpPr>
        <p:spPr>
          <a:xfrm>
            <a:off x="4882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4" name="Rounded Rectangle 13"/>
          <p:cNvSpPr/>
          <p:nvPr/>
        </p:nvSpPr>
        <p:spPr>
          <a:xfrm>
            <a:off x="5074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1280160"/>
            <a:ext cx="64008" cy="640080"/>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02936" y="1481328"/>
            <a:ext cx="1828800" cy="228600"/>
          </a:xfrm>
          <a:prstGeom prst="rect">
            <a:avLst/>
          </a:prstGeom>
          <a:noFill/>
        </p:spPr>
        <p:txBody>
          <a:bodyPr wrap="square" anchor="t" lIns="18288" rIns="18288" tIns="0" bIns="0">
            <a:spAutoFit/>
          </a:bodyPr>
          <a:lstStyle/>
          <a:p>
            <a:r>
              <a:rPr sz="1019" b="1">
                <a:solidFill>
                  <a:srgbClr val="EFF4F7"/>
                </a:solidFill>
                <a:latin typeface="Aptos"/>
              </a:rPr>
              <a:t>AOF</a:t>
            </a:r>
          </a:p>
        </p:txBody>
      </p:sp>
      <p:sp>
        <p:nvSpPr>
          <p:cNvPr id="17" name="TextBox 16"/>
          <p:cNvSpPr txBox="1"/>
          <p:nvPr/>
        </p:nvSpPr>
        <p:spPr>
          <a:xfrm>
            <a:off x="7168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18" name="Rounded Rectangle 17"/>
          <p:cNvSpPr/>
          <p:nvPr/>
        </p:nvSpPr>
        <p:spPr>
          <a:xfrm>
            <a:off x="7360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60920" y="1280160"/>
            <a:ext cx="64008" cy="640080"/>
          </a:xfrm>
          <a:prstGeom prst="rect">
            <a:avLst/>
          </a:prstGeom>
          <a:solidFill>
            <a:srgbClr val="F05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88936" y="1481328"/>
            <a:ext cx="1828800" cy="228600"/>
          </a:xfrm>
          <a:prstGeom prst="rect">
            <a:avLst/>
          </a:prstGeom>
          <a:noFill/>
        </p:spPr>
        <p:txBody>
          <a:bodyPr wrap="square" anchor="t" lIns="18288" rIns="18288" tIns="0" bIns="0">
            <a:spAutoFit/>
          </a:bodyPr>
          <a:lstStyle/>
          <a:p>
            <a:r>
              <a:rPr sz="1019" b="1">
                <a:solidFill>
                  <a:srgbClr val="EFF4F7"/>
                </a:solidFill>
                <a:latin typeface="Aptos"/>
              </a:rPr>
              <a:t>snapshot</a:t>
            </a:r>
          </a:p>
        </p:txBody>
      </p:sp>
      <p:sp>
        <p:nvSpPr>
          <p:cNvPr id="21" name="TextBox 20"/>
          <p:cNvSpPr txBox="1"/>
          <p:nvPr/>
        </p:nvSpPr>
        <p:spPr>
          <a:xfrm>
            <a:off x="9454896" y="1463040"/>
            <a:ext cx="128016" cy="219456"/>
          </a:xfrm>
          <a:prstGeom prst="rect">
            <a:avLst/>
          </a:prstGeom>
          <a:noFill/>
        </p:spPr>
        <p:txBody>
          <a:bodyPr wrap="square" anchor="t" lIns="18288" rIns="18288" tIns="0" bIns="0">
            <a:spAutoFit/>
          </a:bodyPr>
          <a:lstStyle/>
          <a:p>
            <a:r>
              <a:rPr sz="1400" b="1">
                <a:solidFill>
                  <a:srgbClr val="F57F4D"/>
                </a:solidFill>
                <a:latin typeface="Aptos"/>
              </a:rPr>
              <a:t>&gt;</a:t>
            </a:r>
          </a:p>
        </p:txBody>
      </p:sp>
      <p:sp>
        <p:nvSpPr>
          <p:cNvPr id="22" name="Rounded Rectangle 21"/>
          <p:cNvSpPr/>
          <p:nvPr/>
        </p:nvSpPr>
        <p:spPr>
          <a:xfrm>
            <a:off x="9646920" y="1280160"/>
            <a:ext cx="2029968" cy="64008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646920" y="1280160"/>
            <a:ext cx="64008" cy="640080"/>
          </a:xfrm>
          <a:prstGeom prst="rect">
            <a:avLst/>
          </a:prstGeom>
          <a:solidFill>
            <a:srgbClr val="5EC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74936" y="1481328"/>
            <a:ext cx="1828800" cy="228600"/>
          </a:xfrm>
          <a:prstGeom prst="rect">
            <a:avLst/>
          </a:prstGeom>
          <a:noFill/>
        </p:spPr>
        <p:txBody>
          <a:bodyPr wrap="square" anchor="t" lIns="18288" rIns="18288" tIns="0" bIns="0">
            <a:spAutoFit/>
          </a:bodyPr>
          <a:lstStyle/>
          <a:p>
            <a:r>
              <a:rPr sz="1019" b="1">
                <a:solidFill>
                  <a:srgbClr val="EFF4F7"/>
                </a:solidFill>
                <a:latin typeface="Aptos"/>
              </a:rPr>
              <a:t>restore</a:t>
            </a:r>
          </a:p>
        </p:txBody>
      </p:sp>
      <p:sp>
        <p:nvSpPr>
          <p:cNvPr id="25" name="Rounded Rectangle 24"/>
          <p:cNvSpPr/>
          <p:nvPr/>
        </p:nvSpPr>
        <p:spPr>
          <a:xfrm>
            <a:off x="502920" y="2185415"/>
            <a:ext cx="11173968" cy="3255264"/>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2368295"/>
            <a:ext cx="10661904" cy="219456"/>
          </a:xfrm>
          <a:prstGeom prst="rect">
            <a:avLst/>
          </a:prstGeom>
          <a:noFill/>
        </p:spPr>
        <p:txBody>
          <a:bodyPr wrap="square" anchor="t" lIns="18288" rIns="18288" tIns="0" bIns="0">
            <a:spAutoFit/>
          </a:bodyPr>
          <a:lstStyle/>
          <a:p>
            <a:r>
              <a:rPr sz="950" b="1">
                <a:solidFill>
                  <a:srgbClr val="2DC1B7"/>
                </a:solidFill>
                <a:latin typeface="Aptos"/>
              </a:rPr>
              <a:t>web/src/worker/wasmRedis.worker.ts:310-332</a:t>
            </a:r>
          </a:p>
        </p:txBody>
      </p:sp>
      <p:sp>
        <p:nvSpPr>
          <p:cNvPr id="27" name="TextBox 26"/>
          <p:cNvSpPr txBox="1"/>
          <p:nvPr/>
        </p:nvSpPr>
        <p:spPr>
          <a:xfrm>
            <a:off x="777240" y="2752343"/>
            <a:ext cx="10625328" cy="2505456"/>
          </a:xfrm>
          <a:prstGeom prst="rect">
            <a:avLst/>
          </a:prstGeom>
          <a:noFill/>
        </p:spPr>
        <p:txBody>
          <a:bodyPr wrap="square" anchor="t" lIns="18288" rIns="18288" tIns="0" bIns="0">
            <a:spAutoFit/>
          </a:bodyPr>
          <a:lstStyle/>
          <a:p>
            <a:r>
              <a:rPr sz="1279" b="0">
                <a:solidFill>
                  <a:srgbClr val="EFF4F7"/>
                </a:solidFill>
                <a:latin typeface="Courier New"/>
              </a:rPr>
              <a:t>310  async function restoreFromOpfs(): Promise&lt;void&gt; {
313    const snapshot = await readOpfsText(snapshotFileName);
314    if (snapshot.trim() !== "" &amp;&amp; scope.wasmRedisLoadSnapshot) {
315      assertGoOK(JSON.parse(scope.wasmRedisLoadSnapshot(snapshot)) as unknown, "snapshot restore failed");
316    }
320    const aof = await readOpfsText(aofFileName);
321    const operations = aof
322      .split("\n")
324      .filter(Boolean)
325      .map((line) =&gt; JSON.parse(line) as unknown);
331    if (operations.length &gt; 0) {
332      replayGoOperations(operations);</a:t>
            </a:r>
          </a:p>
        </p:txBody>
      </p:sp>
      <p:sp>
        <p:nvSpPr>
          <p:cNvPr id="28" name="Rectangle 27"/>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Au demarrage : snapshot d'abord, puis operations AOF rejouees dans l'ordre.</a:t>
            </a:r>
          </a:p>
        </p:txBody>
      </p:sp>
      <p:sp>
        <p:nvSpPr>
          <p:cNvPr id="30" name="Rectangle 29"/>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Tout vient de .env, ex. VITE_WASMREDIS_FLUSH_INTERVAL_MS=1000.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Un batch, un seul passage</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Les commandes restent ordonnees et sans interleaving</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07</a:t>
            </a:r>
          </a:p>
        </p:txBody>
      </p:sp>
      <p:sp>
        <p:nvSpPr>
          <p:cNvPr id="6" name="Rounded Rectangle 5"/>
          <p:cNvSpPr/>
          <p:nvPr/>
        </p:nvSpPr>
        <p:spPr>
          <a:xfrm>
            <a:off x="502920" y="1792223"/>
            <a:ext cx="11173968" cy="3255264"/>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75103"/>
            <a:ext cx="10661904" cy="219456"/>
          </a:xfrm>
          <a:prstGeom prst="rect">
            <a:avLst/>
          </a:prstGeom>
          <a:noFill/>
        </p:spPr>
        <p:txBody>
          <a:bodyPr wrap="square" anchor="t" lIns="18288" rIns="18288" tIns="0" bIns="0">
            <a:spAutoFit/>
          </a:bodyPr>
          <a:lstStyle/>
          <a:p>
            <a:r>
              <a:rPr sz="950" b="1">
                <a:solidFill>
                  <a:srgbClr val="2DC1B7"/>
                </a:solidFill>
                <a:latin typeface="Aptos"/>
              </a:rPr>
              <a:t>internal/redis/engine.go:553-567</a:t>
            </a:r>
          </a:p>
        </p:txBody>
      </p:sp>
      <p:sp>
        <p:nvSpPr>
          <p:cNvPr id="8" name="TextBox 7"/>
          <p:cNvSpPr txBox="1"/>
          <p:nvPr/>
        </p:nvSpPr>
        <p:spPr>
          <a:xfrm>
            <a:off x="777240" y="2359151"/>
            <a:ext cx="10625328" cy="2505456"/>
          </a:xfrm>
          <a:prstGeom prst="rect">
            <a:avLst/>
          </a:prstGeom>
          <a:noFill/>
        </p:spPr>
        <p:txBody>
          <a:bodyPr wrap="square" anchor="t" lIns="18288" rIns="18288" tIns="0" bIns="0">
            <a:spAutoFit/>
          </a:bodyPr>
          <a:lstStyle/>
          <a:p>
            <a:r>
              <a:rPr sz="1315" b="0">
                <a:solidFill>
                  <a:srgbClr val="EFF4F7"/>
                </a:solidFill>
                <a:latin typeface="Courier New"/>
              </a:rPr>
              <a:t>553  func (engine *Engine) ExecuteBatch(commands []string) BatchResult {
554      engine.batchMu.Lock()
555      defer engine.batchMu.Unlock()
557      results := make([]Result, 0, len(commands))
558      writes := make([]Operation, 0)
560      for _, commandText := range commands {
561          result, commandWrites := engine.ExecuteText(commandText)
562          results = append(results, result)
563          writes = append(writes, commandWrites...)
564      }
566      return BatchResult{Results: results, Writes: writes, BufferSize: engine.BufferSize()}
567  }</a:t>
            </a:r>
          </a:p>
        </p:txBody>
      </p:sp>
      <p:sp>
        <p:nvSpPr>
          <p:cNvPr id="9" name="Rectangle 8"/>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batchMu verrouille tout le lot et les resultats restent alignes aux commandes.</a:t>
            </a:r>
          </a:p>
        </p:txBody>
      </p:sp>
      <p:sp>
        <p:nvSpPr>
          <p:cNvPr id="11" name="Rectangle 10"/>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Mesure du projet : 15,5x plus rapide pour 30 SET regroupes.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Les plages passent par le B-Tree</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Le parcours s'arrete des que la limite est depassee</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08</a:t>
            </a:r>
          </a:p>
        </p:txBody>
      </p:sp>
      <p:sp>
        <p:nvSpPr>
          <p:cNvPr id="6" name="Rounded Rectangle 5"/>
          <p:cNvSpPr/>
          <p:nvPr/>
        </p:nvSpPr>
        <p:spPr>
          <a:xfrm>
            <a:off x="502920" y="1792223"/>
            <a:ext cx="11173968" cy="3255264"/>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75103"/>
            <a:ext cx="10661904" cy="219456"/>
          </a:xfrm>
          <a:prstGeom prst="rect">
            <a:avLst/>
          </a:prstGeom>
          <a:noFill/>
        </p:spPr>
        <p:txBody>
          <a:bodyPr wrap="square" anchor="t" lIns="18288" rIns="18288" tIns="0" bIns="0">
            <a:spAutoFit/>
          </a:bodyPr>
          <a:lstStyle/>
          <a:p>
            <a:r>
              <a:rPr sz="950" b="1">
                <a:solidFill>
                  <a:srgbClr val="2DC1B7"/>
                </a:solidFill>
                <a:latin typeface="Aptos"/>
              </a:rPr>
              <a:t>internal/redis/btree.go:92-103</a:t>
            </a:r>
          </a:p>
        </p:txBody>
      </p:sp>
      <p:sp>
        <p:nvSpPr>
          <p:cNvPr id="8" name="TextBox 7"/>
          <p:cNvSpPr txBox="1"/>
          <p:nvPr/>
        </p:nvSpPr>
        <p:spPr>
          <a:xfrm>
            <a:off x="777240" y="2359151"/>
            <a:ext cx="10625328" cy="2505456"/>
          </a:xfrm>
          <a:prstGeom prst="rect">
            <a:avLst/>
          </a:prstGeom>
          <a:noFill/>
        </p:spPr>
        <p:txBody>
          <a:bodyPr wrap="square" anchor="t" lIns="18288" rIns="18288" tIns="0" bIns="0">
            <a:spAutoFit/>
          </a:bodyPr>
          <a:lstStyle/>
          <a:p>
            <a:r>
              <a:rPr sz="1315" b="0">
                <a:solidFill>
                  <a:srgbClr val="EFF4F7"/>
                </a:solidFill>
                <a:latin typeface="Courier New"/>
              </a:rPr>
              <a:t> 92  func (tree *BTree) RangeItems(operator FilterOperator, target float64) []BTreeItem {
 93      items := make([]BTreeItem, 0)
 94  
 95      if operator == OperatorLessThan || operator == OperatorLessOrEqual {
 96          tree.walkAscending(tree.root, func(item BTreeItem) bool {
 97              if !matchesRange(item.Value, operator, target) {
 98                  return false
 99              }
100              items = append(items, item)
101              return true
102          })
103          return items</a:t>
            </a:r>
          </a:p>
        </p:txBody>
      </p:sp>
      <p:sp>
        <p:nvSpPr>
          <p:cNvPr id="9" name="Rectangle 8"/>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equals utilise un index inverse ; contains assume un scan.</a:t>
            </a:r>
          </a:p>
        </p:txBody>
      </p:sp>
      <p:sp>
        <p:nvSpPr>
          <p:cNvPr id="11" name="Rectangle 10"/>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Une plage selective reste a environ 0,3 us jusqu'a 10 000 entrees.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Le TTL supprime vraiment la cle</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State, index et AOF restent coherents</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09</a:t>
            </a:r>
          </a:p>
        </p:txBody>
      </p:sp>
      <p:sp>
        <p:nvSpPr>
          <p:cNvPr id="6" name="Rounded Rectangle 5"/>
          <p:cNvSpPr/>
          <p:nvPr/>
        </p:nvSpPr>
        <p:spPr>
          <a:xfrm>
            <a:off x="502920" y="2093976"/>
            <a:ext cx="11173968" cy="2651760"/>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2276856"/>
            <a:ext cx="10661904" cy="219456"/>
          </a:xfrm>
          <a:prstGeom prst="rect">
            <a:avLst/>
          </a:prstGeom>
          <a:noFill/>
        </p:spPr>
        <p:txBody>
          <a:bodyPr wrap="square" anchor="t" lIns="18288" rIns="18288" tIns="0" bIns="0">
            <a:spAutoFit/>
          </a:bodyPr>
          <a:lstStyle/>
          <a:p>
            <a:r>
              <a:rPr sz="950" b="1">
                <a:solidFill>
                  <a:srgbClr val="2DC1B7"/>
                </a:solidFill>
                <a:latin typeface="Aptos"/>
              </a:rPr>
              <a:t>internal/redis/engine.go:451-459</a:t>
            </a:r>
          </a:p>
        </p:txBody>
      </p:sp>
      <p:sp>
        <p:nvSpPr>
          <p:cNvPr id="8" name="TextBox 7"/>
          <p:cNvSpPr txBox="1"/>
          <p:nvPr/>
        </p:nvSpPr>
        <p:spPr>
          <a:xfrm>
            <a:off x="777240" y="2660904"/>
            <a:ext cx="10625328" cy="1901952"/>
          </a:xfrm>
          <a:prstGeom prst="rect">
            <a:avLst/>
          </a:prstGeom>
          <a:noFill/>
        </p:spPr>
        <p:txBody>
          <a:bodyPr wrap="square" anchor="t" lIns="18288" rIns="18288" tIns="0" bIns="0">
            <a:spAutoFit/>
          </a:bodyPr>
          <a:lstStyle/>
          <a:p>
            <a:r>
              <a:rPr sz="1331" b="0">
                <a:solidFill>
                  <a:srgbClr val="EFF4F7"/>
                </a:solidFill>
                <a:latin typeface="Courier New"/>
              </a:rPr>
              <a:t>451  func (engine *Engine) removeIfExpiredLocked(key string, stored StoredValue) bool {
452      if !engine.isExpired(stored) {
453          return false
454      }
455  
456      delete(engine.state, key)
457      engine.removeFromEqualsIndexLocked(key, stored.Value)
458      engine.removeFromNumberIndexLocked(stored.Value)
459      return true</a:t>
            </a:r>
          </a:p>
        </p:txBody>
      </p:sp>
      <p:sp>
        <p:nvSpPr>
          <p:cNvPr id="9" name="Rectangle 8"/>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Expiration lazy au GET, plus balayage actif periodique.</a:t>
            </a:r>
          </a:p>
        </p:txBody>
      </p:sp>
      <p:sp>
        <p:nvSpPr>
          <p:cNvPr id="11" name="Rectangle 10"/>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Le restore garde ExpiresAt et ne remplit pas de nouveau le buffer.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100 000 entrees, 29 lignes DOM</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Virtual scroll maison + abonnement cible</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10</a:t>
            </a:r>
          </a:p>
        </p:txBody>
      </p:sp>
      <p:sp>
        <p:nvSpPr>
          <p:cNvPr id="6" name="Rounded Rectangle 5"/>
          <p:cNvSpPr/>
          <p:nvPr/>
        </p:nvSpPr>
        <p:spPr>
          <a:xfrm>
            <a:off x="502920" y="1792223"/>
            <a:ext cx="11173968" cy="3255264"/>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75103"/>
            <a:ext cx="10661904" cy="219456"/>
          </a:xfrm>
          <a:prstGeom prst="rect">
            <a:avLst/>
          </a:prstGeom>
          <a:noFill/>
        </p:spPr>
        <p:txBody>
          <a:bodyPr wrap="square" anchor="t" lIns="18288" rIns="18288" tIns="0" bIns="0">
            <a:spAutoFit/>
          </a:bodyPr>
          <a:lstStyle/>
          <a:p>
            <a:r>
              <a:rPr sz="950" b="1">
                <a:solidFill>
                  <a:srgbClr val="2DC1B7"/>
                </a:solidFill>
                <a:latin typeface="Aptos"/>
              </a:rPr>
              <a:t>web/src/virtual/getVirtualRange.ts:22-27   |   web/src/store/entryStore.ts:60-64</a:t>
            </a:r>
          </a:p>
        </p:txBody>
      </p:sp>
      <p:sp>
        <p:nvSpPr>
          <p:cNvPr id="8" name="TextBox 7"/>
          <p:cNvSpPr txBox="1"/>
          <p:nvPr/>
        </p:nvSpPr>
        <p:spPr>
          <a:xfrm>
            <a:off x="777240" y="2359151"/>
            <a:ext cx="10625328" cy="2505456"/>
          </a:xfrm>
          <a:prstGeom prst="rect">
            <a:avLst/>
          </a:prstGeom>
          <a:noFill/>
        </p:spPr>
        <p:txBody>
          <a:bodyPr wrap="square" anchor="t" lIns="18288" rIns="18288" tIns="0" bIns="0">
            <a:spAutoFit/>
          </a:bodyPr>
          <a:lstStyle/>
          <a:p>
            <a:r>
              <a:rPr sz="1315" b="0">
                <a:solidFill>
                  <a:srgbClr val="EFF4F7"/>
                </a:solidFill>
                <a:latin typeface="Courier New"/>
              </a:rPr>
              <a:t>22    const firstVisible = Math.min(itemCount - 1, Math.floor(scrollTop / rowHeight));
23    const startIndex = Math.max(0, firstVisible - overscan);
24    const visibleCount = Math.ceil(viewportHeight / rowHeight) + overscan * 2;
25    const endIndex = Math.min(itemCount, startIndex + visibleCount);
26  
27    return { startIndex, endIndex, totalHeight: itemCount * rowHeight };
60  export function useEntry(key: string): StoreEntry | undefined {
61    const subscribe = useCallback((listener: Listener) =&gt; subscribeEntry(key, listener), [key]);
62    const getSnapshot = useCallback(() =&gt; getEntry(key), [key]);
63    return useSyncExternalStore(subscribe, getSnapshot, getSnapshot);
64  }</a:t>
            </a:r>
          </a:p>
        </p:txBody>
      </p:sp>
      <p:sp>
        <p:nvSpPr>
          <p:cNvPr id="9" name="Rectangle 8"/>
          <p:cNvSpPr/>
          <p:nvPr/>
        </p:nvSpPr>
        <p:spPr>
          <a:xfrm>
            <a:off x="530352" y="5870448"/>
            <a:ext cx="73152" cy="438912"/>
          </a:xfrm>
          <a:prstGeom prst="rect">
            <a:avLst/>
          </a:prstGeom>
          <a:solidFill>
            <a:srgbClr val="2DC1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852160"/>
            <a:ext cx="5440680" cy="438912"/>
          </a:xfrm>
          <a:prstGeom prst="rect">
            <a:avLst/>
          </a:prstGeom>
          <a:noFill/>
        </p:spPr>
        <p:txBody>
          <a:bodyPr wrap="square" anchor="t" lIns="18288" rIns="18288" tIns="0" bIns="0">
            <a:spAutoFit/>
          </a:bodyPr>
          <a:lstStyle/>
          <a:p>
            <a:r>
              <a:rPr sz="1150" b="1">
                <a:solidFill>
                  <a:srgbClr val="EFF4F7"/>
                </a:solidFill>
                <a:latin typeface="Aptos"/>
              </a:rPr>
              <a:t>Le spacer simule la hauteur totale ; seule la tranche visible est montee.</a:t>
            </a:r>
          </a:p>
        </p:txBody>
      </p:sp>
      <p:sp>
        <p:nvSpPr>
          <p:cNvPr id="11" name="Rectangle 10"/>
          <p:cNvSpPr/>
          <p:nvPr/>
        </p:nvSpPr>
        <p:spPr>
          <a:xfrm>
            <a:off x="6181344" y="5870448"/>
            <a:ext cx="73152" cy="438912"/>
          </a:xfrm>
          <a:prstGeom prst="rect">
            <a:avLst/>
          </a:prstGeom>
          <a:solidFill>
            <a:srgbClr val="F57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4224" y="5852160"/>
            <a:ext cx="5440680" cy="438912"/>
          </a:xfrm>
          <a:prstGeom prst="rect">
            <a:avLst/>
          </a:prstGeom>
          <a:noFill/>
        </p:spPr>
        <p:txBody>
          <a:bodyPr wrap="square" anchor="t" lIns="18288" rIns="18288" tIns="0" bIns="0">
            <a:spAutoFit/>
          </a:bodyPr>
          <a:lstStyle/>
          <a:p>
            <a:r>
              <a:rPr sz="1150" b="1">
                <a:solidFill>
                  <a:srgbClr val="EFF4F7"/>
                </a:solidFill>
                <a:latin typeface="Aptos"/>
              </a:rPr>
              <a:t>Modifier une ligne : compteur 1 -&gt; 2 ; autre ligne : 1 -&gt;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0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875520" cy="384048"/>
          </a:xfrm>
          <a:prstGeom prst="rect">
            <a:avLst/>
          </a:prstGeom>
          <a:noFill/>
        </p:spPr>
        <p:txBody>
          <a:bodyPr wrap="square" anchor="t" lIns="18288" rIns="18288" tIns="0" bIns="0">
            <a:spAutoFit/>
          </a:bodyPr>
          <a:lstStyle/>
          <a:p>
            <a:r>
              <a:rPr sz="2500" b="1">
                <a:solidFill>
                  <a:srgbClr val="EFF4F7"/>
                </a:solidFill>
                <a:latin typeface="Aptos"/>
              </a:rPr>
              <a:t>Ce que la demo prouve</a:t>
            </a:r>
          </a:p>
        </p:txBody>
      </p:sp>
      <p:sp>
        <p:nvSpPr>
          <p:cNvPr id="4" name="TextBox 3"/>
          <p:cNvSpPr txBox="1"/>
          <p:nvPr/>
        </p:nvSpPr>
        <p:spPr>
          <a:xfrm>
            <a:off x="521207" y="704088"/>
            <a:ext cx="9875520" cy="256032"/>
          </a:xfrm>
          <a:prstGeom prst="rect">
            <a:avLst/>
          </a:prstGeom>
          <a:noFill/>
        </p:spPr>
        <p:txBody>
          <a:bodyPr wrap="square" anchor="t" lIns="18288" rIns="18288" tIns="0" bIns="0">
            <a:spAutoFit/>
          </a:bodyPr>
          <a:lstStyle/>
          <a:p>
            <a:r>
              <a:rPr sz="1150" b="0">
                <a:solidFill>
                  <a:srgbClr val="99A9B7"/>
                </a:solidFill>
                <a:latin typeface="Aptos"/>
              </a:rPr>
              <a:t>Mesures reelles, parcours reproductible</a:t>
            </a:r>
          </a:p>
        </p:txBody>
      </p:sp>
      <p:sp>
        <p:nvSpPr>
          <p:cNvPr id="5" name="TextBox 4"/>
          <p:cNvSpPr txBox="1"/>
          <p:nvPr/>
        </p:nvSpPr>
        <p:spPr>
          <a:xfrm>
            <a:off x="11292840" y="320040"/>
            <a:ext cx="365760" cy="228600"/>
          </a:xfrm>
          <a:prstGeom prst="rect">
            <a:avLst/>
          </a:prstGeom>
          <a:noFill/>
        </p:spPr>
        <p:txBody>
          <a:bodyPr wrap="square" anchor="t" lIns="18288" rIns="18288" tIns="0" bIns="0">
            <a:spAutoFit/>
          </a:bodyPr>
          <a:lstStyle/>
          <a:p>
            <a:r>
              <a:rPr sz="1000" b="1">
                <a:solidFill>
                  <a:srgbClr val="99A9B7"/>
                </a:solidFill>
                <a:latin typeface="Aptos"/>
              </a:rPr>
              <a:t>11</a:t>
            </a:r>
          </a:p>
        </p:txBody>
      </p:sp>
      <p:sp>
        <p:nvSpPr>
          <p:cNvPr id="6" name="Rounded Rectangle 5"/>
          <p:cNvSpPr/>
          <p:nvPr/>
        </p:nvSpPr>
        <p:spPr>
          <a:xfrm>
            <a:off x="512064" y="1417320"/>
            <a:ext cx="2532888" cy="129844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700784"/>
            <a:ext cx="2011680" cy="402336"/>
          </a:xfrm>
          <a:prstGeom prst="rect">
            <a:avLst/>
          </a:prstGeom>
          <a:noFill/>
        </p:spPr>
        <p:txBody>
          <a:bodyPr wrap="square" anchor="t" lIns="18288" rIns="18288" tIns="0" bIns="0">
            <a:spAutoFit/>
          </a:bodyPr>
          <a:lstStyle/>
          <a:p>
            <a:r>
              <a:rPr sz="2500" b="1">
                <a:solidFill>
                  <a:srgbClr val="2DC1B7"/>
                </a:solidFill>
                <a:latin typeface="Aptos"/>
              </a:rPr>
              <a:t>15,5 x</a:t>
            </a:r>
          </a:p>
        </p:txBody>
      </p:sp>
      <p:sp>
        <p:nvSpPr>
          <p:cNvPr id="8" name="TextBox 7"/>
          <p:cNvSpPr txBox="1"/>
          <p:nvPr/>
        </p:nvSpPr>
        <p:spPr>
          <a:xfrm>
            <a:off x="713232" y="2212848"/>
            <a:ext cx="2011680" cy="219456"/>
          </a:xfrm>
          <a:prstGeom prst="rect">
            <a:avLst/>
          </a:prstGeom>
          <a:noFill/>
        </p:spPr>
        <p:txBody>
          <a:bodyPr wrap="square" anchor="t" lIns="18288" rIns="18288" tIns="0" bIns="0">
            <a:spAutoFit/>
          </a:bodyPr>
          <a:lstStyle/>
          <a:p>
            <a:r>
              <a:rPr sz="1000" b="0">
                <a:solidFill>
                  <a:srgbClr val="99A9B7"/>
                </a:solidFill>
                <a:latin typeface="Aptos"/>
              </a:rPr>
              <a:t>gain batch / 30 SET</a:t>
            </a:r>
          </a:p>
        </p:txBody>
      </p:sp>
      <p:sp>
        <p:nvSpPr>
          <p:cNvPr id="9" name="Rounded Rectangle 8"/>
          <p:cNvSpPr/>
          <p:nvPr/>
        </p:nvSpPr>
        <p:spPr>
          <a:xfrm>
            <a:off x="3374136" y="1417320"/>
            <a:ext cx="2532888" cy="129844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75304" y="1700784"/>
            <a:ext cx="2011680" cy="402336"/>
          </a:xfrm>
          <a:prstGeom prst="rect">
            <a:avLst/>
          </a:prstGeom>
          <a:noFill/>
        </p:spPr>
        <p:txBody>
          <a:bodyPr wrap="square" anchor="t" lIns="18288" rIns="18288" tIns="0" bIns="0">
            <a:spAutoFit/>
          </a:bodyPr>
          <a:lstStyle/>
          <a:p>
            <a:r>
              <a:rPr sz="2500" b="1">
                <a:solidFill>
                  <a:srgbClr val="5ECD91"/>
                </a:solidFill>
                <a:latin typeface="Aptos"/>
              </a:rPr>
              <a:t>~0,3 us</a:t>
            </a:r>
          </a:p>
        </p:txBody>
      </p:sp>
      <p:sp>
        <p:nvSpPr>
          <p:cNvPr id="11" name="TextBox 10"/>
          <p:cNvSpPr txBox="1"/>
          <p:nvPr/>
        </p:nvSpPr>
        <p:spPr>
          <a:xfrm>
            <a:off x="3575304" y="2212848"/>
            <a:ext cx="2011680" cy="219456"/>
          </a:xfrm>
          <a:prstGeom prst="rect">
            <a:avLst/>
          </a:prstGeom>
          <a:noFill/>
        </p:spPr>
        <p:txBody>
          <a:bodyPr wrap="square" anchor="t" lIns="18288" rIns="18288" tIns="0" bIns="0">
            <a:spAutoFit/>
          </a:bodyPr>
          <a:lstStyle/>
          <a:p>
            <a:r>
              <a:rPr sz="1000" b="0">
                <a:solidFill>
                  <a:srgbClr val="99A9B7"/>
                </a:solidFill>
                <a:latin typeface="Aptos"/>
              </a:rPr>
              <a:t>range selective / 10k</a:t>
            </a:r>
          </a:p>
        </p:txBody>
      </p:sp>
      <p:sp>
        <p:nvSpPr>
          <p:cNvPr id="12" name="Rounded Rectangle 11"/>
          <p:cNvSpPr/>
          <p:nvPr/>
        </p:nvSpPr>
        <p:spPr>
          <a:xfrm>
            <a:off x="6236208" y="1417320"/>
            <a:ext cx="2532888" cy="129844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700784"/>
            <a:ext cx="2011680" cy="402336"/>
          </a:xfrm>
          <a:prstGeom prst="rect">
            <a:avLst/>
          </a:prstGeom>
          <a:noFill/>
        </p:spPr>
        <p:txBody>
          <a:bodyPr wrap="square" anchor="t" lIns="18288" rIns="18288" tIns="0" bIns="0">
            <a:spAutoFit/>
          </a:bodyPr>
          <a:lstStyle/>
          <a:p>
            <a:r>
              <a:rPr sz="2500" b="1">
                <a:solidFill>
                  <a:srgbClr val="F4CD60"/>
                </a:solidFill>
                <a:latin typeface="Aptos"/>
              </a:rPr>
              <a:t>60 FPS</a:t>
            </a:r>
          </a:p>
        </p:txBody>
      </p:sp>
      <p:sp>
        <p:nvSpPr>
          <p:cNvPr id="14" name="TextBox 13"/>
          <p:cNvSpPr txBox="1"/>
          <p:nvPr/>
        </p:nvSpPr>
        <p:spPr>
          <a:xfrm>
            <a:off x="6437376" y="2212848"/>
            <a:ext cx="2011680" cy="219456"/>
          </a:xfrm>
          <a:prstGeom prst="rect">
            <a:avLst/>
          </a:prstGeom>
          <a:noFill/>
        </p:spPr>
        <p:txBody>
          <a:bodyPr wrap="square" anchor="t" lIns="18288" rIns="18288" tIns="0" bIns="0">
            <a:spAutoFit/>
          </a:bodyPr>
          <a:lstStyle/>
          <a:p>
            <a:r>
              <a:rPr sz="1000" b="0">
                <a:solidFill>
                  <a:srgbClr val="99A9B7"/>
                </a:solidFill>
                <a:latin typeface="Aptos"/>
              </a:rPr>
              <a:t>scroll mesure</a:t>
            </a:r>
          </a:p>
        </p:txBody>
      </p:sp>
      <p:sp>
        <p:nvSpPr>
          <p:cNvPr id="15" name="Rounded Rectangle 14"/>
          <p:cNvSpPr/>
          <p:nvPr/>
        </p:nvSpPr>
        <p:spPr>
          <a:xfrm>
            <a:off x="9098280" y="1417320"/>
            <a:ext cx="2532888" cy="1298448"/>
          </a:xfrm>
          <a:prstGeom prst="roundRect">
            <a:avLst/>
          </a:prstGeom>
          <a:solidFill>
            <a:srgbClr val="121C29"/>
          </a:solidFill>
          <a:ln>
            <a:solidFill>
              <a:srgbClr val="1C293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99448" y="1700784"/>
            <a:ext cx="2011680" cy="402336"/>
          </a:xfrm>
          <a:prstGeom prst="rect">
            <a:avLst/>
          </a:prstGeom>
          <a:noFill/>
        </p:spPr>
        <p:txBody>
          <a:bodyPr wrap="square" anchor="t" lIns="18288" rIns="18288" tIns="0" bIns="0">
            <a:spAutoFit/>
          </a:bodyPr>
          <a:lstStyle/>
          <a:p>
            <a:r>
              <a:rPr sz="2500" b="1">
                <a:solidFill>
                  <a:srgbClr val="F57F4D"/>
                </a:solidFill>
                <a:latin typeface="Aptos"/>
              </a:rPr>
              <a:t>29</a:t>
            </a:r>
          </a:p>
        </p:txBody>
      </p:sp>
      <p:sp>
        <p:nvSpPr>
          <p:cNvPr id="17" name="TextBox 16"/>
          <p:cNvSpPr txBox="1"/>
          <p:nvPr/>
        </p:nvSpPr>
        <p:spPr>
          <a:xfrm>
            <a:off x="9299448" y="2212848"/>
            <a:ext cx="2011680" cy="219456"/>
          </a:xfrm>
          <a:prstGeom prst="rect">
            <a:avLst/>
          </a:prstGeom>
          <a:noFill/>
        </p:spPr>
        <p:txBody>
          <a:bodyPr wrap="square" anchor="t" lIns="18288" rIns="18288" tIns="0" bIns="0">
            <a:spAutoFit/>
          </a:bodyPr>
          <a:lstStyle/>
          <a:p>
            <a:r>
              <a:rPr sz="1000" b="0">
                <a:solidFill>
                  <a:srgbClr val="99A9B7"/>
                </a:solidFill>
                <a:latin typeface="Aptos"/>
              </a:rPr>
              <a:t>lignes DOM / 100k</a:t>
            </a:r>
          </a:p>
        </p:txBody>
      </p:sp>
      <p:sp>
        <p:nvSpPr>
          <p:cNvPr id="18" name="TextBox 17"/>
          <p:cNvSpPr txBox="1"/>
          <p:nvPr/>
        </p:nvSpPr>
        <p:spPr>
          <a:xfrm>
            <a:off x="566928" y="3246120"/>
            <a:ext cx="3657600" cy="292608"/>
          </a:xfrm>
          <a:prstGeom prst="rect">
            <a:avLst/>
          </a:prstGeom>
          <a:noFill/>
        </p:spPr>
        <p:txBody>
          <a:bodyPr wrap="square" anchor="t" lIns="18288" rIns="18288" tIns="0" bIns="0">
            <a:spAutoFit/>
          </a:bodyPr>
          <a:lstStyle/>
          <a:p>
            <a:r>
              <a:rPr sz="1700" b="1">
                <a:solidFill>
                  <a:srgbClr val="EFF4F7"/>
                </a:solidFill>
                <a:latin typeface="Aptos"/>
              </a:rPr>
              <a:t>Demo en 60 secondes</a:t>
            </a:r>
          </a:p>
        </p:txBody>
      </p:sp>
      <p:sp>
        <p:nvSpPr>
          <p:cNvPr id="19" name="TextBox 18"/>
          <p:cNvSpPr txBox="1"/>
          <p:nvPr/>
        </p:nvSpPr>
        <p:spPr>
          <a:xfrm>
            <a:off x="621792" y="3749039"/>
            <a:ext cx="6583680" cy="256032"/>
          </a:xfrm>
          <a:prstGeom prst="rect">
            <a:avLst/>
          </a:prstGeom>
          <a:noFill/>
        </p:spPr>
        <p:txBody>
          <a:bodyPr wrap="square" anchor="t" lIns="18288" rIns="18288" tIns="0" bIns="0">
            <a:spAutoFit/>
          </a:bodyPr>
          <a:lstStyle/>
          <a:p>
            <a:r>
              <a:rPr sz="1300" b="1">
                <a:solidFill>
                  <a:srgbClr val="EFF4F7"/>
                </a:solidFill>
                <a:latin typeface="Aptos"/>
              </a:rPr>
              <a:t>1  SET avec TTL, puis Flush</a:t>
            </a:r>
          </a:p>
        </p:txBody>
      </p:sp>
      <p:sp>
        <p:nvSpPr>
          <p:cNvPr id="20" name="TextBox 19"/>
          <p:cNvSpPr txBox="1"/>
          <p:nvPr/>
        </p:nvSpPr>
        <p:spPr>
          <a:xfrm>
            <a:off x="621792" y="4178807"/>
            <a:ext cx="6583680" cy="256032"/>
          </a:xfrm>
          <a:prstGeom prst="rect">
            <a:avLst/>
          </a:prstGeom>
          <a:noFill/>
        </p:spPr>
        <p:txBody>
          <a:bodyPr wrap="square" anchor="t" lIns="18288" rIns="18288" tIns="0" bIns="0">
            <a:spAutoFit/>
          </a:bodyPr>
          <a:lstStyle/>
          <a:p>
            <a:r>
              <a:rPr sz="1300" b="0">
                <a:solidFill>
                  <a:srgbClr val="EFF4F7"/>
                </a:solidFill>
                <a:latin typeface="Aptos"/>
              </a:rPr>
              <a:t>2  Recharger : la cle revient depuis OPFS</a:t>
            </a:r>
          </a:p>
        </p:txBody>
      </p:sp>
      <p:sp>
        <p:nvSpPr>
          <p:cNvPr id="21" name="TextBox 20"/>
          <p:cNvSpPr txBox="1"/>
          <p:nvPr/>
        </p:nvSpPr>
        <p:spPr>
          <a:xfrm>
            <a:off x="621792" y="4608575"/>
            <a:ext cx="6583680" cy="256032"/>
          </a:xfrm>
          <a:prstGeom prst="rect">
            <a:avLst/>
          </a:prstGeom>
          <a:noFill/>
        </p:spPr>
        <p:txBody>
          <a:bodyPr wrap="square" anchor="t" lIns="18288" rIns="18288" tIns="0" bIns="0">
            <a:spAutoFit/>
          </a:bodyPr>
          <a:lstStyle/>
          <a:p>
            <a:r>
              <a:rPr sz="1300" b="0">
                <a:solidFill>
                  <a:srgbClr val="EFF4F7"/>
                </a:solidFill>
                <a:latin typeface="Aptos"/>
              </a:rPr>
              <a:t>3  Seed 100, puis value &gt;= 50</a:t>
            </a:r>
          </a:p>
        </p:txBody>
      </p:sp>
      <p:sp>
        <p:nvSpPr>
          <p:cNvPr id="22" name="TextBox 21"/>
          <p:cNvSpPr txBox="1"/>
          <p:nvPr/>
        </p:nvSpPr>
        <p:spPr>
          <a:xfrm>
            <a:off x="621792" y="5038344"/>
            <a:ext cx="6583680" cy="256032"/>
          </a:xfrm>
          <a:prstGeom prst="rect">
            <a:avLst/>
          </a:prstGeom>
          <a:noFill/>
        </p:spPr>
        <p:txBody>
          <a:bodyPr wrap="square" anchor="t" lIns="18288" rIns="18288" tIns="0" bIns="0">
            <a:spAutoFit/>
          </a:bodyPr>
          <a:lstStyle/>
          <a:p>
            <a:r>
              <a:rPr sz="1300" b="0">
                <a:solidFill>
                  <a:srgbClr val="EFF4F7"/>
                </a:solidFill>
                <a:latin typeface="Aptos"/>
              </a:rPr>
              <a:t>4  Editer une ligne : seule elle passe de 1 a 2</a:t>
            </a:r>
          </a:p>
        </p:txBody>
      </p:sp>
      <p:sp>
        <p:nvSpPr>
          <p:cNvPr id="23" name="TextBox 22"/>
          <p:cNvSpPr txBox="1"/>
          <p:nvPr/>
        </p:nvSpPr>
        <p:spPr>
          <a:xfrm>
            <a:off x="621792" y="5468112"/>
            <a:ext cx="6583680" cy="256032"/>
          </a:xfrm>
          <a:prstGeom prst="rect">
            <a:avLst/>
          </a:prstGeom>
          <a:noFill/>
        </p:spPr>
        <p:txBody>
          <a:bodyPr wrap="square" anchor="t" lIns="18288" rIns="18288" tIns="0" bIns="0">
            <a:spAutoFit/>
          </a:bodyPr>
          <a:lstStyle/>
          <a:p>
            <a:r>
              <a:rPr sz="1300" b="0">
                <a:solidFill>
                  <a:srgbClr val="EFF4F7"/>
                </a:solidFill>
                <a:latin typeface="Aptos"/>
              </a:rPr>
              <a:t>5  Benchmark : latences, restore et FPS</a:t>
            </a:r>
          </a:p>
        </p:txBody>
      </p:sp>
      <p:sp>
        <p:nvSpPr>
          <p:cNvPr id="24" name="Rounded Rectangle 23"/>
          <p:cNvSpPr/>
          <p:nvPr/>
        </p:nvSpPr>
        <p:spPr>
          <a:xfrm>
            <a:off x="7818120" y="3310128"/>
            <a:ext cx="3794760" cy="2331720"/>
          </a:xfrm>
          <a:prstGeom prst="roundRect">
            <a:avLst/>
          </a:prstGeom>
          <a:solidFill>
            <a:srgbClr val="1C2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92440" y="3593592"/>
            <a:ext cx="3108960" cy="274320"/>
          </a:xfrm>
          <a:prstGeom prst="rect">
            <a:avLst/>
          </a:prstGeom>
          <a:noFill/>
        </p:spPr>
        <p:txBody>
          <a:bodyPr wrap="square" anchor="t" lIns="18288" rIns="18288" tIns="0" bIns="0">
            <a:spAutoFit/>
          </a:bodyPr>
          <a:lstStyle/>
          <a:p>
            <a:r>
              <a:rPr sz="1600" b="1">
                <a:solidFill>
                  <a:srgbClr val="F4CD60"/>
                </a:solidFill>
                <a:latin typeface="Aptos"/>
              </a:rPr>
              <a:t>Validation finale</a:t>
            </a:r>
          </a:p>
        </p:txBody>
      </p:sp>
      <p:sp>
        <p:nvSpPr>
          <p:cNvPr id="26" name="TextBox 25"/>
          <p:cNvSpPr txBox="1"/>
          <p:nvPr/>
        </p:nvSpPr>
        <p:spPr>
          <a:xfrm>
            <a:off x="8119872" y="4114800"/>
            <a:ext cx="2194560" cy="228600"/>
          </a:xfrm>
          <a:prstGeom prst="rect">
            <a:avLst/>
          </a:prstGeom>
          <a:noFill/>
        </p:spPr>
        <p:txBody>
          <a:bodyPr wrap="square" anchor="t" lIns="18288" rIns="18288" tIns="0" bIns="0">
            <a:spAutoFit/>
          </a:bodyPr>
          <a:lstStyle/>
          <a:p>
            <a:r>
              <a:rPr sz="1300" b="1">
                <a:solidFill>
                  <a:srgbClr val="EFF4F7"/>
                </a:solidFill>
                <a:latin typeface="Aptos"/>
              </a:rPr>
              <a:t>Go race tests</a:t>
            </a:r>
          </a:p>
        </p:txBody>
      </p:sp>
      <p:sp>
        <p:nvSpPr>
          <p:cNvPr id="27" name="TextBox 26"/>
          <p:cNvSpPr txBox="1"/>
          <p:nvPr/>
        </p:nvSpPr>
        <p:spPr>
          <a:xfrm>
            <a:off x="8119872" y="4526280"/>
            <a:ext cx="2194560" cy="228600"/>
          </a:xfrm>
          <a:prstGeom prst="rect">
            <a:avLst/>
          </a:prstGeom>
          <a:noFill/>
        </p:spPr>
        <p:txBody>
          <a:bodyPr wrap="square" anchor="t" lIns="18288" rIns="18288" tIns="0" bIns="0">
            <a:spAutoFit/>
          </a:bodyPr>
          <a:lstStyle/>
          <a:p>
            <a:r>
              <a:rPr sz="1300" b="1">
                <a:solidFill>
                  <a:srgbClr val="EFF4F7"/>
                </a:solidFill>
                <a:latin typeface="Aptos"/>
              </a:rPr>
              <a:t>Tests TypeScript</a:t>
            </a:r>
          </a:p>
        </p:txBody>
      </p:sp>
      <p:sp>
        <p:nvSpPr>
          <p:cNvPr id="28" name="TextBox 27"/>
          <p:cNvSpPr txBox="1"/>
          <p:nvPr/>
        </p:nvSpPr>
        <p:spPr>
          <a:xfrm>
            <a:off x="8119872" y="4937760"/>
            <a:ext cx="2560320" cy="228600"/>
          </a:xfrm>
          <a:prstGeom prst="rect">
            <a:avLst/>
          </a:prstGeom>
          <a:noFill/>
        </p:spPr>
        <p:txBody>
          <a:bodyPr wrap="square" anchor="t" lIns="18288" rIns="18288" tIns="0" bIns="0">
            <a:spAutoFit/>
          </a:bodyPr>
          <a:lstStyle/>
          <a:p>
            <a:r>
              <a:rPr sz="1300" b="1">
                <a:solidFill>
                  <a:srgbClr val="EFF4F7"/>
                </a:solidFill>
                <a:latin typeface="Aptos"/>
              </a:rPr>
              <a:t>Build WASM + React</a:t>
            </a:r>
          </a:p>
        </p:txBody>
      </p:sp>
      <p:sp>
        <p:nvSpPr>
          <p:cNvPr id="29" name="TextBox 28"/>
          <p:cNvSpPr txBox="1"/>
          <p:nvPr/>
        </p:nvSpPr>
        <p:spPr>
          <a:xfrm>
            <a:off x="10561320" y="4114800"/>
            <a:ext cx="502920" cy="228600"/>
          </a:xfrm>
          <a:prstGeom prst="rect">
            <a:avLst/>
          </a:prstGeom>
          <a:noFill/>
        </p:spPr>
        <p:txBody>
          <a:bodyPr wrap="square" anchor="t" lIns="18288" rIns="18288" tIns="0" bIns="0">
            <a:spAutoFit/>
          </a:bodyPr>
          <a:lstStyle/>
          <a:p>
            <a:r>
              <a:rPr sz="1300" b="1">
                <a:solidFill>
                  <a:srgbClr val="5ECD91"/>
                </a:solidFill>
                <a:latin typeface="Aptos"/>
              </a:rPr>
              <a:t>OK</a:t>
            </a:r>
          </a:p>
        </p:txBody>
      </p:sp>
      <p:sp>
        <p:nvSpPr>
          <p:cNvPr id="30" name="TextBox 29"/>
          <p:cNvSpPr txBox="1"/>
          <p:nvPr/>
        </p:nvSpPr>
        <p:spPr>
          <a:xfrm>
            <a:off x="10561320" y="4526280"/>
            <a:ext cx="502920" cy="228600"/>
          </a:xfrm>
          <a:prstGeom prst="rect">
            <a:avLst/>
          </a:prstGeom>
          <a:noFill/>
        </p:spPr>
        <p:txBody>
          <a:bodyPr wrap="square" anchor="t" lIns="18288" rIns="18288" tIns="0" bIns="0">
            <a:spAutoFit/>
          </a:bodyPr>
          <a:lstStyle/>
          <a:p>
            <a:r>
              <a:rPr sz="1300" b="1">
                <a:solidFill>
                  <a:srgbClr val="5ECD91"/>
                </a:solidFill>
                <a:latin typeface="Aptos"/>
              </a:rPr>
              <a:t>OK</a:t>
            </a:r>
          </a:p>
        </p:txBody>
      </p:sp>
      <p:sp>
        <p:nvSpPr>
          <p:cNvPr id="31" name="TextBox 30"/>
          <p:cNvSpPr txBox="1"/>
          <p:nvPr/>
        </p:nvSpPr>
        <p:spPr>
          <a:xfrm>
            <a:off x="10561320" y="4937760"/>
            <a:ext cx="502920" cy="228600"/>
          </a:xfrm>
          <a:prstGeom prst="rect">
            <a:avLst/>
          </a:prstGeom>
          <a:noFill/>
        </p:spPr>
        <p:txBody>
          <a:bodyPr wrap="square" anchor="t" lIns="18288" rIns="18288" tIns="0" bIns="0">
            <a:spAutoFit/>
          </a:bodyPr>
          <a:lstStyle/>
          <a:p>
            <a:r>
              <a:rPr sz="1300" b="1">
                <a:solidFill>
                  <a:srgbClr val="5ECD91"/>
                </a:solidFill>
                <a:latin typeface="Aptos"/>
              </a:rPr>
              <a:t>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