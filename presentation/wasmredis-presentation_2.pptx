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WasmRedis est une base clé-valeur locale. Le moteur est écrit en Go puis compilé en WebAssembly, et React sert à manipuler les données. Tout tourne dans le navigateur, sans serveur.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commande part de React, passe par le SDK et le Worker, puis arrive au moteur Go/WASM. Le state répond vite en RAM. Les écritures passent par le buffer, puis dans l’AOF et le snapshot OPFS. Le travail lourd reste hors du thread de l’interface.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len(args) vérifie qu’une requête a été reçue ; sinon l’erreur missing request repart immédiatement. request prépare la structure Go, puis json.Unmarshal y décode le JSON et renvoie l’erreur si le format est invalide. La dernière ligne appelle engine.ExecuteBatch et encode sa réponse. Ça prouve que la frontière JavaScript-Go est contrôlée avant l’exécution. Je montre wasmRedisExecute parce que c’est le vrai point d’entrée WASM, pas un simple appelant.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strings.TrimSpace nettoie l’entrée, puis strings.Fields la découpe dans parts. ReadCommandName récupère le premier mot et le switch choisit le cas. Pour GET, EqualFold reconnaît WHERE ; sinon parseKeyCommand traite une lecture par clé. Le default renvoie l’erreur unknown command. Ça prouve que le texte est orienté ou rejeté avant le moteur. Je montre ParseCommand parce que c’est elle qui porte cette décision, pas les parseurs spécialisés.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command.Type choisit l’action. SET appelle SetWithTTL avec la clé, la valeur et le TTL. GET appelle getAndExpire, puis renvoie la valeur trouvée. DELETE retire la clé et renvoie une opération DELETE. Ça prouve que cette fonction relie une commande aux actions du moteur et aux écritures à conserver. Je montre execute parce que la décision est dans ce switch ; le reste n’ajoutait rien à la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readOpfsText lit d’abord le fichier snapshot. S’il n’est pas vide et que le pont Go existe, wasmRedisLoadSnapshot recharge cet état. L’AOF est ensuite lu, découpé par ligne, filtré, puis chaque ligne est transformée depuis le JSON. S’il reste des opérations, replayGoOperations les rejoue. Ça prouve que le redémarrage applique le snapshot avant le journal. Je montre restoreFromOpfs parce que c’est elle qui contient cet ordre, pas une fonction de façade.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batchMu.Lock verrouille le lot, et defer garantit le déverrouillage. results et writes préparent les sorties. La boucle appelle ExecuteText pour chaque commande, puis ajoute résultat et écritures dans le même ordre. Le retour ajoute la taille du buffer. Ça prouve qu’un batch s’exécute d’un bloc avec des réponses alignées. Je montre ExecuteBatch parce que le verrou et l’alignement sont visibles ici.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items prépare la liste résultat. Pour les opérateurs &lt; et &lt;=, walkAscending parcourt l’arbre dans l’ordre. Dès que matchesRange devient faux, return false arrête le parcours ; sinon l’item est ajouté et true continue. La fonction renvoie alors les éléments trouvés. Ça prouve qu’une plage ne visite pas inutilement tout le B-Tree. Je montre ce bloc parce que return false est la décision technique qui répond au titre.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isExpired vérifie l’échéance ; si elle n’est pas dépassée, la fonction renvoie false. Sinon la clé est supprimée du state. Les index d’égalité et numérique sont nettoyés, puis true confirme la suppression. Ça prouve qu’une expiration garde le state et les deux index cohérents. Je montre cette fonction parce que la condition et les trois suppressions utiles sont réunies au même endroit.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firstVisible transforme scrollTop en index, puis startIndex recule de l’overscan sans passer sous zéro. visibleCount calcule les lignes utiles, endIndex les borne, et le retour donne la hauteur totale fictive. useEntry crée un abonnement et une lecture pour une seule clé, puis useSyncExternalStore les relie à React. Ça prouve qu’on limite les lignes montées et les composants réveillés. Je garde ces deux extraits parce qu’ils montrent les deux mécanismes complémentaires.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chiffres résument le résultat : le batch réduit le coût, le B-Tree garde les plages rapides, et la liste reste à 60 FPS avec 29 lignes DOM. La démo enchaîne un SET avec TTL, un flush, un rechargement, un filtre et une édition ciblée. Les tests Go, TypeScript et le build valident l’ensemble. Le dataset de 100 000 entrées reste disponible sans être chargé par défaut.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40080"/>
            <a:ext cx="5120640" cy="228600"/>
          </a:xfrm>
          <a:prstGeom prst="rect">
            <a:avLst/>
          </a:prstGeom>
          <a:noFill/>
        </p:spPr>
        <p:txBody>
          <a:bodyPr wrap="square" anchor="t" lIns="18288" rIns="18288" tIns="0" bIns="0">
            <a:spAutoFit/>
          </a:bodyPr>
          <a:lstStyle/>
          <a:p>
            <a:r>
              <a:rPr sz="1100" b="1">
                <a:solidFill>
                  <a:srgbClr val="2DC1B7"/>
                </a:solidFill>
                <a:latin typeface="Aptos"/>
              </a:rPr>
              <a:t>WASM / REDIS / REACT</a:t>
            </a:r>
          </a:p>
        </p:txBody>
      </p:sp>
      <p:sp>
        <p:nvSpPr>
          <p:cNvPr id="5" name="TextBox 4"/>
          <p:cNvSpPr txBox="1"/>
          <p:nvPr/>
        </p:nvSpPr>
        <p:spPr>
          <a:xfrm>
            <a:off x="694944" y="1078992"/>
            <a:ext cx="6400800" cy="749808"/>
          </a:xfrm>
          <a:prstGeom prst="rect">
            <a:avLst/>
          </a:prstGeom>
          <a:noFill/>
        </p:spPr>
        <p:txBody>
          <a:bodyPr wrap="square" anchor="t" lIns="18288" rIns="18288" tIns="0" bIns="0">
            <a:spAutoFit/>
          </a:bodyPr>
          <a:lstStyle/>
          <a:p>
            <a:r>
              <a:rPr sz="5100" b="1">
                <a:solidFill>
                  <a:srgbClr val="EFF4F7"/>
                </a:solidFill>
                <a:latin typeface="Aptos"/>
              </a:rPr>
              <a:t>WasmRedis</a:t>
            </a:r>
          </a:p>
        </p:txBody>
      </p:sp>
      <p:sp>
        <p:nvSpPr>
          <p:cNvPr id="6" name="TextBox 5"/>
          <p:cNvSpPr txBox="1"/>
          <p:nvPr/>
        </p:nvSpPr>
        <p:spPr>
          <a:xfrm>
            <a:off x="731520" y="1938528"/>
            <a:ext cx="7132320" cy="411480"/>
          </a:xfrm>
          <a:prstGeom prst="rect">
            <a:avLst/>
          </a:prstGeom>
          <a:noFill/>
        </p:spPr>
        <p:txBody>
          <a:bodyPr wrap="square" anchor="t" lIns="18288" rIns="18288" tIns="0" bIns="0">
            <a:spAutoFit/>
          </a:bodyPr>
          <a:lstStyle/>
          <a:p>
            <a:r>
              <a:rPr sz="1800" b="0">
                <a:solidFill>
                  <a:srgbClr val="99A9B7"/>
                </a:solidFill>
                <a:latin typeface="Aptos"/>
              </a:rPr>
              <a:t>Une base Redis lite, entierement dans le navigateur</a:t>
            </a:r>
          </a:p>
        </p:txBody>
      </p:sp>
      <p:sp>
        <p:nvSpPr>
          <p:cNvPr id="7" name="TextBox 6"/>
          <p:cNvSpPr txBox="1"/>
          <p:nvPr/>
        </p:nvSpPr>
        <p:spPr>
          <a:xfrm>
            <a:off x="731520" y="2770632"/>
            <a:ext cx="6766560" cy="384048"/>
          </a:xfrm>
          <a:prstGeom prst="rect">
            <a:avLst/>
          </a:prstGeom>
          <a:noFill/>
        </p:spPr>
        <p:txBody>
          <a:bodyPr wrap="square" anchor="t" lIns="18288" rIns="18288" tIns="0" bIns="0">
            <a:spAutoFit/>
          </a:bodyPr>
          <a:lstStyle/>
          <a:p>
            <a:r>
              <a:rPr sz="1900" b="1">
                <a:solidFill>
                  <a:srgbClr val="EFF4F7"/>
                </a:solidFill>
                <a:latin typeface="Aptos"/>
              </a:rPr>
              <a:t>Go en RAM. OPFS sur disque. React reste fluide.</a:t>
            </a:r>
          </a:p>
        </p:txBody>
      </p:sp>
      <p:sp>
        <p:nvSpPr>
          <p:cNvPr id="8" name="Rounded Rectangle 7"/>
          <p:cNvSpPr/>
          <p:nvPr/>
        </p:nvSpPr>
        <p:spPr>
          <a:xfrm>
            <a:off x="8641080" y="914400"/>
            <a:ext cx="2423160" cy="585216"/>
          </a:xfrm>
          <a:prstGeom prst="round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7968" y="1060704"/>
            <a:ext cx="1920240" cy="228600"/>
          </a:xfrm>
          <a:prstGeom prst="rect">
            <a:avLst/>
          </a:prstGeom>
          <a:noFill/>
        </p:spPr>
        <p:txBody>
          <a:bodyPr wrap="square" anchor="t" lIns="18288" rIns="18288" tIns="0" bIns="0">
            <a:spAutoFit/>
          </a:bodyPr>
          <a:lstStyle/>
          <a:p>
            <a:r>
              <a:rPr sz="1500" b="1">
                <a:solidFill>
                  <a:srgbClr val="0A1019"/>
                </a:solidFill>
                <a:latin typeface="Aptos"/>
              </a:rPr>
              <a:t>React</a:t>
            </a:r>
          </a:p>
        </p:txBody>
      </p:sp>
      <p:sp>
        <p:nvSpPr>
          <p:cNvPr id="10" name="Rounded Rectangle 9"/>
          <p:cNvSpPr/>
          <p:nvPr/>
        </p:nvSpPr>
        <p:spPr>
          <a:xfrm>
            <a:off x="8641080" y="1874519"/>
            <a:ext cx="2423160" cy="585216"/>
          </a:xfrm>
          <a:prstGeom prst="round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87968" y="2020823"/>
            <a:ext cx="1920240" cy="228600"/>
          </a:xfrm>
          <a:prstGeom prst="rect">
            <a:avLst/>
          </a:prstGeom>
          <a:noFill/>
        </p:spPr>
        <p:txBody>
          <a:bodyPr wrap="square" anchor="t" lIns="18288" rIns="18288" tIns="0" bIns="0">
            <a:spAutoFit/>
          </a:bodyPr>
          <a:lstStyle/>
          <a:p>
            <a:r>
              <a:rPr sz="1500" b="1">
                <a:solidFill>
                  <a:srgbClr val="0A1019"/>
                </a:solidFill>
                <a:latin typeface="Aptos"/>
              </a:rPr>
              <a:t>SDK TS</a:t>
            </a:r>
          </a:p>
        </p:txBody>
      </p:sp>
      <p:sp>
        <p:nvSpPr>
          <p:cNvPr id="12" name="Rounded Rectangle 11"/>
          <p:cNvSpPr/>
          <p:nvPr/>
        </p:nvSpPr>
        <p:spPr>
          <a:xfrm>
            <a:off x="8641080" y="2834640"/>
            <a:ext cx="2423160" cy="585216"/>
          </a:xfrm>
          <a:prstGeom prst="round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7968" y="2980944"/>
            <a:ext cx="1920240" cy="228600"/>
          </a:xfrm>
          <a:prstGeom prst="rect">
            <a:avLst/>
          </a:prstGeom>
          <a:noFill/>
        </p:spPr>
        <p:txBody>
          <a:bodyPr wrap="square" anchor="t" lIns="18288" rIns="18288" tIns="0" bIns="0">
            <a:spAutoFit/>
          </a:bodyPr>
          <a:lstStyle/>
          <a:p>
            <a:r>
              <a:rPr sz="1500" b="1">
                <a:solidFill>
                  <a:srgbClr val="0A1019"/>
                </a:solidFill>
                <a:latin typeface="Aptos"/>
              </a:rPr>
              <a:t>Worker</a:t>
            </a:r>
          </a:p>
        </p:txBody>
      </p:sp>
      <p:sp>
        <p:nvSpPr>
          <p:cNvPr id="14" name="Rounded Rectangle 13"/>
          <p:cNvSpPr/>
          <p:nvPr/>
        </p:nvSpPr>
        <p:spPr>
          <a:xfrm>
            <a:off x="8641080" y="3794760"/>
            <a:ext cx="2423160" cy="585216"/>
          </a:xfrm>
          <a:prstGeom prst="roundRect">
            <a:avLst/>
          </a:prstGeom>
          <a:solidFill>
            <a:srgbClr val="5E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8" y="3941064"/>
            <a:ext cx="1920240" cy="228600"/>
          </a:xfrm>
          <a:prstGeom prst="rect">
            <a:avLst/>
          </a:prstGeom>
          <a:noFill/>
        </p:spPr>
        <p:txBody>
          <a:bodyPr wrap="square" anchor="t" lIns="18288" rIns="18288" tIns="0" bIns="0">
            <a:spAutoFit/>
          </a:bodyPr>
          <a:lstStyle/>
          <a:p>
            <a:r>
              <a:rPr sz="1500" b="1">
                <a:solidFill>
                  <a:srgbClr val="0A1019"/>
                </a:solidFill>
                <a:latin typeface="Aptos"/>
              </a:rPr>
              <a:t>Go/WASM</a:t>
            </a:r>
          </a:p>
        </p:txBody>
      </p:sp>
      <p:sp>
        <p:nvSpPr>
          <p:cNvPr id="16" name="Rounded Rectangle 15"/>
          <p:cNvSpPr/>
          <p:nvPr/>
        </p:nvSpPr>
        <p:spPr>
          <a:xfrm>
            <a:off x="8641080" y="4754880"/>
            <a:ext cx="2423160" cy="585216"/>
          </a:xfrm>
          <a:prstGeom prst="roundRect">
            <a:avLst/>
          </a:prstGeom>
          <a:solidFill>
            <a:srgbClr val="F05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87968" y="4901184"/>
            <a:ext cx="1920240" cy="228600"/>
          </a:xfrm>
          <a:prstGeom prst="rect">
            <a:avLst/>
          </a:prstGeom>
          <a:noFill/>
        </p:spPr>
        <p:txBody>
          <a:bodyPr wrap="square" anchor="t" lIns="18288" rIns="18288" tIns="0" bIns="0">
            <a:spAutoFit/>
          </a:bodyPr>
          <a:lstStyle/>
          <a:p>
            <a:r>
              <a:rPr sz="1500" b="1">
                <a:solidFill>
                  <a:srgbClr val="0A1019"/>
                </a:solidFill>
                <a:latin typeface="Aptos"/>
              </a:rPr>
              <a:t>OPFS</a:t>
            </a:r>
          </a:p>
        </p:txBody>
      </p:sp>
      <p:sp>
        <p:nvSpPr>
          <p:cNvPr id="18" name="TextBox 17"/>
          <p:cNvSpPr txBox="1"/>
          <p:nvPr/>
        </p:nvSpPr>
        <p:spPr>
          <a:xfrm>
            <a:off x="731520" y="6236208"/>
            <a:ext cx="3657600" cy="228600"/>
          </a:xfrm>
          <a:prstGeom prst="rect">
            <a:avLst/>
          </a:prstGeom>
          <a:noFill/>
        </p:spPr>
        <p:txBody>
          <a:bodyPr wrap="square" anchor="t" lIns="18288" rIns="18288" tIns="0" bIns="0">
            <a:spAutoFit/>
          </a:bodyPr>
          <a:lstStyle/>
          <a:p>
            <a:r>
              <a:rPr sz="1000" b="0">
                <a:solidFill>
                  <a:srgbClr val="99A9B7"/>
                </a:solidFill>
                <a:latin typeface="Aptos"/>
              </a:rPr>
              <a:t>Projet local, sans serveur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Une commande, cinq etapes</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Le fil rouge de toute la presentation</a:t>
            </a:r>
          </a:p>
        </p:txBody>
      </p:sp>
      <p:sp>
        <p:nvSpPr>
          <p:cNvPr id="5" name="TextBox 4"/>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02</a:t>
            </a:r>
          </a:p>
        </p:txBody>
      </p:sp>
      <p:sp>
        <p:nvSpPr>
          <p:cNvPr id="6" name="Rounded Rectangle 5"/>
          <p:cNvSpPr/>
          <p:nvPr/>
        </p:nvSpPr>
        <p:spPr>
          <a:xfrm>
            <a:off x="502920" y="1481328"/>
            <a:ext cx="1874519" cy="120700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874519" cy="9144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828800"/>
            <a:ext cx="1554480" cy="256032"/>
          </a:xfrm>
          <a:prstGeom prst="rect">
            <a:avLst/>
          </a:prstGeom>
          <a:noFill/>
        </p:spPr>
        <p:txBody>
          <a:bodyPr wrap="square" anchor="t" lIns="18288" rIns="18288" tIns="0" bIns="0">
            <a:spAutoFit/>
          </a:bodyPr>
          <a:lstStyle/>
          <a:p>
            <a:r>
              <a:rPr sz="1600" b="1">
                <a:solidFill>
                  <a:srgbClr val="EFF4F7"/>
                </a:solidFill>
                <a:latin typeface="Aptos"/>
              </a:rPr>
              <a:t>React</a:t>
            </a:r>
          </a:p>
        </p:txBody>
      </p:sp>
      <p:sp>
        <p:nvSpPr>
          <p:cNvPr id="9" name="TextBox 8"/>
          <p:cNvSpPr txBox="1"/>
          <p:nvPr/>
        </p:nvSpPr>
        <p:spPr>
          <a:xfrm>
            <a:off x="667512" y="2194560"/>
            <a:ext cx="1554480" cy="201168"/>
          </a:xfrm>
          <a:prstGeom prst="rect">
            <a:avLst/>
          </a:prstGeom>
          <a:noFill/>
        </p:spPr>
        <p:txBody>
          <a:bodyPr wrap="square" anchor="t" lIns="18288" rIns="18288" tIns="0" bIns="0">
            <a:spAutoFit/>
          </a:bodyPr>
          <a:lstStyle/>
          <a:p>
            <a:r>
              <a:rPr sz="950" b="0">
                <a:solidFill>
                  <a:srgbClr val="99A9B7"/>
                </a:solidFill>
                <a:latin typeface="Aptos"/>
              </a:rPr>
              <a:t>CRUD + liste</a:t>
            </a:r>
          </a:p>
        </p:txBody>
      </p:sp>
      <p:sp>
        <p:nvSpPr>
          <p:cNvPr id="10" name="TextBox 9"/>
          <p:cNvSpPr txBox="1"/>
          <p:nvPr/>
        </p:nvSpPr>
        <p:spPr>
          <a:xfrm>
            <a:off x="2487168" y="1874519"/>
            <a:ext cx="228600" cy="274320"/>
          </a:xfrm>
          <a:prstGeom prst="rect">
            <a:avLst/>
          </a:prstGeom>
          <a:noFill/>
        </p:spPr>
        <p:txBody>
          <a:bodyPr wrap="square" anchor="t" lIns="18288" rIns="18288" tIns="0" bIns="0">
            <a:spAutoFit/>
          </a:bodyPr>
          <a:lstStyle/>
          <a:p>
            <a:r>
              <a:rPr sz="1800" b="1">
                <a:solidFill>
                  <a:srgbClr val="F57F4D"/>
                </a:solidFill>
                <a:latin typeface="Aptos"/>
              </a:rPr>
              <a:t>&gt;</a:t>
            </a:r>
          </a:p>
        </p:txBody>
      </p:sp>
      <p:sp>
        <p:nvSpPr>
          <p:cNvPr id="11" name="Rounded Rectangle 10"/>
          <p:cNvSpPr/>
          <p:nvPr/>
        </p:nvSpPr>
        <p:spPr>
          <a:xfrm>
            <a:off x="2816352" y="1481328"/>
            <a:ext cx="1874519" cy="120700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16352" y="1481328"/>
            <a:ext cx="1874519" cy="91440"/>
          </a:xfrm>
          <a:prstGeom prst="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80944" y="1828800"/>
            <a:ext cx="1554480" cy="256032"/>
          </a:xfrm>
          <a:prstGeom prst="rect">
            <a:avLst/>
          </a:prstGeom>
          <a:noFill/>
        </p:spPr>
        <p:txBody>
          <a:bodyPr wrap="square" anchor="t" lIns="18288" rIns="18288" tIns="0" bIns="0">
            <a:spAutoFit/>
          </a:bodyPr>
          <a:lstStyle/>
          <a:p>
            <a:r>
              <a:rPr sz="1600" b="1">
                <a:solidFill>
                  <a:srgbClr val="EFF4F7"/>
                </a:solidFill>
                <a:latin typeface="Aptos"/>
              </a:rPr>
              <a:t>SDK</a:t>
            </a:r>
          </a:p>
        </p:txBody>
      </p:sp>
      <p:sp>
        <p:nvSpPr>
          <p:cNvPr id="14" name="TextBox 13"/>
          <p:cNvSpPr txBox="1"/>
          <p:nvPr/>
        </p:nvSpPr>
        <p:spPr>
          <a:xfrm>
            <a:off x="2980944" y="2194560"/>
            <a:ext cx="1554480" cy="201168"/>
          </a:xfrm>
          <a:prstGeom prst="rect">
            <a:avLst/>
          </a:prstGeom>
          <a:noFill/>
        </p:spPr>
        <p:txBody>
          <a:bodyPr wrap="square" anchor="t" lIns="18288" rIns="18288" tIns="0" bIns="0">
            <a:spAutoFit/>
          </a:bodyPr>
          <a:lstStyle/>
          <a:p>
            <a:r>
              <a:rPr sz="950" b="0">
                <a:solidFill>
                  <a:srgbClr val="99A9B7"/>
                </a:solidFill>
                <a:latin typeface="Aptos"/>
              </a:rPr>
              <a:t>types + Zod</a:t>
            </a:r>
          </a:p>
        </p:txBody>
      </p:sp>
      <p:sp>
        <p:nvSpPr>
          <p:cNvPr id="15" name="TextBox 14"/>
          <p:cNvSpPr txBox="1"/>
          <p:nvPr/>
        </p:nvSpPr>
        <p:spPr>
          <a:xfrm>
            <a:off x="4800600" y="1874519"/>
            <a:ext cx="228600" cy="274320"/>
          </a:xfrm>
          <a:prstGeom prst="rect">
            <a:avLst/>
          </a:prstGeom>
          <a:noFill/>
        </p:spPr>
        <p:txBody>
          <a:bodyPr wrap="square" anchor="t" lIns="18288" rIns="18288" tIns="0" bIns="0">
            <a:spAutoFit/>
          </a:bodyPr>
          <a:lstStyle/>
          <a:p>
            <a:r>
              <a:rPr sz="1800" b="1">
                <a:solidFill>
                  <a:srgbClr val="F57F4D"/>
                </a:solidFill>
                <a:latin typeface="Aptos"/>
              </a:rPr>
              <a:t>&gt;</a:t>
            </a:r>
          </a:p>
        </p:txBody>
      </p:sp>
      <p:sp>
        <p:nvSpPr>
          <p:cNvPr id="16" name="Rounded Rectangle 15"/>
          <p:cNvSpPr/>
          <p:nvPr/>
        </p:nvSpPr>
        <p:spPr>
          <a:xfrm>
            <a:off x="5129783" y="1481328"/>
            <a:ext cx="1874519" cy="120700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29783" y="1481328"/>
            <a:ext cx="1874519" cy="9144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94375" y="1828800"/>
            <a:ext cx="1554480" cy="256032"/>
          </a:xfrm>
          <a:prstGeom prst="rect">
            <a:avLst/>
          </a:prstGeom>
          <a:noFill/>
        </p:spPr>
        <p:txBody>
          <a:bodyPr wrap="square" anchor="t" lIns="18288" rIns="18288" tIns="0" bIns="0">
            <a:spAutoFit/>
          </a:bodyPr>
          <a:lstStyle/>
          <a:p>
            <a:r>
              <a:rPr sz="1600" b="1">
                <a:solidFill>
                  <a:srgbClr val="EFF4F7"/>
                </a:solidFill>
                <a:latin typeface="Aptos"/>
              </a:rPr>
              <a:t>Worker</a:t>
            </a:r>
          </a:p>
        </p:txBody>
      </p:sp>
      <p:sp>
        <p:nvSpPr>
          <p:cNvPr id="19" name="TextBox 18"/>
          <p:cNvSpPr txBox="1"/>
          <p:nvPr/>
        </p:nvSpPr>
        <p:spPr>
          <a:xfrm>
            <a:off x="5294375" y="2194560"/>
            <a:ext cx="1554480" cy="201168"/>
          </a:xfrm>
          <a:prstGeom prst="rect">
            <a:avLst/>
          </a:prstGeom>
          <a:noFill/>
        </p:spPr>
        <p:txBody>
          <a:bodyPr wrap="square" anchor="t" lIns="18288" rIns="18288" tIns="0" bIns="0">
            <a:spAutoFit/>
          </a:bodyPr>
          <a:lstStyle/>
          <a:p>
            <a:r>
              <a:rPr sz="950" b="0">
                <a:solidFill>
                  <a:srgbClr val="99A9B7"/>
                </a:solidFill>
                <a:latin typeface="Aptos"/>
              </a:rPr>
              <a:t>postMessage</a:t>
            </a:r>
          </a:p>
        </p:txBody>
      </p:sp>
      <p:sp>
        <p:nvSpPr>
          <p:cNvPr id="20" name="TextBox 19"/>
          <p:cNvSpPr txBox="1"/>
          <p:nvPr/>
        </p:nvSpPr>
        <p:spPr>
          <a:xfrm>
            <a:off x="7114031" y="1874519"/>
            <a:ext cx="228600" cy="274320"/>
          </a:xfrm>
          <a:prstGeom prst="rect">
            <a:avLst/>
          </a:prstGeom>
          <a:noFill/>
        </p:spPr>
        <p:txBody>
          <a:bodyPr wrap="square" anchor="t" lIns="18288" rIns="18288" tIns="0" bIns="0">
            <a:spAutoFit/>
          </a:bodyPr>
          <a:lstStyle/>
          <a:p>
            <a:r>
              <a:rPr sz="1800" b="1">
                <a:solidFill>
                  <a:srgbClr val="F57F4D"/>
                </a:solidFill>
                <a:latin typeface="Aptos"/>
              </a:rPr>
              <a:t>&gt;</a:t>
            </a:r>
          </a:p>
        </p:txBody>
      </p:sp>
      <p:sp>
        <p:nvSpPr>
          <p:cNvPr id="21" name="Rounded Rectangle 20"/>
          <p:cNvSpPr/>
          <p:nvPr/>
        </p:nvSpPr>
        <p:spPr>
          <a:xfrm>
            <a:off x="7443216" y="1481328"/>
            <a:ext cx="1874519" cy="120700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43216" y="1481328"/>
            <a:ext cx="1874519" cy="91440"/>
          </a:xfrm>
          <a:prstGeom prst="rect">
            <a:avLst/>
          </a:prstGeom>
          <a:solidFill>
            <a:srgbClr val="5E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07808" y="1828800"/>
            <a:ext cx="1554480" cy="256032"/>
          </a:xfrm>
          <a:prstGeom prst="rect">
            <a:avLst/>
          </a:prstGeom>
          <a:noFill/>
        </p:spPr>
        <p:txBody>
          <a:bodyPr wrap="square" anchor="t" lIns="18288" rIns="18288" tIns="0" bIns="0">
            <a:spAutoFit/>
          </a:bodyPr>
          <a:lstStyle/>
          <a:p>
            <a:r>
              <a:rPr sz="1600" b="1">
                <a:solidFill>
                  <a:srgbClr val="EFF4F7"/>
                </a:solidFill>
                <a:latin typeface="Aptos"/>
              </a:rPr>
              <a:t>Go/WASM</a:t>
            </a:r>
          </a:p>
        </p:txBody>
      </p:sp>
      <p:sp>
        <p:nvSpPr>
          <p:cNvPr id="24" name="TextBox 23"/>
          <p:cNvSpPr txBox="1"/>
          <p:nvPr/>
        </p:nvSpPr>
        <p:spPr>
          <a:xfrm>
            <a:off x="7607808" y="2194560"/>
            <a:ext cx="1554480" cy="201168"/>
          </a:xfrm>
          <a:prstGeom prst="rect">
            <a:avLst/>
          </a:prstGeom>
          <a:noFill/>
        </p:spPr>
        <p:txBody>
          <a:bodyPr wrap="square" anchor="t" lIns="18288" rIns="18288" tIns="0" bIns="0">
            <a:spAutoFit/>
          </a:bodyPr>
          <a:lstStyle/>
          <a:p>
            <a:r>
              <a:rPr sz="950" b="0">
                <a:solidFill>
                  <a:srgbClr val="99A9B7"/>
                </a:solidFill>
                <a:latin typeface="Aptos"/>
              </a:rPr>
              <a:t>state + index</a:t>
            </a:r>
          </a:p>
        </p:txBody>
      </p:sp>
      <p:sp>
        <p:nvSpPr>
          <p:cNvPr id="25" name="TextBox 24"/>
          <p:cNvSpPr txBox="1"/>
          <p:nvPr/>
        </p:nvSpPr>
        <p:spPr>
          <a:xfrm>
            <a:off x="9427464" y="1874519"/>
            <a:ext cx="228600" cy="274320"/>
          </a:xfrm>
          <a:prstGeom prst="rect">
            <a:avLst/>
          </a:prstGeom>
          <a:noFill/>
        </p:spPr>
        <p:txBody>
          <a:bodyPr wrap="square" anchor="t" lIns="18288" rIns="18288" tIns="0" bIns="0">
            <a:spAutoFit/>
          </a:bodyPr>
          <a:lstStyle/>
          <a:p>
            <a:r>
              <a:rPr sz="1800" b="1">
                <a:solidFill>
                  <a:srgbClr val="F57F4D"/>
                </a:solidFill>
                <a:latin typeface="Aptos"/>
              </a:rPr>
              <a:t>&gt;</a:t>
            </a:r>
          </a:p>
        </p:txBody>
      </p:sp>
      <p:sp>
        <p:nvSpPr>
          <p:cNvPr id="26" name="Rounded Rectangle 25"/>
          <p:cNvSpPr/>
          <p:nvPr/>
        </p:nvSpPr>
        <p:spPr>
          <a:xfrm>
            <a:off x="9756648" y="1481328"/>
            <a:ext cx="1874519" cy="120700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56648" y="1481328"/>
            <a:ext cx="1874519" cy="91440"/>
          </a:xfrm>
          <a:prstGeom prst="rect">
            <a:avLst/>
          </a:prstGeom>
          <a:solidFill>
            <a:srgbClr val="F05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21240" y="1828800"/>
            <a:ext cx="1554480" cy="256032"/>
          </a:xfrm>
          <a:prstGeom prst="rect">
            <a:avLst/>
          </a:prstGeom>
          <a:noFill/>
        </p:spPr>
        <p:txBody>
          <a:bodyPr wrap="square" anchor="t" lIns="18288" rIns="18288" tIns="0" bIns="0">
            <a:spAutoFit/>
          </a:bodyPr>
          <a:lstStyle/>
          <a:p>
            <a:r>
              <a:rPr sz="1600" b="1">
                <a:solidFill>
                  <a:srgbClr val="EFF4F7"/>
                </a:solidFill>
                <a:latin typeface="Aptos"/>
              </a:rPr>
              <a:t>OPFS</a:t>
            </a:r>
          </a:p>
        </p:txBody>
      </p:sp>
      <p:sp>
        <p:nvSpPr>
          <p:cNvPr id="29" name="TextBox 28"/>
          <p:cNvSpPr txBox="1"/>
          <p:nvPr/>
        </p:nvSpPr>
        <p:spPr>
          <a:xfrm>
            <a:off x="9921240" y="2194560"/>
            <a:ext cx="1554480" cy="201168"/>
          </a:xfrm>
          <a:prstGeom prst="rect">
            <a:avLst/>
          </a:prstGeom>
          <a:noFill/>
        </p:spPr>
        <p:txBody>
          <a:bodyPr wrap="square" anchor="t" lIns="18288" rIns="18288" tIns="0" bIns="0">
            <a:spAutoFit/>
          </a:bodyPr>
          <a:lstStyle/>
          <a:p>
            <a:r>
              <a:rPr sz="950" b="0">
                <a:solidFill>
                  <a:srgbClr val="99A9B7"/>
                </a:solidFill>
                <a:latin typeface="Aptos"/>
              </a:rPr>
              <a:t>AOF + snapshot</a:t>
            </a:r>
          </a:p>
        </p:txBody>
      </p:sp>
      <p:sp>
        <p:nvSpPr>
          <p:cNvPr id="30" name="TextBox 29"/>
          <p:cNvSpPr txBox="1"/>
          <p:nvPr/>
        </p:nvSpPr>
        <p:spPr>
          <a:xfrm>
            <a:off x="566928" y="3246120"/>
            <a:ext cx="2743200" cy="256032"/>
          </a:xfrm>
          <a:prstGeom prst="rect">
            <a:avLst/>
          </a:prstGeom>
          <a:noFill/>
        </p:spPr>
        <p:txBody>
          <a:bodyPr wrap="square" anchor="t" lIns="18288" rIns="18288" tIns="0" bIns="0">
            <a:spAutoFit/>
          </a:bodyPr>
          <a:lstStyle/>
          <a:p>
            <a:r>
              <a:rPr sz="1300" b="1">
                <a:solidFill>
                  <a:srgbClr val="99A9B7"/>
                </a:solidFill>
                <a:latin typeface="Aptos"/>
              </a:rPr>
              <a:t>Cycle de persistance</a:t>
            </a:r>
          </a:p>
        </p:txBody>
      </p:sp>
      <p:sp>
        <p:nvSpPr>
          <p:cNvPr id="31" name="Rounded Rectangle 30"/>
          <p:cNvSpPr/>
          <p:nvPr/>
        </p:nvSpPr>
        <p:spPr>
          <a:xfrm>
            <a:off x="566928" y="3703320"/>
            <a:ext cx="2304288" cy="713232"/>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3703320"/>
            <a:ext cx="73152" cy="71323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 y="3922776"/>
            <a:ext cx="1828800" cy="228600"/>
          </a:xfrm>
          <a:prstGeom prst="rect">
            <a:avLst/>
          </a:prstGeom>
          <a:noFill/>
        </p:spPr>
        <p:txBody>
          <a:bodyPr wrap="square" anchor="t" lIns="18288" rIns="18288" tIns="0" bIns="0">
            <a:spAutoFit/>
          </a:bodyPr>
          <a:lstStyle/>
          <a:p>
            <a:r>
              <a:rPr sz="1300" b="1">
                <a:solidFill>
                  <a:srgbClr val="EFF4F7"/>
                </a:solidFill>
                <a:latin typeface="Aptos"/>
              </a:rPr>
              <a:t>state RAM</a:t>
            </a:r>
          </a:p>
        </p:txBody>
      </p:sp>
      <p:sp>
        <p:nvSpPr>
          <p:cNvPr id="34" name="TextBox 33"/>
          <p:cNvSpPr txBox="1"/>
          <p:nvPr/>
        </p:nvSpPr>
        <p:spPr>
          <a:xfrm>
            <a:off x="3017520" y="3886200"/>
            <a:ext cx="228600" cy="228600"/>
          </a:xfrm>
          <a:prstGeom prst="rect">
            <a:avLst/>
          </a:prstGeom>
          <a:noFill/>
        </p:spPr>
        <p:txBody>
          <a:bodyPr wrap="square" anchor="t" lIns="18288" rIns="18288" tIns="0" bIns="0">
            <a:spAutoFit/>
          </a:bodyPr>
          <a:lstStyle/>
          <a:p>
            <a:r>
              <a:rPr sz="1800" b="1">
                <a:solidFill>
                  <a:srgbClr val="2DC1B7"/>
                </a:solidFill>
                <a:latin typeface="Aptos"/>
              </a:rPr>
              <a:t>&gt;</a:t>
            </a:r>
          </a:p>
        </p:txBody>
      </p:sp>
      <p:sp>
        <p:nvSpPr>
          <p:cNvPr id="35" name="Rounded Rectangle 34"/>
          <p:cNvSpPr/>
          <p:nvPr/>
        </p:nvSpPr>
        <p:spPr>
          <a:xfrm>
            <a:off x="3401568" y="3703320"/>
            <a:ext cx="2304288" cy="713232"/>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401568" y="3703320"/>
            <a:ext cx="73152" cy="713232"/>
          </a:xfrm>
          <a:prstGeom prst="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30168" y="3922776"/>
            <a:ext cx="1828800" cy="228600"/>
          </a:xfrm>
          <a:prstGeom prst="rect">
            <a:avLst/>
          </a:prstGeom>
          <a:noFill/>
        </p:spPr>
        <p:txBody>
          <a:bodyPr wrap="square" anchor="t" lIns="18288" rIns="18288" tIns="0" bIns="0">
            <a:spAutoFit/>
          </a:bodyPr>
          <a:lstStyle/>
          <a:p>
            <a:r>
              <a:rPr sz="1300" b="1">
                <a:solidFill>
                  <a:srgbClr val="EFF4F7"/>
                </a:solidFill>
                <a:latin typeface="Aptos"/>
              </a:rPr>
              <a:t>buffer Go</a:t>
            </a:r>
          </a:p>
        </p:txBody>
      </p:sp>
      <p:sp>
        <p:nvSpPr>
          <p:cNvPr id="38" name="TextBox 37"/>
          <p:cNvSpPr txBox="1"/>
          <p:nvPr/>
        </p:nvSpPr>
        <p:spPr>
          <a:xfrm>
            <a:off x="5852160" y="3886200"/>
            <a:ext cx="228600" cy="228600"/>
          </a:xfrm>
          <a:prstGeom prst="rect">
            <a:avLst/>
          </a:prstGeom>
          <a:noFill/>
        </p:spPr>
        <p:txBody>
          <a:bodyPr wrap="square" anchor="t" lIns="18288" rIns="18288" tIns="0" bIns="0">
            <a:spAutoFit/>
          </a:bodyPr>
          <a:lstStyle/>
          <a:p>
            <a:r>
              <a:rPr sz="1800" b="1">
                <a:solidFill>
                  <a:srgbClr val="F4CD60"/>
                </a:solidFill>
                <a:latin typeface="Aptos"/>
              </a:rPr>
              <a:t>&gt;</a:t>
            </a:r>
          </a:p>
        </p:txBody>
      </p:sp>
      <p:sp>
        <p:nvSpPr>
          <p:cNvPr id="39" name="Rounded Rectangle 38"/>
          <p:cNvSpPr/>
          <p:nvPr/>
        </p:nvSpPr>
        <p:spPr>
          <a:xfrm>
            <a:off x="6236208" y="3703320"/>
            <a:ext cx="2304288" cy="713232"/>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6208" y="3703320"/>
            <a:ext cx="73152" cy="71323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4808" y="3922776"/>
            <a:ext cx="1828800" cy="228600"/>
          </a:xfrm>
          <a:prstGeom prst="rect">
            <a:avLst/>
          </a:prstGeom>
          <a:noFill/>
        </p:spPr>
        <p:txBody>
          <a:bodyPr wrap="square" anchor="t" lIns="18288" rIns="18288" tIns="0" bIns="0">
            <a:spAutoFit/>
          </a:bodyPr>
          <a:lstStyle/>
          <a:p>
            <a:r>
              <a:rPr sz="1300" b="1">
                <a:solidFill>
                  <a:srgbClr val="EFF4F7"/>
                </a:solidFill>
                <a:latin typeface="Aptos"/>
              </a:rPr>
              <a:t>AOF ~1 s</a:t>
            </a:r>
          </a:p>
        </p:txBody>
      </p:sp>
      <p:sp>
        <p:nvSpPr>
          <p:cNvPr id="42" name="TextBox 41"/>
          <p:cNvSpPr txBox="1"/>
          <p:nvPr/>
        </p:nvSpPr>
        <p:spPr>
          <a:xfrm>
            <a:off x="8686800" y="3886200"/>
            <a:ext cx="228600" cy="228600"/>
          </a:xfrm>
          <a:prstGeom prst="rect">
            <a:avLst/>
          </a:prstGeom>
          <a:noFill/>
        </p:spPr>
        <p:txBody>
          <a:bodyPr wrap="square" anchor="t" lIns="18288" rIns="18288" tIns="0" bIns="0">
            <a:spAutoFit/>
          </a:bodyPr>
          <a:lstStyle/>
          <a:p>
            <a:r>
              <a:rPr sz="1800" b="1">
                <a:solidFill>
                  <a:srgbClr val="F57F4D"/>
                </a:solidFill>
                <a:latin typeface="Aptos"/>
              </a:rPr>
              <a:t>&gt;</a:t>
            </a:r>
          </a:p>
        </p:txBody>
      </p:sp>
      <p:sp>
        <p:nvSpPr>
          <p:cNvPr id="43" name="Rounded Rectangle 42"/>
          <p:cNvSpPr/>
          <p:nvPr/>
        </p:nvSpPr>
        <p:spPr>
          <a:xfrm>
            <a:off x="9070848" y="3703320"/>
            <a:ext cx="2304288" cy="713232"/>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070848" y="3703320"/>
            <a:ext cx="73152" cy="713232"/>
          </a:xfrm>
          <a:prstGeom prst="rect">
            <a:avLst/>
          </a:prstGeom>
          <a:solidFill>
            <a:srgbClr val="F05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99448" y="3922776"/>
            <a:ext cx="1828800" cy="228600"/>
          </a:xfrm>
          <a:prstGeom prst="rect">
            <a:avLst/>
          </a:prstGeom>
          <a:noFill/>
        </p:spPr>
        <p:txBody>
          <a:bodyPr wrap="square" anchor="t" lIns="18288" rIns="18288" tIns="0" bIns="0">
            <a:spAutoFit/>
          </a:bodyPr>
          <a:lstStyle/>
          <a:p>
            <a:r>
              <a:rPr sz="1300" b="1">
                <a:solidFill>
                  <a:srgbClr val="EFF4F7"/>
                </a:solidFill>
                <a:latin typeface="Aptos"/>
              </a:rPr>
              <a:t>snapshot ~2 min</a:t>
            </a:r>
          </a:p>
        </p:txBody>
      </p:sp>
      <p:sp>
        <p:nvSpPr>
          <p:cNvPr id="46" name="Rectangle 45"/>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React ne bloque jamais : le moteur et le disque vivent dans le worker.</a:t>
            </a:r>
          </a:p>
        </p:txBody>
      </p:sp>
      <p:sp>
        <p:nvSpPr>
          <p:cNvPr id="48" name="Rectangle 47"/>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La RAM donne la vitesse ; AOF + snapshot donnent la persistance.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React atteint le moteur Go</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SDK, Worker et WASM transportent la commande</a:t>
            </a:r>
          </a:p>
        </p:txBody>
      </p:sp>
      <p:sp>
        <p:nvSpPr>
          <p:cNvPr id="5" name="TextBox 4"/>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03</a:t>
            </a:r>
          </a:p>
        </p:txBody>
      </p:sp>
      <p:sp>
        <p:nvSpPr>
          <p:cNvPr id="6" name="Rounded Rectangle 5"/>
          <p:cNvSpPr/>
          <p:nvPr/>
        </p:nvSpPr>
        <p:spPr>
          <a:xfrm>
            <a:off x="502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64008" cy="64008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481328"/>
            <a:ext cx="1447800" cy="228600"/>
          </a:xfrm>
          <a:prstGeom prst="rect">
            <a:avLst/>
          </a:prstGeom>
          <a:noFill/>
        </p:spPr>
        <p:txBody>
          <a:bodyPr wrap="square" anchor="t" lIns="18288" rIns="18288" tIns="0" bIns="0">
            <a:spAutoFit/>
          </a:bodyPr>
          <a:lstStyle/>
          <a:p>
            <a:r>
              <a:rPr sz="1019" b="1">
                <a:solidFill>
                  <a:srgbClr val="EFF4F7"/>
                </a:solidFill>
                <a:latin typeface="Aptos"/>
              </a:rPr>
              <a:t>React</a:t>
            </a:r>
          </a:p>
        </p:txBody>
      </p:sp>
      <p:sp>
        <p:nvSpPr>
          <p:cNvPr id="9" name="TextBox 8"/>
          <p:cNvSpPr txBox="1"/>
          <p:nvPr/>
        </p:nvSpPr>
        <p:spPr>
          <a:xfrm>
            <a:off x="2215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0" name="Rounded Rectangle 9"/>
          <p:cNvSpPr/>
          <p:nvPr/>
        </p:nvSpPr>
        <p:spPr>
          <a:xfrm>
            <a:off x="2407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07920" y="1280160"/>
            <a:ext cx="64008" cy="640080"/>
          </a:xfrm>
          <a:prstGeom prst="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35936" y="1481328"/>
            <a:ext cx="1447800" cy="228600"/>
          </a:xfrm>
          <a:prstGeom prst="rect">
            <a:avLst/>
          </a:prstGeom>
          <a:noFill/>
        </p:spPr>
        <p:txBody>
          <a:bodyPr wrap="square" anchor="t" lIns="18288" rIns="18288" tIns="0" bIns="0">
            <a:spAutoFit/>
          </a:bodyPr>
          <a:lstStyle/>
          <a:p>
            <a:r>
              <a:rPr sz="1019" b="1">
                <a:solidFill>
                  <a:srgbClr val="EFF4F7"/>
                </a:solidFill>
                <a:latin typeface="Aptos"/>
              </a:rPr>
              <a:t>SDK</a:t>
            </a:r>
          </a:p>
        </p:txBody>
      </p:sp>
      <p:sp>
        <p:nvSpPr>
          <p:cNvPr id="13" name="TextBox 12"/>
          <p:cNvSpPr txBox="1"/>
          <p:nvPr/>
        </p:nvSpPr>
        <p:spPr>
          <a:xfrm>
            <a:off x="4120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4" name="Rounded Rectangle 13"/>
          <p:cNvSpPr/>
          <p:nvPr/>
        </p:nvSpPr>
        <p:spPr>
          <a:xfrm>
            <a:off x="4312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2920" y="1280160"/>
            <a:ext cx="64008" cy="64008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0936" y="1481328"/>
            <a:ext cx="1447800" cy="228600"/>
          </a:xfrm>
          <a:prstGeom prst="rect">
            <a:avLst/>
          </a:prstGeom>
          <a:noFill/>
        </p:spPr>
        <p:txBody>
          <a:bodyPr wrap="square" anchor="t" lIns="18288" rIns="18288" tIns="0" bIns="0">
            <a:spAutoFit/>
          </a:bodyPr>
          <a:lstStyle/>
          <a:p>
            <a:r>
              <a:rPr sz="1019" b="1">
                <a:solidFill>
                  <a:srgbClr val="EFF4F7"/>
                </a:solidFill>
                <a:latin typeface="Aptos"/>
              </a:rPr>
              <a:t>postMessage</a:t>
            </a:r>
          </a:p>
        </p:txBody>
      </p:sp>
      <p:sp>
        <p:nvSpPr>
          <p:cNvPr id="17" name="TextBox 16"/>
          <p:cNvSpPr txBox="1"/>
          <p:nvPr/>
        </p:nvSpPr>
        <p:spPr>
          <a:xfrm>
            <a:off x="6025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8" name="Rounded Rectangle 17"/>
          <p:cNvSpPr/>
          <p:nvPr/>
        </p:nvSpPr>
        <p:spPr>
          <a:xfrm>
            <a:off x="6217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280160"/>
            <a:ext cx="64008" cy="64008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1481328"/>
            <a:ext cx="1447800" cy="228600"/>
          </a:xfrm>
          <a:prstGeom prst="rect">
            <a:avLst/>
          </a:prstGeom>
          <a:noFill/>
        </p:spPr>
        <p:txBody>
          <a:bodyPr wrap="square" anchor="t" lIns="18288" rIns="18288" tIns="0" bIns="0">
            <a:spAutoFit/>
          </a:bodyPr>
          <a:lstStyle/>
          <a:p>
            <a:r>
              <a:rPr sz="1019" b="1">
                <a:solidFill>
                  <a:srgbClr val="EFF4F7"/>
                </a:solidFill>
                <a:latin typeface="Aptos"/>
              </a:rPr>
              <a:t>Worker</a:t>
            </a:r>
          </a:p>
        </p:txBody>
      </p:sp>
      <p:sp>
        <p:nvSpPr>
          <p:cNvPr id="21" name="TextBox 20"/>
          <p:cNvSpPr txBox="1"/>
          <p:nvPr/>
        </p:nvSpPr>
        <p:spPr>
          <a:xfrm>
            <a:off x="7930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22" name="Rounded Rectangle 21"/>
          <p:cNvSpPr/>
          <p:nvPr/>
        </p:nvSpPr>
        <p:spPr>
          <a:xfrm>
            <a:off x="8122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22920" y="1280160"/>
            <a:ext cx="64008" cy="640080"/>
          </a:xfrm>
          <a:prstGeom prst="rect">
            <a:avLst/>
          </a:prstGeom>
          <a:solidFill>
            <a:srgbClr val="5E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0936" y="1481328"/>
            <a:ext cx="1447800" cy="228600"/>
          </a:xfrm>
          <a:prstGeom prst="rect">
            <a:avLst/>
          </a:prstGeom>
          <a:noFill/>
        </p:spPr>
        <p:txBody>
          <a:bodyPr wrap="square" anchor="t" lIns="18288" rIns="18288" tIns="0" bIns="0">
            <a:spAutoFit/>
          </a:bodyPr>
          <a:lstStyle/>
          <a:p>
            <a:r>
              <a:rPr sz="1019" b="1">
                <a:solidFill>
                  <a:srgbClr val="EFF4F7"/>
                </a:solidFill>
                <a:latin typeface="Aptos"/>
              </a:rPr>
              <a:t>wasmRedisExecute</a:t>
            </a:r>
          </a:p>
        </p:txBody>
      </p:sp>
      <p:sp>
        <p:nvSpPr>
          <p:cNvPr id="25" name="TextBox 24"/>
          <p:cNvSpPr txBox="1"/>
          <p:nvPr/>
        </p:nvSpPr>
        <p:spPr>
          <a:xfrm>
            <a:off x="9835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26" name="Rounded Rectangle 25"/>
          <p:cNvSpPr/>
          <p:nvPr/>
        </p:nvSpPr>
        <p:spPr>
          <a:xfrm>
            <a:off x="10027920" y="1280160"/>
            <a:ext cx="1648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027920" y="1280160"/>
            <a:ext cx="64008" cy="64008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55936" y="1481328"/>
            <a:ext cx="1447800" cy="228600"/>
          </a:xfrm>
          <a:prstGeom prst="rect">
            <a:avLst/>
          </a:prstGeom>
          <a:noFill/>
        </p:spPr>
        <p:txBody>
          <a:bodyPr wrap="square" anchor="t" lIns="18288" rIns="18288" tIns="0" bIns="0">
            <a:spAutoFit/>
          </a:bodyPr>
          <a:lstStyle/>
          <a:p>
            <a:r>
              <a:rPr sz="1019" b="1">
                <a:solidFill>
                  <a:srgbClr val="EFF4F7"/>
                </a:solidFill>
                <a:latin typeface="Aptos"/>
              </a:rPr>
              <a:t>Engine</a:t>
            </a:r>
          </a:p>
        </p:txBody>
      </p:sp>
      <p:sp>
        <p:nvSpPr>
          <p:cNvPr id="29" name="Rounded Rectangle 28"/>
          <p:cNvSpPr/>
          <p:nvPr/>
        </p:nvSpPr>
        <p:spPr>
          <a:xfrm>
            <a:off x="502920" y="2386583"/>
            <a:ext cx="11173968" cy="285292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2569463"/>
            <a:ext cx="10661904" cy="219456"/>
          </a:xfrm>
          <a:prstGeom prst="rect">
            <a:avLst/>
          </a:prstGeom>
          <a:noFill/>
        </p:spPr>
        <p:txBody>
          <a:bodyPr wrap="square" anchor="t" lIns="18288" rIns="18288" tIns="0" bIns="0">
            <a:spAutoFit/>
          </a:bodyPr>
          <a:lstStyle/>
          <a:p>
            <a:r>
              <a:rPr sz="950" b="1">
                <a:solidFill>
                  <a:srgbClr val="2DC1B7"/>
                </a:solidFill>
                <a:latin typeface="Aptos"/>
              </a:rPr>
              <a:t>cmd/wasm/main.go:66-87</a:t>
            </a:r>
          </a:p>
        </p:txBody>
      </p:sp>
      <p:sp>
        <p:nvSpPr>
          <p:cNvPr id="31" name="TextBox 30"/>
          <p:cNvSpPr txBox="1"/>
          <p:nvPr/>
        </p:nvSpPr>
        <p:spPr>
          <a:xfrm>
            <a:off x="777240" y="2953511"/>
            <a:ext cx="10625328" cy="2103120"/>
          </a:xfrm>
          <a:prstGeom prst="rect">
            <a:avLst/>
          </a:prstGeom>
          <a:noFill/>
        </p:spPr>
        <p:txBody>
          <a:bodyPr wrap="square" anchor="t" lIns="18288" rIns="18288" tIns="0" bIns="0">
            <a:spAutoFit/>
          </a:bodyPr>
          <a:lstStyle/>
          <a:p>
            <a:r>
              <a:rPr sz="1324" b="0">
                <a:solidFill>
                  <a:srgbClr val="EFF4F7"/>
                </a:solidFill>
                <a:latin typeface="Courier New"/>
              </a:rPr>
              <a:t>66  func wasmRedisExecute(_ js.Value, args []js.Value) any {
69      if len(args) == 0 {
72          return encode(errorResponse{OK: false, Error: "missing request"})
73      }
76      var request executeRequest
79      if err := json.Unmarshal([]byte(args[0].String()), &amp;request); err != nil {
82          return encode(errorResponse{OK: false, Error: err.Error()})
83      }
86      return encode(engine.ExecuteBatch(request.Commands))
87  }</a:t>
            </a:r>
          </a:p>
        </p:txBody>
      </p:sp>
      <p:sp>
        <p:nvSpPr>
          <p:cNvPr id="32" name="Rectangle 31"/>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Le SDK valide, puis le worker appelle le bridge Go/WASM.</a:t>
            </a:r>
          </a:p>
        </p:txBody>
      </p:sp>
      <p:sp>
        <p:nvSpPr>
          <p:cNvPr id="34" name="Rectangle 33"/>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OPFS impose le Worker : ses Sync Access Handles n'existent pas sur le main thread.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Le parser protege l'entree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Du texte vers une commande Go valide</a:t>
            </a:r>
          </a:p>
        </p:txBody>
      </p:sp>
      <p:sp>
        <p:nvSpPr>
          <p:cNvPr id="5" name="TextBox 4"/>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04</a:t>
            </a:r>
          </a:p>
        </p:txBody>
      </p:sp>
      <p:sp>
        <p:nvSpPr>
          <p:cNvPr id="6" name="Rounded Rectangle 5"/>
          <p:cNvSpPr/>
          <p:nvPr/>
        </p:nvSpPr>
        <p:spPr>
          <a:xfrm>
            <a:off x="502920" y="1792223"/>
            <a:ext cx="11173968" cy="3255264"/>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75103"/>
            <a:ext cx="10661904" cy="219456"/>
          </a:xfrm>
          <a:prstGeom prst="rect">
            <a:avLst/>
          </a:prstGeom>
          <a:noFill/>
        </p:spPr>
        <p:txBody>
          <a:bodyPr wrap="square" anchor="t" lIns="18288" rIns="18288" tIns="0" bIns="0">
            <a:spAutoFit/>
          </a:bodyPr>
          <a:lstStyle/>
          <a:p>
            <a:r>
              <a:rPr sz="950" b="1">
                <a:solidFill>
                  <a:srgbClr val="2DC1B7"/>
                </a:solidFill>
                <a:latin typeface="Aptos"/>
              </a:rPr>
              <a:t>internal/redis/parser.go:35-68</a:t>
            </a:r>
          </a:p>
        </p:txBody>
      </p:sp>
      <p:sp>
        <p:nvSpPr>
          <p:cNvPr id="8" name="TextBox 7"/>
          <p:cNvSpPr txBox="1"/>
          <p:nvPr/>
        </p:nvSpPr>
        <p:spPr>
          <a:xfrm>
            <a:off x="777240" y="2359151"/>
            <a:ext cx="10625328" cy="2505456"/>
          </a:xfrm>
          <a:prstGeom prst="rect">
            <a:avLst/>
          </a:prstGeom>
          <a:noFill/>
        </p:spPr>
        <p:txBody>
          <a:bodyPr wrap="square" anchor="t" lIns="18288" rIns="18288" tIns="0" bIns="0">
            <a:spAutoFit/>
          </a:bodyPr>
          <a:lstStyle/>
          <a:p>
            <a:r>
              <a:rPr sz="1315" b="0">
                <a:solidFill>
                  <a:srgbClr val="EFF4F7"/>
                </a:solidFill>
                <a:latin typeface="Courier New"/>
              </a:rPr>
              <a:t>35  func ParseCommand(input string) (Command, error) {
38      parts := strings.Fields(strings.TrimSpace(input))
41      commandName := ReadCommandName(input)
44      switch CommandType(commandName) {
47      case CommandGet:
48          if len(parts) &gt; 1 &amp;&amp; strings.EqualFold(parts[1], "WHERE") {
49              return parseWhereCommand(parts)
50          }
51          return parseKeyCommand(CommandGet, parts)
66      default:
67          return Command{}, fmt.Errorf("unknown command")
68      }</a:t>
            </a:r>
          </a:p>
        </p:txBody>
      </p:sp>
      <p:sp>
        <p:nvSpPr>
          <p:cNvPr id="9" name="Rectangle 8"/>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GET WHERE est distingue d'un GET par cle.</a:t>
            </a:r>
          </a:p>
        </p:txBody>
      </p:sp>
      <p:sp>
        <p:nvSpPr>
          <p:cNvPr id="11" name="Rectangle 10"/>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Toute commande inconnue est rejetee avant le moteur.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Du texte au state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Le moteur choisit l'action et produit les ecritures</a:t>
            </a:r>
          </a:p>
        </p:txBody>
      </p:sp>
      <p:sp>
        <p:nvSpPr>
          <p:cNvPr id="5" name="TextBox 4"/>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05</a:t>
            </a:r>
          </a:p>
        </p:txBody>
      </p:sp>
      <p:sp>
        <p:nvSpPr>
          <p:cNvPr id="6" name="Rounded Rectangle 5"/>
          <p:cNvSpPr/>
          <p:nvPr/>
        </p:nvSpPr>
        <p:spPr>
          <a:xfrm>
            <a:off x="502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64008" cy="64008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481328"/>
            <a:ext cx="1828800" cy="228600"/>
          </a:xfrm>
          <a:prstGeom prst="rect">
            <a:avLst/>
          </a:prstGeom>
          <a:noFill/>
        </p:spPr>
        <p:txBody>
          <a:bodyPr wrap="square" anchor="t" lIns="18288" rIns="18288" tIns="0" bIns="0">
            <a:spAutoFit/>
          </a:bodyPr>
          <a:lstStyle/>
          <a:p>
            <a:r>
              <a:rPr sz="1019" b="1">
                <a:solidFill>
                  <a:srgbClr val="EFF4F7"/>
                </a:solidFill>
                <a:latin typeface="Aptos"/>
              </a:rPr>
              <a:t>Command</a:t>
            </a:r>
          </a:p>
        </p:txBody>
      </p:sp>
      <p:sp>
        <p:nvSpPr>
          <p:cNvPr id="9" name="TextBox 8"/>
          <p:cNvSpPr txBox="1"/>
          <p:nvPr/>
        </p:nvSpPr>
        <p:spPr>
          <a:xfrm>
            <a:off x="2596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0" name="Rounded Rectangle 9"/>
          <p:cNvSpPr/>
          <p:nvPr/>
        </p:nvSpPr>
        <p:spPr>
          <a:xfrm>
            <a:off x="2788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88920" y="1280160"/>
            <a:ext cx="64008" cy="64008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16936" y="1481328"/>
            <a:ext cx="1828800" cy="228600"/>
          </a:xfrm>
          <a:prstGeom prst="rect">
            <a:avLst/>
          </a:prstGeom>
          <a:noFill/>
        </p:spPr>
        <p:txBody>
          <a:bodyPr wrap="square" anchor="t" lIns="18288" rIns="18288" tIns="0" bIns="0">
            <a:spAutoFit/>
          </a:bodyPr>
          <a:lstStyle/>
          <a:p>
            <a:r>
              <a:rPr sz="1019" b="1">
                <a:solidFill>
                  <a:srgbClr val="EFF4F7"/>
                </a:solidFill>
                <a:latin typeface="Aptos"/>
              </a:rPr>
              <a:t>execute(command)</a:t>
            </a:r>
          </a:p>
        </p:txBody>
      </p:sp>
      <p:sp>
        <p:nvSpPr>
          <p:cNvPr id="13" name="TextBox 12"/>
          <p:cNvSpPr txBox="1"/>
          <p:nvPr/>
        </p:nvSpPr>
        <p:spPr>
          <a:xfrm>
            <a:off x="4882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4" name="Rounded Rectangle 13"/>
          <p:cNvSpPr/>
          <p:nvPr/>
        </p:nvSpPr>
        <p:spPr>
          <a:xfrm>
            <a:off x="5074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74920" y="1280160"/>
            <a:ext cx="64008" cy="640080"/>
          </a:xfrm>
          <a:prstGeom prst="rect">
            <a:avLst/>
          </a:prstGeom>
          <a:solidFill>
            <a:srgbClr val="5E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02936" y="1481328"/>
            <a:ext cx="1828800" cy="228600"/>
          </a:xfrm>
          <a:prstGeom prst="rect">
            <a:avLst/>
          </a:prstGeom>
          <a:noFill/>
        </p:spPr>
        <p:txBody>
          <a:bodyPr wrap="square" anchor="t" lIns="18288" rIns="18288" tIns="0" bIns="0">
            <a:spAutoFit/>
          </a:bodyPr>
          <a:lstStyle/>
          <a:p>
            <a:r>
              <a:rPr sz="1019" b="1">
                <a:solidFill>
                  <a:srgbClr val="EFF4F7"/>
                </a:solidFill>
                <a:latin typeface="Aptos"/>
              </a:rPr>
              <a:t>Set / Get / Delete</a:t>
            </a:r>
          </a:p>
        </p:txBody>
      </p:sp>
      <p:sp>
        <p:nvSpPr>
          <p:cNvPr id="17" name="TextBox 16"/>
          <p:cNvSpPr txBox="1"/>
          <p:nvPr/>
        </p:nvSpPr>
        <p:spPr>
          <a:xfrm>
            <a:off x="7168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8" name="Rounded Rectangle 17"/>
          <p:cNvSpPr/>
          <p:nvPr/>
        </p:nvSpPr>
        <p:spPr>
          <a:xfrm>
            <a:off x="7360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1280160"/>
            <a:ext cx="64008" cy="64008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936" y="1481328"/>
            <a:ext cx="1828800" cy="228600"/>
          </a:xfrm>
          <a:prstGeom prst="rect">
            <a:avLst/>
          </a:prstGeom>
          <a:noFill/>
        </p:spPr>
        <p:txBody>
          <a:bodyPr wrap="square" anchor="t" lIns="18288" rIns="18288" tIns="0" bIns="0">
            <a:spAutoFit/>
          </a:bodyPr>
          <a:lstStyle/>
          <a:p>
            <a:r>
              <a:rPr sz="1019" b="1">
                <a:solidFill>
                  <a:srgbClr val="EFF4F7"/>
                </a:solidFill>
                <a:latin typeface="Aptos"/>
              </a:rPr>
              <a:t>state</a:t>
            </a:r>
          </a:p>
        </p:txBody>
      </p:sp>
      <p:sp>
        <p:nvSpPr>
          <p:cNvPr id="21" name="TextBox 20"/>
          <p:cNvSpPr txBox="1"/>
          <p:nvPr/>
        </p:nvSpPr>
        <p:spPr>
          <a:xfrm>
            <a:off x="9454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22" name="Rounded Rectangle 21"/>
          <p:cNvSpPr/>
          <p:nvPr/>
        </p:nvSpPr>
        <p:spPr>
          <a:xfrm>
            <a:off x="9646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46920" y="1280160"/>
            <a:ext cx="64008" cy="640080"/>
          </a:xfrm>
          <a:prstGeom prst="rect">
            <a:avLst/>
          </a:prstGeom>
          <a:solidFill>
            <a:srgbClr val="F05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74936" y="1481328"/>
            <a:ext cx="1828800" cy="228600"/>
          </a:xfrm>
          <a:prstGeom prst="rect">
            <a:avLst/>
          </a:prstGeom>
          <a:noFill/>
        </p:spPr>
        <p:txBody>
          <a:bodyPr wrap="square" anchor="t" lIns="18288" rIns="18288" tIns="0" bIns="0">
            <a:spAutoFit/>
          </a:bodyPr>
          <a:lstStyle/>
          <a:p>
            <a:r>
              <a:rPr sz="1019" b="1">
                <a:solidFill>
                  <a:srgbClr val="EFF4F7"/>
                </a:solidFill>
                <a:latin typeface="Aptos"/>
              </a:rPr>
              <a:t>buffer</a:t>
            </a:r>
          </a:p>
        </p:txBody>
      </p:sp>
      <p:sp>
        <p:nvSpPr>
          <p:cNvPr id="25" name="Rounded Rectangle 24"/>
          <p:cNvSpPr/>
          <p:nvPr/>
        </p:nvSpPr>
        <p:spPr>
          <a:xfrm>
            <a:off x="502920" y="2286000"/>
            <a:ext cx="11173968" cy="3054096"/>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2468880"/>
            <a:ext cx="10661904" cy="219456"/>
          </a:xfrm>
          <a:prstGeom prst="rect">
            <a:avLst/>
          </a:prstGeom>
          <a:noFill/>
        </p:spPr>
        <p:txBody>
          <a:bodyPr wrap="square" anchor="t" lIns="18288" rIns="18288" tIns="0" bIns="0">
            <a:spAutoFit/>
          </a:bodyPr>
          <a:lstStyle/>
          <a:p>
            <a:r>
              <a:rPr sz="950" b="1">
                <a:solidFill>
                  <a:srgbClr val="2DC1B7"/>
                </a:solidFill>
                <a:latin typeface="Aptos"/>
              </a:rPr>
              <a:t>internal/redis/engine.go:181-217</a:t>
            </a:r>
          </a:p>
        </p:txBody>
      </p:sp>
      <p:sp>
        <p:nvSpPr>
          <p:cNvPr id="27" name="TextBox 26"/>
          <p:cNvSpPr txBox="1"/>
          <p:nvPr/>
        </p:nvSpPr>
        <p:spPr>
          <a:xfrm>
            <a:off x="777240" y="2852928"/>
            <a:ext cx="10625328" cy="2304288"/>
          </a:xfrm>
          <a:prstGeom prst="rect">
            <a:avLst/>
          </a:prstGeom>
          <a:noFill/>
        </p:spPr>
        <p:txBody>
          <a:bodyPr wrap="square" anchor="t" lIns="18288" rIns="18288" tIns="0" bIns="0">
            <a:spAutoFit/>
          </a:bodyPr>
          <a:lstStyle/>
          <a:p>
            <a:r>
              <a:rPr sz="1319" b="0">
                <a:solidFill>
                  <a:srgbClr val="EFF4F7"/>
                </a:solidFill>
                <a:latin typeface="Courier New"/>
              </a:rPr>
              <a:t>181  func (engine *Engine) execute(command Command) (Result, []Operation) {
182      switch command.Type {
183      case CommandSet:
184          stored := engine.SetWithTTL(command.Key, command.Value, command.TTLSeconds)
192      case CommandGet:
193          value, expired, err := engine.getAndExpire(command.Key)
201          return Result{OK: true, Value: value}, nil
208      case CommandDelete:
209          engine.Delete(command.Key)
210          return Result{OK: true}, []Operation{{Type: CommandDelete, Key: command.Key}}
217  }</a:t>
            </a:r>
          </a:p>
        </p:txBody>
      </p:sp>
      <p:sp>
        <p:nvSpPr>
          <p:cNvPr id="28" name="Rectangle 27"/>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Le switch relie chaque CommandType a Set, Get ou Delete sur state.</a:t>
            </a:r>
          </a:p>
        </p:txBody>
      </p:sp>
      <p:sp>
        <p:nvSpPr>
          <p:cNvPr id="30" name="Rectangle 29"/>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Les ecritures renvoient une Operation qui sera ajoutee au buffer.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AOF + snapshot : restaurer l'etat</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Le snapshot est charge avant le rejeu du journal</a:t>
            </a:r>
          </a:p>
        </p:txBody>
      </p:sp>
      <p:sp>
        <p:nvSpPr>
          <p:cNvPr id="5" name="TextBox 4"/>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06</a:t>
            </a:r>
          </a:p>
        </p:txBody>
      </p:sp>
      <p:sp>
        <p:nvSpPr>
          <p:cNvPr id="6" name="Rounded Rectangle 5"/>
          <p:cNvSpPr/>
          <p:nvPr/>
        </p:nvSpPr>
        <p:spPr>
          <a:xfrm>
            <a:off x="502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64008" cy="640080"/>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481328"/>
            <a:ext cx="1828800" cy="228600"/>
          </a:xfrm>
          <a:prstGeom prst="rect">
            <a:avLst/>
          </a:prstGeom>
          <a:noFill/>
        </p:spPr>
        <p:txBody>
          <a:bodyPr wrap="square" anchor="t" lIns="18288" rIns="18288" tIns="0" bIns="0">
            <a:spAutoFit/>
          </a:bodyPr>
          <a:lstStyle/>
          <a:p>
            <a:r>
              <a:rPr sz="1019" b="1">
                <a:solidFill>
                  <a:srgbClr val="EFF4F7"/>
                </a:solidFill>
                <a:latin typeface="Aptos"/>
              </a:rPr>
              <a:t>state</a:t>
            </a:r>
          </a:p>
        </p:txBody>
      </p:sp>
      <p:sp>
        <p:nvSpPr>
          <p:cNvPr id="9" name="TextBox 8"/>
          <p:cNvSpPr txBox="1"/>
          <p:nvPr/>
        </p:nvSpPr>
        <p:spPr>
          <a:xfrm>
            <a:off x="2596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0" name="Rounded Rectangle 9"/>
          <p:cNvSpPr/>
          <p:nvPr/>
        </p:nvSpPr>
        <p:spPr>
          <a:xfrm>
            <a:off x="2788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88920" y="1280160"/>
            <a:ext cx="64008" cy="640080"/>
          </a:xfrm>
          <a:prstGeom prst="rect">
            <a:avLst/>
          </a:prstGeom>
          <a:solidFill>
            <a:srgbClr val="F4C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16936" y="1481328"/>
            <a:ext cx="1828800" cy="228600"/>
          </a:xfrm>
          <a:prstGeom prst="rect">
            <a:avLst/>
          </a:prstGeom>
          <a:noFill/>
        </p:spPr>
        <p:txBody>
          <a:bodyPr wrap="square" anchor="t" lIns="18288" rIns="18288" tIns="0" bIns="0">
            <a:spAutoFit/>
          </a:bodyPr>
          <a:lstStyle/>
          <a:p>
            <a:r>
              <a:rPr sz="1019" b="1">
                <a:solidFill>
                  <a:srgbClr val="EFF4F7"/>
                </a:solidFill>
                <a:latin typeface="Aptos"/>
              </a:rPr>
              <a:t>buffer Go</a:t>
            </a:r>
          </a:p>
        </p:txBody>
      </p:sp>
      <p:sp>
        <p:nvSpPr>
          <p:cNvPr id="13" name="TextBox 12"/>
          <p:cNvSpPr txBox="1"/>
          <p:nvPr/>
        </p:nvSpPr>
        <p:spPr>
          <a:xfrm>
            <a:off x="4882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4" name="Rounded Rectangle 13"/>
          <p:cNvSpPr/>
          <p:nvPr/>
        </p:nvSpPr>
        <p:spPr>
          <a:xfrm>
            <a:off x="5074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74920" y="1280160"/>
            <a:ext cx="64008" cy="640080"/>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02936" y="1481328"/>
            <a:ext cx="1828800" cy="228600"/>
          </a:xfrm>
          <a:prstGeom prst="rect">
            <a:avLst/>
          </a:prstGeom>
          <a:noFill/>
        </p:spPr>
        <p:txBody>
          <a:bodyPr wrap="square" anchor="t" lIns="18288" rIns="18288" tIns="0" bIns="0">
            <a:spAutoFit/>
          </a:bodyPr>
          <a:lstStyle/>
          <a:p>
            <a:r>
              <a:rPr sz="1019" b="1">
                <a:solidFill>
                  <a:srgbClr val="EFF4F7"/>
                </a:solidFill>
                <a:latin typeface="Aptos"/>
              </a:rPr>
              <a:t>AOF</a:t>
            </a:r>
          </a:p>
        </p:txBody>
      </p:sp>
      <p:sp>
        <p:nvSpPr>
          <p:cNvPr id="17" name="TextBox 16"/>
          <p:cNvSpPr txBox="1"/>
          <p:nvPr/>
        </p:nvSpPr>
        <p:spPr>
          <a:xfrm>
            <a:off x="7168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18" name="Rounded Rectangle 17"/>
          <p:cNvSpPr/>
          <p:nvPr/>
        </p:nvSpPr>
        <p:spPr>
          <a:xfrm>
            <a:off x="7360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1280160"/>
            <a:ext cx="64008" cy="640080"/>
          </a:xfrm>
          <a:prstGeom prst="rect">
            <a:avLst/>
          </a:prstGeom>
          <a:solidFill>
            <a:srgbClr val="F05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936" y="1481328"/>
            <a:ext cx="1828800" cy="228600"/>
          </a:xfrm>
          <a:prstGeom prst="rect">
            <a:avLst/>
          </a:prstGeom>
          <a:noFill/>
        </p:spPr>
        <p:txBody>
          <a:bodyPr wrap="square" anchor="t" lIns="18288" rIns="18288" tIns="0" bIns="0">
            <a:spAutoFit/>
          </a:bodyPr>
          <a:lstStyle/>
          <a:p>
            <a:r>
              <a:rPr sz="1019" b="1">
                <a:solidFill>
                  <a:srgbClr val="EFF4F7"/>
                </a:solidFill>
                <a:latin typeface="Aptos"/>
              </a:rPr>
              <a:t>snapshot</a:t>
            </a:r>
          </a:p>
        </p:txBody>
      </p:sp>
      <p:sp>
        <p:nvSpPr>
          <p:cNvPr id="21" name="TextBox 20"/>
          <p:cNvSpPr txBox="1"/>
          <p:nvPr/>
        </p:nvSpPr>
        <p:spPr>
          <a:xfrm>
            <a:off x="9454896" y="1463040"/>
            <a:ext cx="128016" cy="219456"/>
          </a:xfrm>
          <a:prstGeom prst="rect">
            <a:avLst/>
          </a:prstGeom>
          <a:noFill/>
        </p:spPr>
        <p:txBody>
          <a:bodyPr wrap="square" anchor="t" lIns="18288" rIns="18288" tIns="0" bIns="0">
            <a:spAutoFit/>
          </a:bodyPr>
          <a:lstStyle/>
          <a:p>
            <a:r>
              <a:rPr sz="1400" b="1">
                <a:solidFill>
                  <a:srgbClr val="F57F4D"/>
                </a:solidFill>
                <a:latin typeface="Aptos"/>
              </a:rPr>
              <a:t>&gt;</a:t>
            </a:r>
          </a:p>
        </p:txBody>
      </p:sp>
      <p:sp>
        <p:nvSpPr>
          <p:cNvPr id="22" name="Rounded Rectangle 21"/>
          <p:cNvSpPr/>
          <p:nvPr/>
        </p:nvSpPr>
        <p:spPr>
          <a:xfrm>
            <a:off x="9646920" y="1280160"/>
            <a:ext cx="2029968" cy="64008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46920" y="1280160"/>
            <a:ext cx="64008" cy="640080"/>
          </a:xfrm>
          <a:prstGeom prst="rect">
            <a:avLst/>
          </a:prstGeom>
          <a:solidFill>
            <a:srgbClr val="5EC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74936" y="1481328"/>
            <a:ext cx="1828800" cy="228600"/>
          </a:xfrm>
          <a:prstGeom prst="rect">
            <a:avLst/>
          </a:prstGeom>
          <a:noFill/>
        </p:spPr>
        <p:txBody>
          <a:bodyPr wrap="square" anchor="t" lIns="18288" rIns="18288" tIns="0" bIns="0">
            <a:spAutoFit/>
          </a:bodyPr>
          <a:lstStyle/>
          <a:p>
            <a:r>
              <a:rPr sz="1019" b="1">
                <a:solidFill>
                  <a:srgbClr val="EFF4F7"/>
                </a:solidFill>
                <a:latin typeface="Aptos"/>
              </a:rPr>
              <a:t>restore</a:t>
            </a:r>
          </a:p>
        </p:txBody>
      </p:sp>
      <p:sp>
        <p:nvSpPr>
          <p:cNvPr id="25" name="Rounded Rectangle 24"/>
          <p:cNvSpPr/>
          <p:nvPr/>
        </p:nvSpPr>
        <p:spPr>
          <a:xfrm>
            <a:off x="502920" y="2185415"/>
            <a:ext cx="11173968" cy="3255264"/>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2368295"/>
            <a:ext cx="10661904" cy="219456"/>
          </a:xfrm>
          <a:prstGeom prst="rect">
            <a:avLst/>
          </a:prstGeom>
          <a:noFill/>
        </p:spPr>
        <p:txBody>
          <a:bodyPr wrap="square" anchor="t" lIns="18288" rIns="18288" tIns="0" bIns="0">
            <a:spAutoFit/>
          </a:bodyPr>
          <a:lstStyle/>
          <a:p>
            <a:r>
              <a:rPr sz="950" b="1">
                <a:solidFill>
                  <a:srgbClr val="2DC1B7"/>
                </a:solidFill>
                <a:latin typeface="Aptos"/>
              </a:rPr>
              <a:t>web/src/worker/wasmRedis.worker.ts:310-332</a:t>
            </a:r>
          </a:p>
        </p:txBody>
      </p:sp>
      <p:sp>
        <p:nvSpPr>
          <p:cNvPr id="27" name="TextBox 26"/>
          <p:cNvSpPr txBox="1"/>
          <p:nvPr/>
        </p:nvSpPr>
        <p:spPr>
          <a:xfrm>
            <a:off x="777240" y="2752343"/>
            <a:ext cx="10625328" cy="2505456"/>
          </a:xfrm>
          <a:prstGeom prst="rect">
            <a:avLst/>
          </a:prstGeom>
          <a:noFill/>
        </p:spPr>
        <p:txBody>
          <a:bodyPr wrap="square" anchor="t" lIns="18288" rIns="18288" tIns="0" bIns="0">
            <a:spAutoFit/>
          </a:bodyPr>
          <a:lstStyle/>
          <a:p>
            <a:r>
              <a:rPr sz="1279" b="0">
                <a:solidFill>
                  <a:srgbClr val="EFF4F7"/>
                </a:solidFill>
                <a:latin typeface="Courier New"/>
              </a:rPr>
              <a:t>310  async function restoreFromOpfs(): Promise&lt;void&gt; {
313    const snapshot = await readOpfsText(snapshotFileName);
314    if (snapshot.trim() !== "" &amp;&amp; scope.wasmRedisLoadSnapshot) {
315      assertGoOK(JSON.parse(scope.wasmRedisLoadSnapshot(snapshot)) as unknown, "snapshot restore failed");
316    }
320    const aof = await readOpfsText(aofFileName);
321    const operations = aof
322      .split("\n")
324      .filter(Boolean)
325      .map((line) =&gt; JSON.parse(line) as unknown);
331    if (operations.length &gt; 0) {
332      replayGoOperations(operations);</a:t>
            </a:r>
          </a:p>
        </p:txBody>
      </p:sp>
      <p:sp>
        <p:nvSpPr>
          <p:cNvPr id="28" name="Rectangle 27"/>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Au demarrage : snapshot d'abord, puis operations AOF rejouees dans l'ordre.</a:t>
            </a:r>
          </a:p>
        </p:txBody>
      </p:sp>
      <p:sp>
        <p:nvSpPr>
          <p:cNvPr id="30" name="Rectangle 29"/>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Tout vient de .env, ex. VITE_WASMREDIS_FLUSH_INTERVAL_MS=1000.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Un batch, un seul passage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Les commandes restent ordonnees et sans interleaving</a:t>
            </a:r>
          </a:p>
        </p:txBody>
      </p:sp>
      <p:sp>
        <p:nvSpPr>
          <p:cNvPr id="5" name="TextBox 4"/>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07</a:t>
            </a:r>
          </a:p>
        </p:txBody>
      </p:sp>
      <p:sp>
        <p:nvSpPr>
          <p:cNvPr id="6" name="Rounded Rectangle 5"/>
          <p:cNvSpPr/>
          <p:nvPr/>
        </p:nvSpPr>
        <p:spPr>
          <a:xfrm>
            <a:off x="502920" y="1792223"/>
            <a:ext cx="11173968" cy="3255264"/>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75103"/>
            <a:ext cx="10661904" cy="219456"/>
          </a:xfrm>
          <a:prstGeom prst="rect">
            <a:avLst/>
          </a:prstGeom>
          <a:noFill/>
        </p:spPr>
        <p:txBody>
          <a:bodyPr wrap="square" anchor="t" lIns="18288" rIns="18288" tIns="0" bIns="0">
            <a:spAutoFit/>
          </a:bodyPr>
          <a:lstStyle/>
          <a:p>
            <a:r>
              <a:rPr sz="950" b="1">
                <a:solidFill>
                  <a:srgbClr val="2DC1B7"/>
                </a:solidFill>
                <a:latin typeface="Aptos"/>
              </a:rPr>
              <a:t>internal/redis/engine.go:553-567</a:t>
            </a:r>
          </a:p>
        </p:txBody>
      </p:sp>
      <p:sp>
        <p:nvSpPr>
          <p:cNvPr id="8" name="TextBox 7"/>
          <p:cNvSpPr txBox="1"/>
          <p:nvPr/>
        </p:nvSpPr>
        <p:spPr>
          <a:xfrm>
            <a:off x="777240" y="2359151"/>
            <a:ext cx="10625328" cy="2505456"/>
          </a:xfrm>
          <a:prstGeom prst="rect">
            <a:avLst/>
          </a:prstGeom>
          <a:noFill/>
        </p:spPr>
        <p:txBody>
          <a:bodyPr wrap="square" anchor="t" lIns="18288" rIns="18288" tIns="0" bIns="0">
            <a:spAutoFit/>
          </a:bodyPr>
          <a:lstStyle/>
          <a:p>
            <a:r>
              <a:rPr sz="1315" b="0">
                <a:solidFill>
                  <a:srgbClr val="EFF4F7"/>
                </a:solidFill>
                <a:latin typeface="Courier New"/>
              </a:rPr>
              <a:t>553  func (engine *Engine) ExecuteBatch(commands []string) BatchResult {
554      engine.batchMu.Lock()
555      defer engine.batchMu.Unlock()
557      results := make([]Result, 0, len(commands))
558      writes := make([]Operation, 0)
560      for _, commandText := range commands {
561          result, commandWrites := engine.ExecuteText(commandText)
562          results = append(results, result)
563          writes = append(writes, commandWrites...)
564      }
566      return BatchResult{Results: results, Writes: writes, BufferSize: engine.BufferSize()}
567  }</a:t>
            </a:r>
          </a:p>
        </p:txBody>
      </p:sp>
      <p:sp>
        <p:nvSpPr>
          <p:cNvPr id="9" name="Rectangle 8"/>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batchMu verrouille tout le lot et les resultats restent alignes aux commandes.</a:t>
            </a:r>
          </a:p>
        </p:txBody>
      </p:sp>
      <p:sp>
        <p:nvSpPr>
          <p:cNvPr id="11" name="Rectangle 10"/>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Mesure du projet : 15,5x plus rapide pour 30 SET regroupes.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Les plages passent par le B-Tree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Le parcours s'arrete des que la limite est depassee</a:t>
            </a:r>
          </a:p>
        </p:txBody>
      </p:sp>
      <p:sp>
        <p:nvSpPr>
          <p:cNvPr id="5" name="TextBox 4"/>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08</a:t>
            </a:r>
          </a:p>
        </p:txBody>
      </p:sp>
      <p:sp>
        <p:nvSpPr>
          <p:cNvPr id="6" name="Rounded Rectangle 5"/>
          <p:cNvSpPr/>
          <p:nvPr/>
        </p:nvSpPr>
        <p:spPr>
          <a:xfrm>
            <a:off x="502920" y="1792223"/>
            <a:ext cx="11173968" cy="3255264"/>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75103"/>
            <a:ext cx="10661904" cy="219456"/>
          </a:xfrm>
          <a:prstGeom prst="rect">
            <a:avLst/>
          </a:prstGeom>
          <a:noFill/>
        </p:spPr>
        <p:txBody>
          <a:bodyPr wrap="square" anchor="t" lIns="18288" rIns="18288" tIns="0" bIns="0">
            <a:spAutoFit/>
          </a:bodyPr>
          <a:lstStyle/>
          <a:p>
            <a:r>
              <a:rPr sz="950" b="1">
                <a:solidFill>
                  <a:srgbClr val="2DC1B7"/>
                </a:solidFill>
                <a:latin typeface="Aptos"/>
              </a:rPr>
              <a:t>internal/redis/btree.go:92-103</a:t>
            </a:r>
          </a:p>
        </p:txBody>
      </p:sp>
      <p:sp>
        <p:nvSpPr>
          <p:cNvPr id="8" name="TextBox 7"/>
          <p:cNvSpPr txBox="1"/>
          <p:nvPr/>
        </p:nvSpPr>
        <p:spPr>
          <a:xfrm>
            <a:off x="777240" y="2359151"/>
            <a:ext cx="10625328" cy="2505456"/>
          </a:xfrm>
          <a:prstGeom prst="rect">
            <a:avLst/>
          </a:prstGeom>
          <a:noFill/>
        </p:spPr>
        <p:txBody>
          <a:bodyPr wrap="square" anchor="t" lIns="18288" rIns="18288" tIns="0" bIns="0">
            <a:spAutoFit/>
          </a:bodyPr>
          <a:lstStyle/>
          <a:p>
            <a:r>
              <a:rPr sz="1315" b="0">
                <a:solidFill>
                  <a:srgbClr val="EFF4F7"/>
                </a:solidFill>
                <a:latin typeface="Courier New"/>
              </a:rPr>
              <a:t> 92  func (tree *BTree) RangeItems(operator FilterOperator, target float64) []BTreeItem {
 93      items := make([]BTreeItem, 0)
 94  
 95      if operator == OperatorLessThan || operator == OperatorLessOrEqual {
 96          tree.walkAscending(tree.root, func(item BTreeItem) bool {
 97              if !matchesRange(item.Value, operator, target) {
 98                  return false
 99              }
100              items = append(items, item)
101              return true
102          })
103          return items</a:t>
            </a:r>
          </a:p>
        </p:txBody>
      </p:sp>
      <p:sp>
        <p:nvSpPr>
          <p:cNvPr id="9" name="Rectangle 8"/>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equals utilise un index inverse ; contains assume un scan.</a:t>
            </a:r>
          </a:p>
        </p:txBody>
      </p:sp>
      <p:sp>
        <p:nvSpPr>
          <p:cNvPr id="11" name="Rectangle 10"/>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Une plage selective reste a environ 0,3 us jusqu'a 10 000 entrees.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Le TTL supprime vraiment la cle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State, index et AOF restent coherents</a:t>
            </a:r>
          </a:p>
        </p:txBody>
      </p:sp>
      <p:sp>
        <p:nvSpPr>
          <p:cNvPr id="5" name="TextBox 4"/>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09</a:t>
            </a:r>
          </a:p>
        </p:txBody>
      </p:sp>
      <p:sp>
        <p:nvSpPr>
          <p:cNvPr id="6" name="Rounded Rectangle 5"/>
          <p:cNvSpPr/>
          <p:nvPr/>
        </p:nvSpPr>
        <p:spPr>
          <a:xfrm>
            <a:off x="502920" y="2093976"/>
            <a:ext cx="11173968" cy="2651760"/>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276856"/>
            <a:ext cx="10661904" cy="219456"/>
          </a:xfrm>
          <a:prstGeom prst="rect">
            <a:avLst/>
          </a:prstGeom>
          <a:noFill/>
        </p:spPr>
        <p:txBody>
          <a:bodyPr wrap="square" anchor="t" lIns="18288" rIns="18288" tIns="0" bIns="0">
            <a:spAutoFit/>
          </a:bodyPr>
          <a:lstStyle/>
          <a:p>
            <a:r>
              <a:rPr sz="950" b="1">
                <a:solidFill>
                  <a:srgbClr val="2DC1B7"/>
                </a:solidFill>
                <a:latin typeface="Aptos"/>
              </a:rPr>
              <a:t>internal/redis/engine.go:451-459</a:t>
            </a:r>
          </a:p>
        </p:txBody>
      </p:sp>
      <p:sp>
        <p:nvSpPr>
          <p:cNvPr id="8" name="TextBox 7"/>
          <p:cNvSpPr txBox="1"/>
          <p:nvPr/>
        </p:nvSpPr>
        <p:spPr>
          <a:xfrm>
            <a:off x="777240" y="2660904"/>
            <a:ext cx="10625328" cy="1901952"/>
          </a:xfrm>
          <a:prstGeom prst="rect">
            <a:avLst/>
          </a:prstGeom>
          <a:noFill/>
        </p:spPr>
        <p:txBody>
          <a:bodyPr wrap="square" anchor="t" lIns="18288" rIns="18288" tIns="0" bIns="0">
            <a:spAutoFit/>
          </a:bodyPr>
          <a:lstStyle/>
          <a:p>
            <a:r>
              <a:rPr sz="1331" b="0">
                <a:solidFill>
                  <a:srgbClr val="EFF4F7"/>
                </a:solidFill>
                <a:latin typeface="Courier New"/>
              </a:rPr>
              <a:t>451  func (engine *Engine) removeIfExpiredLocked(key string, stored StoredValue) bool {
452      if !engine.isExpired(stored) {
453          return false
454      }
455  
456      delete(engine.state, key)
457      engine.removeFromEqualsIndexLocked(key, stored.Value)
458      engine.removeFromNumberIndexLocked(stored.Value)
459      return true</a:t>
            </a:r>
          </a:p>
        </p:txBody>
      </p:sp>
      <p:sp>
        <p:nvSpPr>
          <p:cNvPr id="9" name="Rectangle 8"/>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Expiration lazy au GET, plus balayage actif periodique.</a:t>
            </a:r>
          </a:p>
        </p:txBody>
      </p:sp>
      <p:sp>
        <p:nvSpPr>
          <p:cNvPr id="11" name="Rectangle 10"/>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Le restore garde ExpiresAt et ne remplit pas de nouveau le buffer.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100 000 entrees, 29 lignes DOM</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Virtual scroll maison + abonnement cible</a:t>
            </a:r>
          </a:p>
        </p:txBody>
      </p:sp>
      <p:sp>
        <p:nvSpPr>
          <p:cNvPr id="5" name="TextBox 4"/>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10</a:t>
            </a:r>
          </a:p>
        </p:txBody>
      </p:sp>
      <p:sp>
        <p:nvSpPr>
          <p:cNvPr id="6" name="Rounded Rectangle 5"/>
          <p:cNvSpPr/>
          <p:nvPr/>
        </p:nvSpPr>
        <p:spPr>
          <a:xfrm>
            <a:off x="502920" y="1792223"/>
            <a:ext cx="11173968" cy="3255264"/>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75103"/>
            <a:ext cx="10661904" cy="219456"/>
          </a:xfrm>
          <a:prstGeom prst="rect">
            <a:avLst/>
          </a:prstGeom>
          <a:noFill/>
        </p:spPr>
        <p:txBody>
          <a:bodyPr wrap="square" anchor="t" lIns="18288" rIns="18288" tIns="0" bIns="0">
            <a:spAutoFit/>
          </a:bodyPr>
          <a:lstStyle/>
          <a:p>
            <a:r>
              <a:rPr sz="950" b="1">
                <a:solidFill>
                  <a:srgbClr val="2DC1B7"/>
                </a:solidFill>
                <a:latin typeface="Aptos"/>
              </a:rPr>
              <a:t>web/src/virtual/getVirtualRange.ts:22-27   |   web/src/store/entryStore.ts:60-64</a:t>
            </a:r>
          </a:p>
        </p:txBody>
      </p:sp>
      <p:sp>
        <p:nvSpPr>
          <p:cNvPr id="8" name="TextBox 7"/>
          <p:cNvSpPr txBox="1"/>
          <p:nvPr/>
        </p:nvSpPr>
        <p:spPr>
          <a:xfrm>
            <a:off x="777240" y="2359151"/>
            <a:ext cx="10625328" cy="2505456"/>
          </a:xfrm>
          <a:prstGeom prst="rect">
            <a:avLst/>
          </a:prstGeom>
          <a:noFill/>
        </p:spPr>
        <p:txBody>
          <a:bodyPr wrap="square" anchor="t" lIns="18288" rIns="18288" tIns="0" bIns="0">
            <a:spAutoFit/>
          </a:bodyPr>
          <a:lstStyle/>
          <a:p>
            <a:r>
              <a:rPr sz="1315" b="0">
                <a:solidFill>
                  <a:srgbClr val="EFF4F7"/>
                </a:solidFill>
                <a:latin typeface="Courier New"/>
              </a:rPr>
              <a:t>22    const firstVisible = Math.min(itemCount - 1, Math.floor(scrollTop / rowHeight));
23    const startIndex = Math.max(0, firstVisible - overscan);
24    const visibleCount = Math.ceil(viewportHeight / rowHeight) + overscan * 2;
25    const endIndex = Math.min(itemCount, startIndex + visibleCount);
26  
27    return { startIndex, endIndex, totalHeight: itemCount * rowHeight };
60  export function useEntry(key: string): StoreEntry | undefined {
61    const subscribe = useCallback((listener: Listener) =&gt; subscribeEntry(key, listener), [key]);
62    const getSnapshot = useCallback(() =&gt; getEntry(key), [key]);
63    return useSyncExternalStore(subscribe, getSnapshot, getSnapshot);
64  }</a:t>
            </a:r>
          </a:p>
        </p:txBody>
      </p:sp>
      <p:sp>
        <p:nvSpPr>
          <p:cNvPr id="9" name="Rectangle 8"/>
          <p:cNvSpPr/>
          <p:nvPr/>
        </p:nvSpPr>
        <p:spPr>
          <a:xfrm>
            <a:off x="530352" y="5870448"/>
            <a:ext cx="73152" cy="438912"/>
          </a:xfrm>
          <a:prstGeom prst="rect">
            <a:avLst/>
          </a:prstGeom>
          <a:solidFill>
            <a:srgbClr val="2DC1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852160"/>
            <a:ext cx="5440680" cy="438912"/>
          </a:xfrm>
          <a:prstGeom prst="rect">
            <a:avLst/>
          </a:prstGeom>
          <a:noFill/>
        </p:spPr>
        <p:txBody>
          <a:bodyPr wrap="square" anchor="t" lIns="18288" rIns="18288" tIns="0" bIns="0">
            <a:spAutoFit/>
          </a:bodyPr>
          <a:lstStyle/>
          <a:p>
            <a:r>
              <a:rPr sz="1150" b="1">
                <a:solidFill>
                  <a:srgbClr val="EFF4F7"/>
                </a:solidFill>
                <a:latin typeface="Aptos"/>
              </a:rPr>
              <a:t>Le spacer simule la hauteur totale ; seule la tranche visible est montee.</a:t>
            </a:r>
          </a:p>
        </p:txBody>
      </p:sp>
      <p:sp>
        <p:nvSpPr>
          <p:cNvPr id="11" name="Rectangle 10"/>
          <p:cNvSpPr/>
          <p:nvPr/>
        </p:nvSpPr>
        <p:spPr>
          <a:xfrm>
            <a:off x="6181344" y="5870448"/>
            <a:ext cx="73152" cy="438912"/>
          </a:xfrm>
          <a:prstGeom prst="rect">
            <a:avLst/>
          </a:prstGeom>
          <a:solidFill>
            <a:srgbClr val="F57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5852160"/>
            <a:ext cx="5440680" cy="438912"/>
          </a:xfrm>
          <a:prstGeom prst="rect">
            <a:avLst/>
          </a:prstGeom>
          <a:noFill/>
        </p:spPr>
        <p:txBody>
          <a:bodyPr wrap="square" anchor="t" lIns="18288" rIns="18288" tIns="0" bIns="0">
            <a:spAutoFit/>
          </a:bodyPr>
          <a:lstStyle/>
          <a:p>
            <a:r>
              <a:rPr sz="1150" b="1">
                <a:solidFill>
                  <a:srgbClr val="EFF4F7"/>
                </a:solidFill>
                <a:latin typeface="Aptos"/>
              </a:rPr>
              <a:t>Modifier une ligne : compteur 1 -&gt; 2 ; autre ligne : 1 -&gt;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875520" cy="384048"/>
          </a:xfrm>
          <a:prstGeom prst="rect">
            <a:avLst/>
          </a:prstGeom>
          <a:noFill/>
        </p:spPr>
        <p:txBody>
          <a:bodyPr wrap="square" anchor="t" lIns="18288" rIns="18288" tIns="0" bIns="0">
            <a:spAutoFit/>
          </a:bodyPr>
          <a:lstStyle/>
          <a:p>
            <a:r>
              <a:rPr sz="2500" b="1">
                <a:solidFill>
                  <a:srgbClr val="EFF4F7"/>
                </a:solidFill>
                <a:latin typeface="Aptos"/>
              </a:rPr>
              <a:t>Ce que la demo prouve</a:t>
            </a:r>
          </a:p>
        </p:txBody>
      </p:sp>
      <p:sp>
        <p:nvSpPr>
          <p:cNvPr id="4" name="TextBox 3"/>
          <p:cNvSpPr txBox="1"/>
          <p:nvPr/>
        </p:nvSpPr>
        <p:spPr>
          <a:xfrm>
            <a:off x="521207" y="704088"/>
            <a:ext cx="9875520" cy="256032"/>
          </a:xfrm>
          <a:prstGeom prst="rect">
            <a:avLst/>
          </a:prstGeom>
          <a:noFill/>
        </p:spPr>
        <p:txBody>
          <a:bodyPr wrap="square" anchor="t" lIns="18288" rIns="18288" tIns="0" bIns="0">
            <a:spAutoFit/>
          </a:bodyPr>
          <a:lstStyle/>
          <a:p>
            <a:r>
              <a:rPr sz="1150" b="0">
                <a:solidFill>
                  <a:srgbClr val="99A9B7"/>
                </a:solidFill>
                <a:latin typeface="Aptos"/>
              </a:rPr>
              <a:t>Mesures reelles, parcours reproductible</a:t>
            </a:r>
          </a:p>
        </p:txBody>
      </p:sp>
      <p:sp>
        <p:nvSpPr>
          <p:cNvPr id="5" name="TextBox 4"/>
          <p:cNvSpPr txBox="1"/>
          <p:nvPr/>
        </p:nvSpPr>
        <p:spPr>
          <a:xfrm>
            <a:off x="11292840" y="320040"/>
            <a:ext cx="365760" cy="228600"/>
          </a:xfrm>
          <a:prstGeom prst="rect">
            <a:avLst/>
          </a:prstGeom>
          <a:noFill/>
        </p:spPr>
        <p:txBody>
          <a:bodyPr wrap="square" anchor="t" lIns="18288" rIns="18288" tIns="0" bIns="0">
            <a:spAutoFit/>
          </a:bodyPr>
          <a:lstStyle/>
          <a:p>
            <a:r>
              <a:rPr sz="1000" b="1">
                <a:solidFill>
                  <a:srgbClr val="99A9B7"/>
                </a:solidFill>
                <a:latin typeface="Aptos"/>
              </a:rPr>
              <a:t>11</a:t>
            </a:r>
          </a:p>
        </p:txBody>
      </p:sp>
      <p:sp>
        <p:nvSpPr>
          <p:cNvPr id="6" name="Rounded Rectangle 5"/>
          <p:cNvSpPr/>
          <p:nvPr/>
        </p:nvSpPr>
        <p:spPr>
          <a:xfrm>
            <a:off x="512064" y="1417320"/>
            <a:ext cx="2532888" cy="129844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00784"/>
            <a:ext cx="2011680" cy="402336"/>
          </a:xfrm>
          <a:prstGeom prst="rect">
            <a:avLst/>
          </a:prstGeom>
          <a:noFill/>
        </p:spPr>
        <p:txBody>
          <a:bodyPr wrap="square" anchor="t" lIns="18288" rIns="18288" tIns="0" bIns="0">
            <a:spAutoFit/>
          </a:bodyPr>
          <a:lstStyle/>
          <a:p>
            <a:r>
              <a:rPr sz="2500" b="1">
                <a:solidFill>
                  <a:srgbClr val="2DC1B7"/>
                </a:solidFill>
                <a:latin typeface="Aptos"/>
              </a:rPr>
              <a:t>15,5 x</a:t>
            </a:r>
          </a:p>
        </p:txBody>
      </p:sp>
      <p:sp>
        <p:nvSpPr>
          <p:cNvPr id="8" name="TextBox 7"/>
          <p:cNvSpPr txBox="1"/>
          <p:nvPr/>
        </p:nvSpPr>
        <p:spPr>
          <a:xfrm>
            <a:off x="713232" y="2212848"/>
            <a:ext cx="2011680" cy="219456"/>
          </a:xfrm>
          <a:prstGeom prst="rect">
            <a:avLst/>
          </a:prstGeom>
          <a:noFill/>
        </p:spPr>
        <p:txBody>
          <a:bodyPr wrap="square" anchor="t" lIns="18288" rIns="18288" tIns="0" bIns="0">
            <a:spAutoFit/>
          </a:bodyPr>
          <a:lstStyle/>
          <a:p>
            <a:r>
              <a:rPr sz="1000" b="0">
                <a:solidFill>
                  <a:srgbClr val="99A9B7"/>
                </a:solidFill>
                <a:latin typeface="Aptos"/>
              </a:rPr>
              <a:t>gain batch / 30 SET</a:t>
            </a:r>
          </a:p>
        </p:txBody>
      </p:sp>
      <p:sp>
        <p:nvSpPr>
          <p:cNvPr id="9" name="Rounded Rectangle 8"/>
          <p:cNvSpPr/>
          <p:nvPr/>
        </p:nvSpPr>
        <p:spPr>
          <a:xfrm>
            <a:off x="3374136" y="1417320"/>
            <a:ext cx="2532888" cy="129844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75304" y="1700784"/>
            <a:ext cx="2011680" cy="402336"/>
          </a:xfrm>
          <a:prstGeom prst="rect">
            <a:avLst/>
          </a:prstGeom>
          <a:noFill/>
        </p:spPr>
        <p:txBody>
          <a:bodyPr wrap="square" anchor="t" lIns="18288" rIns="18288" tIns="0" bIns="0">
            <a:spAutoFit/>
          </a:bodyPr>
          <a:lstStyle/>
          <a:p>
            <a:r>
              <a:rPr sz="2500" b="1">
                <a:solidFill>
                  <a:srgbClr val="5ECD91"/>
                </a:solidFill>
                <a:latin typeface="Aptos"/>
              </a:rPr>
              <a:t>~0,3 us</a:t>
            </a:r>
          </a:p>
        </p:txBody>
      </p:sp>
      <p:sp>
        <p:nvSpPr>
          <p:cNvPr id="11" name="TextBox 10"/>
          <p:cNvSpPr txBox="1"/>
          <p:nvPr/>
        </p:nvSpPr>
        <p:spPr>
          <a:xfrm>
            <a:off x="3575304" y="2212848"/>
            <a:ext cx="2011680" cy="219456"/>
          </a:xfrm>
          <a:prstGeom prst="rect">
            <a:avLst/>
          </a:prstGeom>
          <a:noFill/>
        </p:spPr>
        <p:txBody>
          <a:bodyPr wrap="square" anchor="t" lIns="18288" rIns="18288" tIns="0" bIns="0">
            <a:spAutoFit/>
          </a:bodyPr>
          <a:lstStyle/>
          <a:p>
            <a:r>
              <a:rPr sz="1000" b="0">
                <a:solidFill>
                  <a:srgbClr val="99A9B7"/>
                </a:solidFill>
                <a:latin typeface="Aptos"/>
              </a:rPr>
              <a:t>range selective / 10k</a:t>
            </a:r>
          </a:p>
        </p:txBody>
      </p:sp>
      <p:sp>
        <p:nvSpPr>
          <p:cNvPr id="12" name="Rounded Rectangle 11"/>
          <p:cNvSpPr/>
          <p:nvPr/>
        </p:nvSpPr>
        <p:spPr>
          <a:xfrm>
            <a:off x="6236208" y="1417320"/>
            <a:ext cx="2532888" cy="129844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700784"/>
            <a:ext cx="2011680" cy="402336"/>
          </a:xfrm>
          <a:prstGeom prst="rect">
            <a:avLst/>
          </a:prstGeom>
          <a:noFill/>
        </p:spPr>
        <p:txBody>
          <a:bodyPr wrap="square" anchor="t" lIns="18288" rIns="18288" tIns="0" bIns="0">
            <a:spAutoFit/>
          </a:bodyPr>
          <a:lstStyle/>
          <a:p>
            <a:r>
              <a:rPr sz="2500" b="1">
                <a:solidFill>
                  <a:srgbClr val="F4CD60"/>
                </a:solidFill>
                <a:latin typeface="Aptos"/>
              </a:rPr>
              <a:t>60 FPS</a:t>
            </a:r>
          </a:p>
        </p:txBody>
      </p:sp>
      <p:sp>
        <p:nvSpPr>
          <p:cNvPr id="14" name="TextBox 13"/>
          <p:cNvSpPr txBox="1"/>
          <p:nvPr/>
        </p:nvSpPr>
        <p:spPr>
          <a:xfrm>
            <a:off x="6437376" y="2212848"/>
            <a:ext cx="2011680" cy="219456"/>
          </a:xfrm>
          <a:prstGeom prst="rect">
            <a:avLst/>
          </a:prstGeom>
          <a:noFill/>
        </p:spPr>
        <p:txBody>
          <a:bodyPr wrap="square" anchor="t" lIns="18288" rIns="18288" tIns="0" bIns="0">
            <a:spAutoFit/>
          </a:bodyPr>
          <a:lstStyle/>
          <a:p>
            <a:r>
              <a:rPr sz="1000" b="0">
                <a:solidFill>
                  <a:srgbClr val="99A9B7"/>
                </a:solidFill>
                <a:latin typeface="Aptos"/>
              </a:rPr>
              <a:t>scroll mesure</a:t>
            </a:r>
          </a:p>
        </p:txBody>
      </p:sp>
      <p:sp>
        <p:nvSpPr>
          <p:cNvPr id="15" name="Rounded Rectangle 14"/>
          <p:cNvSpPr/>
          <p:nvPr/>
        </p:nvSpPr>
        <p:spPr>
          <a:xfrm>
            <a:off x="9098280" y="1417320"/>
            <a:ext cx="2532888" cy="1298448"/>
          </a:xfrm>
          <a:prstGeom prst="roundRect">
            <a:avLst/>
          </a:prstGeom>
          <a:solidFill>
            <a:srgbClr val="121C29"/>
          </a:solidFill>
          <a:ln>
            <a:solidFill>
              <a:srgbClr val="1C29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9448" y="1700784"/>
            <a:ext cx="2011680" cy="402336"/>
          </a:xfrm>
          <a:prstGeom prst="rect">
            <a:avLst/>
          </a:prstGeom>
          <a:noFill/>
        </p:spPr>
        <p:txBody>
          <a:bodyPr wrap="square" anchor="t" lIns="18288" rIns="18288" tIns="0" bIns="0">
            <a:spAutoFit/>
          </a:bodyPr>
          <a:lstStyle/>
          <a:p>
            <a:r>
              <a:rPr sz="2500" b="1">
                <a:solidFill>
                  <a:srgbClr val="F57F4D"/>
                </a:solidFill>
                <a:latin typeface="Aptos"/>
              </a:rPr>
              <a:t>29</a:t>
            </a:r>
          </a:p>
        </p:txBody>
      </p:sp>
      <p:sp>
        <p:nvSpPr>
          <p:cNvPr id="17" name="TextBox 16"/>
          <p:cNvSpPr txBox="1"/>
          <p:nvPr/>
        </p:nvSpPr>
        <p:spPr>
          <a:xfrm>
            <a:off x="9299448" y="2212848"/>
            <a:ext cx="2011680" cy="219456"/>
          </a:xfrm>
          <a:prstGeom prst="rect">
            <a:avLst/>
          </a:prstGeom>
          <a:noFill/>
        </p:spPr>
        <p:txBody>
          <a:bodyPr wrap="square" anchor="t" lIns="18288" rIns="18288" tIns="0" bIns="0">
            <a:spAutoFit/>
          </a:bodyPr>
          <a:lstStyle/>
          <a:p>
            <a:r>
              <a:rPr sz="1000" b="0">
                <a:solidFill>
                  <a:srgbClr val="99A9B7"/>
                </a:solidFill>
                <a:latin typeface="Aptos"/>
              </a:rPr>
              <a:t>lignes DOM / 100k</a:t>
            </a:r>
          </a:p>
        </p:txBody>
      </p:sp>
      <p:sp>
        <p:nvSpPr>
          <p:cNvPr id="18" name="TextBox 17"/>
          <p:cNvSpPr txBox="1"/>
          <p:nvPr/>
        </p:nvSpPr>
        <p:spPr>
          <a:xfrm>
            <a:off x="566928" y="3246120"/>
            <a:ext cx="3657600" cy="292608"/>
          </a:xfrm>
          <a:prstGeom prst="rect">
            <a:avLst/>
          </a:prstGeom>
          <a:noFill/>
        </p:spPr>
        <p:txBody>
          <a:bodyPr wrap="square" anchor="t" lIns="18288" rIns="18288" tIns="0" bIns="0">
            <a:spAutoFit/>
          </a:bodyPr>
          <a:lstStyle/>
          <a:p>
            <a:r>
              <a:rPr sz="1700" b="1">
                <a:solidFill>
                  <a:srgbClr val="EFF4F7"/>
                </a:solidFill>
                <a:latin typeface="Aptos"/>
              </a:rPr>
              <a:t>Demo en 60 secondes</a:t>
            </a:r>
          </a:p>
        </p:txBody>
      </p:sp>
      <p:sp>
        <p:nvSpPr>
          <p:cNvPr id="19" name="TextBox 18"/>
          <p:cNvSpPr txBox="1"/>
          <p:nvPr/>
        </p:nvSpPr>
        <p:spPr>
          <a:xfrm>
            <a:off x="621792" y="3749039"/>
            <a:ext cx="6583680" cy="256032"/>
          </a:xfrm>
          <a:prstGeom prst="rect">
            <a:avLst/>
          </a:prstGeom>
          <a:noFill/>
        </p:spPr>
        <p:txBody>
          <a:bodyPr wrap="square" anchor="t" lIns="18288" rIns="18288" tIns="0" bIns="0">
            <a:spAutoFit/>
          </a:bodyPr>
          <a:lstStyle/>
          <a:p>
            <a:r>
              <a:rPr sz="1300" b="1">
                <a:solidFill>
                  <a:srgbClr val="EFF4F7"/>
                </a:solidFill>
                <a:latin typeface="Aptos"/>
              </a:rPr>
              <a:t>1  SET avec TTL, puis Flush</a:t>
            </a:r>
          </a:p>
        </p:txBody>
      </p:sp>
      <p:sp>
        <p:nvSpPr>
          <p:cNvPr id="20" name="TextBox 19"/>
          <p:cNvSpPr txBox="1"/>
          <p:nvPr/>
        </p:nvSpPr>
        <p:spPr>
          <a:xfrm>
            <a:off x="621792" y="4178807"/>
            <a:ext cx="6583680" cy="256032"/>
          </a:xfrm>
          <a:prstGeom prst="rect">
            <a:avLst/>
          </a:prstGeom>
          <a:noFill/>
        </p:spPr>
        <p:txBody>
          <a:bodyPr wrap="square" anchor="t" lIns="18288" rIns="18288" tIns="0" bIns="0">
            <a:spAutoFit/>
          </a:bodyPr>
          <a:lstStyle/>
          <a:p>
            <a:r>
              <a:rPr sz="1300" b="0">
                <a:solidFill>
                  <a:srgbClr val="EFF4F7"/>
                </a:solidFill>
                <a:latin typeface="Aptos"/>
              </a:rPr>
              <a:t>2  Recharger : la cle revient depuis OPFS</a:t>
            </a:r>
          </a:p>
        </p:txBody>
      </p:sp>
      <p:sp>
        <p:nvSpPr>
          <p:cNvPr id="21" name="TextBox 20"/>
          <p:cNvSpPr txBox="1"/>
          <p:nvPr/>
        </p:nvSpPr>
        <p:spPr>
          <a:xfrm>
            <a:off x="621792" y="4608575"/>
            <a:ext cx="6583680" cy="256032"/>
          </a:xfrm>
          <a:prstGeom prst="rect">
            <a:avLst/>
          </a:prstGeom>
          <a:noFill/>
        </p:spPr>
        <p:txBody>
          <a:bodyPr wrap="square" anchor="t" lIns="18288" rIns="18288" tIns="0" bIns="0">
            <a:spAutoFit/>
          </a:bodyPr>
          <a:lstStyle/>
          <a:p>
            <a:r>
              <a:rPr sz="1300" b="0">
                <a:solidFill>
                  <a:srgbClr val="EFF4F7"/>
                </a:solidFill>
                <a:latin typeface="Aptos"/>
              </a:rPr>
              <a:t>3  Seed 100, puis value &gt;= 50</a:t>
            </a:r>
          </a:p>
        </p:txBody>
      </p:sp>
      <p:sp>
        <p:nvSpPr>
          <p:cNvPr id="22" name="TextBox 21"/>
          <p:cNvSpPr txBox="1"/>
          <p:nvPr/>
        </p:nvSpPr>
        <p:spPr>
          <a:xfrm>
            <a:off x="621792" y="5038344"/>
            <a:ext cx="6583680" cy="256032"/>
          </a:xfrm>
          <a:prstGeom prst="rect">
            <a:avLst/>
          </a:prstGeom>
          <a:noFill/>
        </p:spPr>
        <p:txBody>
          <a:bodyPr wrap="square" anchor="t" lIns="18288" rIns="18288" tIns="0" bIns="0">
            <a:spAutoFit/>
          </a:bodyPr>
          <a:lstStyle/>
          <a:p>
            <a:r>
              <a:rPr sz="1300" b="0">
                <a:solidFill>
                  <a:srgbClr val="EFF4F7"/>
                </a:solidFill>
                <a:latin typeface="Aptos"/>
              </a:rPr>
              <a:t>4  Editer une ligne : seule elle passe de 1 a 2</a:t>
            </a:r>
          </a:p>
        </p:txBody>
      </p:sp>
      <p:sp>
        <p:nvSpPr>
          <p:cNvPr id="23" name="TextBox 22"/>
          <p:cNvSpPr txBox="1"/>
          <p:nvPr/>
        </p:nvSpPr>
        <p:spPr>
          <a:xfrm>
            <a:off x="621792" y="5468112"/>
            <a:ext cx="6583680" cy="256032"/>
          </a:xfrm>
          <a:prstGeom prst="rect">
            <a:avLst/>
          </a:prstGeom>
          <a:noFill/>
        </p:spPr>
        <p:txBody>
          <a:bodyPr wrap="square" anchor="t" lIns="18288" rIns="18288" tIns="0" bIns="0">
            <a:spAutoFit/>
          </a:bodyPr>
          <a:lstStyle/>
          <a:p>
            <a:r>
              <a:rPr sz="1300" b="0">
                <a:solidFill>
                  <a:srgbClr val="EFF4F7"/>
                </a:solidFill>
                <a:latin typeface="Aptos"/>
              </a:rPr>
              <a:t>5  Benchmark : latences, restore et FPS</a:t>
            </a:r>
          </a:p>
        </p:txBody>
      </p:sp>
      <p:sp>
        <p:nvSpPr>
          <p:cNvPr id="24" name="Rounded Rectangle 23"/>
          <p:cNvSpPr/>
          <p:nvPr/>
        </p:nvSpPr>
        <p:spPr>
          <a:xfrm>
            <a:off x="7818120" y="3310128"/>
            <a:ext cx="3794760" cy="2331720"/>
          </a:xfrm>
          <a:prstGeom prst="roundRect">
            <a:avLst/>
          </a:prstGeom>
          <a:solidFill>
            <a:srgbClr val="1C2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3593592"/>
            <a:ext cx="3108960" cy="274320"/>
          </a:xfrm>
          <a:prstGeom prst="rect">
            <a:avLst/>
          </a:prstGeom>
          <a:noFill/>
        </p:spPr>
        <p:txBody>
          <a:bodyPr wrap="square" anchor="t" lIns="18288" rIns="18288" tIns="0" bIns="0">
            <a:spAutoFit/>
          </a:bodyPr>
          <a:lstStyle/>
          <a:p>
            <a:r>
              <a:rPr sz="1600" b="1">
                <a:solidFill>
                  <a:srgbClr val="F4CD60"/>
                </a:solidFill>
                <a:latin typeface="Aptos"/>
              </a:rPr>
              <a:t>Validation finale</a:t>
            </a:r>
          </a:p>
        </p:txBody>
      </p:sp>
      <p:sp>
        <p:nvSpPr>
          <p:cNvPr id="26" name="TextBox 25"/>
          <p:cNvSpPr txBox="1"/>
          <p:nvPr/>
        </p:nvSpPr>
        <p:spPr>
          <a:xfrm>
            <a:off x="8119872" y="4114800"/>
            <a:ext cx="2194560" cy="228600"/>
          </a:xfrm>
          <a:prstGeom prst="rect">
            <a:avLst/>
          </a:prstGeom>
          <a:noFill/>
        </p:spPr>
        <p:txBody>
          <a:bodyPr wrap="square" anchor="t" lIns="18288" rIns="18288" tIns="0" bIns="0">
            <a:spAutoFit/>
          </a:bodyPr>
          <a:lstStyle/>
          <a:p>
            <a:r>
              <a:rPr sz="1300" b="1">
                <a:solidFill>
                  <a:srgbClr val="EFF4F7"/>
                </a:solidFill>
                <a:latin typeface="Aptos"/>
              </a:rPr>
              <a:t>Go race tests</a:t>
            </a:r>
          </a:p>
        </p:txBody>
      </p:sp>
      <p:sp>
        <p:nvSpPr>
          <p:cNvPr id="27" name="TextBox 26"/>
          <p:cNvSpPr txBox="1"/>
          <p:nvPr/>
        </p:nvSpPr>
        <p:spPr>
          <a:xfrm>
            <a:off x="8119872" y="4526280"/>
            <a:ext cx="2194560" cy="228600"/>
          </a:xfrm>
          <a:prstGeom prst="rect">
            <a:avLst/>
          </a:prstGeom>
          <a:noFill/>
        </p:spPr>
        <p:txBody>
          <a:bodyPr wrap="square" anchor="t" lIns="18288" rIns="18288" tIns="0" bIns="0">
            <a:spAutoFit/>
          </a:bodyPr>
          <a:lstStyle/>
          <a:p>
            <a:r>
              <a:rPr sz="1300" b="1">
                <a:solidFill>
                  <a:srgbClr val="EFF4F7"/>
                </a:solidFill>
                <a:latin typeface="Aptos"/>
              </a:rPr>
              <a:t>Tests TypeScript</a:t>
            </a:r>
          </a:p>
        </p:txBody>
      </p:sp>
      <p:sp>
        <p:nvSpPr>
          <p:cNvPr id="28" name="TextBox 27"/>
          <p:cNvSpPr txBox="1"/>
          <p:nvPr/>
        </p:nvSpPr>
        <p:spPr>
          <a:xfrm>
            <a:off x="8119872" y="4937760"/>
            <a:ext cx="2560320" cy="228600"/>
          </a:xfrm>
          <a:prstGeom prst="rect">
            <a:avLst/>
          </a:prstGeom>
          <a:noFill/>
        </p:spPr>
        <p:txBody>
          <a:bodyPr wrap="square" anchor="t" lIns="18288" rIns="18288" tIns="0" bIns="0">
            <a:spAutoFit/>
          </a:bodyPr>
          <a:lstStyle/>
          <a:p>
            <a:r>
              <a:rPr sz="1300" b="1">
                <a:solidFill>
                  <a:srgbClr val="EFF4F7"/>
                </a:solidFill>
                <a:latin typeface="Aptos"/>
              </a:rPr>
              <a:t>Build WASM + React</a:t>
            </a:r>
          </a:p>
        </p:txBody>
      </p:sp>
      <p:sp>
        <p:nvSpPr>
          <p:cNvPr id="29" name="TextBox 28"/>
          <p:cNvSpPr txBox="1"/>
          <p:nvPr/>
        </p:nvSpPr>
        <p:spPr>
          <a:xfrm>
            <a:off x="10561320" y="4114800"/>
            <a:ext cx="502920" cy="228600"/>
          </a:xfrm>
          <a:prstGeom prst="rect">
            <a:avLst/>
          </a:prstGeom>
          <a:noFill/>
        </p:spPr>
        <p:txBody>
          <a:bodyPr wrap="square" anchor="t" lIns="18288" rIns="18288" tIns="0" bIns="0">
            <a:spAutoFit/>
          </a:bodyPr>
          <a:lstStyle/>
          <a:p>
            <a:r>
              <a:rPr sz="1300" b="1">
                <a:solidFill>
                  <a:srgbClr val="5ECD91"/>
                </a:solidFill>
                <a:latin typeface="Aptos"/>
              </a:rPr>
              <a:t>OK</a:t>
            </a:r>
          </a:p>
        </p:txBody>
      </p:sp>
      <p:sp>
        <p:nvSpPr>
          <p:cNvPr id="30" name="TextBox 29"/>
          <p:cNvSpPr txBox="1"/>
          <p:nvPr/>
        </p:nvSpPr>
        <p:spPr>
          <a:xfrm>
            <a:off x="10561320" y="4526280"/>
            <a:ext cx="502920" cy="228600"/>
          </a:xfrm>
          <a:prstGeom prst="rect">
            <a:avLst/>
          </a:prstGeom>
          <a:noFill/>
        </p:spPr>
        <p:txBody>
          <a:bodyPr wrap="square" anchor="t" lIns="18288" rIns="18288" tIns="0" bIns="0">
            <a:spAutoFit/>
          </a:bodyPr>
          <a:lstStyle/>
          <a:p>
            <a:r>
              <a:rPr sz="1300" b="1">
                <a:solidFill>
                  <a:srgbClr val="5ECD91"/>
                </a:solidFill>
                <a:latin typeface="Aptos"/>
              </a:rPr>
              <a:t>OK</a:t>
            </a:r>
          </a:p>
        </p:txBody>
      </p:sp>
      <p:sp>
        <p:nvSpPr>
          <p:cNvPr id="31" name="TextBox 30"/>
          <p:cNvSpPr txBox="1"/>
          <p:nvPr/>
        </p:nvSpPr>
        <p:spPr>
          <a:xfrm>
            <a:off x="10561320" y="4937760"/>
            <a:ext cx="502920" cy="228600"/>
          </a:xfrm>
          <a:prstGeom prst="rect">
            <a:avLst/>
          </a:prstGeom>
          <a:noFill/>
        </p:spPr>
        <p:txBody>
          <a:bodyPr wrap="square" anchor="t" lIns="18288" rIns="18288" tIns="0" bIns="0">
            <a:spAutoFit/>
          </a:bodyPr>
          <a:lstStyle/>
          <a:p>
            <a:r>
              <a:rPr sz="1300" b="1">
                <a:solidFill>
                  <a:srgbClr val="5ECD91"/>
                </a:solidFill>
                <a:latin typeface="Aptos"/>
              </a:rPr>
              <a:t>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